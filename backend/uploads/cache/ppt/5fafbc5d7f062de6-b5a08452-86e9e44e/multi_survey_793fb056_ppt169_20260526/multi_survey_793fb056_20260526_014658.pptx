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大家好，欢迎参加本次文献综述汇报。今天我要分享的主题是大型语言模型的长期记忆机制，我们将聚焦两篇最新研究：一篇是普华永道团队发表的 Chronos，提出了时序感知的会话记忆框架；另一篇来自多所高校，提出了面向长程决策的认知建模统一框架。这两篇论文虽然切入角度不同，但都在同一个核心问题上取得了突破——如何让 AI 系统在持续交互中真正"记住"并"用好"历史信息。希望通过今天的汇报，帮助大家建立对这一领域前沿工作的整体认识。</a:t>
            </a:r>
          </a:p>
          <a:p>
            <a:endParaRPr lang="zh-CN" dirty="0"/>
          </a:p>
          <a:p>
            <a:r>
              <a:rPr lang="zh-CN" dirty="0"/>
              <a:t>要点：① 两篇论文均发表于2026年初，处于研究前沿 ② 分别针对对话记忆与决策记忆两个场景 ③ 都取得了当前最优实验结果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在进入具体内容之前，先给大家介绍一下今天汇报的整体框架。</a:t>
            </a:r>
          </a:p>
          <a:p>
            <a:endParaRPr lang="zh-CN" dirty="0"/>
          </a:p>
          <a:p>
            <a:r>
              <a:rPr lang="zh-CN" dirty="0"/>
              <a:t>整个汇报分为六个部分。首先从研究背景出发，说明为什么长期记忆问题如此重要；然后明确两篇论文各自定义的核心问题；接着进入方法脉络，重点解析 Chronos 的时序架构和认知建模的统一框架；之后呈现实验结果，用数据说话；消融分析部分会深入挖掘各组件的具体贡献；最后讨论局限性和未来方向。整体时间大约二十分钟，欢迎随时提问。</a:t>
            </a:r>
          </a:p>
          <a:p>
            <a:endParaRPr lang="zh-CN" dirty="0"/>
          </a:p>
          <a:p>
            <a:r>
              <a:rPr lang="zh-CN" dirty="0"/>
              <a:t>要点：① 汇报顺序遵循"问题→方法→验证→反思"逻辑 ② 两篇论文内容交织呈现，非逐篇流水账 ③ 聚焦核心贡献与共同洞察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让我们先从研究背景讲起，理解这个问题为什么值得研究。</a:t>
            </a:r>
          </a:p>
          <a:p>
            <a:endParaRPr lang="zh-CN" dirty="0"/>
          </a:p>
          <a:p>
            <a:r>
              <a:rPr lang="zh-CN" dirty="0"/>
              <a:t>现有的 LLM 记忆系统存在三类系统性短板。第一类是规模挑战——当对话跨越数周乃至数月，没有任何系统能把所有历史都塞进上下文窗口，必须依赖某种形式的外部记忆。而现有方案在"全量知识图谱"和"纯向量检索"之间两难：前者开销巨大、检索噪声高；后者简单但缺乏结构。第二类是时序失真——现有系统把"上个月"当成普通字符串处理，根本无法执行"给我找出今年三月的所有运动记录"这样的时间过滤查询。[停顿] 第三类是长程决策碎片化——智能体在多步骤任务中过度依赖当前状态，历史经验被压缩进不透明的隐式向量，推理链断裂，策略容易退化。这三个问题就是今天两篇论文的起点。</a:t>
            </a:r>
          </a:p>
          <a:p>
            <a:endParaRPr lang="zh-CN" dirty="0"/>
          </a:p>
          <a:p>
            <a:r>
              <a:rPr lang="zh-CN" dirty="0"/>
              <a:t>要点：① 时序失真是对话记忆系统最独特的痛点 ② 历史经验利用不足是决策智能体的通病 ③ 两类问题指向同一本质：结构化记忆与推理深度耦合的缺失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明确了背景，我们来看两篇论文各自如何精确定义研究问题。</a:t>
            </a:r>
          </a:p>
          <a:p>
            <a:endParaRPr lang="zh-CN" dirty="0"/>
          </a:p>
          <a:p>
            <a:r>
              <a:rPr lang="zh-CN" dirty="0"/>
              <a:t>左边是 Chronos 的核心问题：对话 AI 如何精确回答时间敏感型查询？具体来说，当用户问"度假后那一周你做了什么"，系统需要先解析"度假后那周"对应的精确日期范围，再在数月的对话历史中检索这段时间的事件。现有系统在这里完全失效，因为没有结构化的时间表示。右边是认知建模的问题：在 WebShop 这类需要多步决策的长程任务中，智能体如何把历史交互经验系统地融入当前决策？问题的本质是，记忆存储和策略生成相互脱节，没有显式的推理桥接。[停顿] 这两个问题乍看不同，本质上都是在问：结构化记忆如何驱动更精准的推理？</a:t>
            </a:r>
          </a:p>
          <a:p>
            <a:endParaRPr lang="zh-CN" dirty="0"/>
          </a:p>
          <a:p>
            <a:r>
              <a:rPr lang="zh-CN" dirty="0"/>
              <a:t>要点：① Chronos 关注时序精确性 ② 认知框架关注历史经验的显式利用 ③ 两者的本质缺失高度相似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问题定义清楚了，我们进入最核心的方法部分。</a:t>
            </a:r>
          </a:p>
          <a:p>
            <a:endParaRPr lang="zh-CN" dirty="0"/>
          </a:p>
          <a:p>
            <a:r>
              <a:rPr lang="zh-CN" dirty="0"/>
              <a:t>接下来两页，我会分别解析 Chronos 的四组件架构，以及认知建模的统一认知闭环，并在第二页末尾对两者进行横向比较。这两个框架的设计哲学各有侧重，但都有一个共同特点——把结构化记忆与推理机制紧密耦合，而不是让它们各自独立运行。</a:t>
            </a:r>
          </a:p>
          <a:p>
            <a:endParaRPr lang="zh-CN" dirty="0"/>
          </a:p>
          <a:p>
            <a:r>
              <a:rPr lang="zh-CN" dirty="0"/>
              <a:t>要点：① 先讲 Chronos 四组件 ② 再讲认知建模四模块 ③ 最后横向对比设计选择差异</a:t>
            </a:r>
          </a:p>
          <a:p>
            <a:r>
              <a:rPr lang="zh-CN" dirty="0"/>
              <a:t>时长：30秒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先来看 Chronos 的架构，这是本次综述中最具设计细节的部分。</a:t>
            </a:r>
          </a:p>
          <a:p>
            <a:endParaRPr lang="zh-CN" dirty="0"/>
          </a:p>
          <a:p>
            <a:r>
              <a:rPr lang="zh-CN" dirty="0"/>
              <a:t>Chronos 的核心洞见是"最小充分抽象"——只对时序事件进行结构化，其余对话内容原样保留。这个设计避免了过度提取带来的上下文熵增。具体看四个组件：第一，事件提取管道，把对话中的动作事件抽成主谓宾三元组，并附上精确的 ISO 8601 时间范围，还生成两到四个词汇别名来提升召回率；第二，动态提示系统，这是 Chronos 最创新的点，每个查询都会动态生成一段检索指导语，告诉 Agent 要找什么、怎么过滤时间、怎么处理多跳推理，而不是用一套静态提示应对所有查询类型；第三，初始检索，先用向量检索取Top-100，再用 Cohere Rerank 筛选到Top-15，并扩展上下文窗口；第四，Chronos Agent，通过 ReAct 循环，交替使用向量搜索和 grep 工具迭代积累证据，直到能给出可信答案。右边的图是论文原图，清晰展示了事件提取、双历法索引和查询处理的完整流程。</a:t>
            </a:r>
          </a:p>
          <a:p>
            <a:endParaRPr lang="zh-CN" dirty="0"/>
          </a:p>
          <a:p>
            <a:r>
              <a:rPr lang="zh-CN" dirty="0"/>
              <a:t>要点：① 事件历法 + 对话历法双轨并行 ② 动态提示是 RAG 查询改写在对话记忆领域的首次应用 ③ ReAct 工具调用使系统能处理复杂多跳查询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接下来看认知建模框架，它在更通用的决策场景中解决了类似问题。</a:t>
            </a:r>
          </a:p>
          <a:p>
            <a:endParaRPr lang="zh-CN" dirty="0"/>
          </a:p>
          <a:p>
            <a:r>
              <a:rPr lang="zh-CN" dirty="0"/>
              <a:t>这个框架的核心是把感知、记忆、推理、决策整合成一个端到端的认知闭环。第一步，感知表征：把当前观测 o_t 编码为认知状态 h_t，明确区分短期感知和长期存储，避免过度压缩历史信息。第二步，长期记忆管理：用选择性写入机制决定哪些新状态值得加入记忆集 M，既避免无关信息污染，又保持记忆的持续扩展。第三步，也是最关键的——记忆检索推理：通过注意力机制计算当前状态与历史记忆的相关性，把最相关的历史经验聚合成推理向量 r_t，让历史信息显式参与当前决策逻辑。第四步，策略生成：把当前感知 h_t 和推理结果 r_t 融合后输出动作策略。右边的图是论文提供的整体架构示意图。[停顿] 对比下方表格，可以看到两个框架在技术实现上差异很大，但都在一个共同原则上达成一致：记忆必须与推理深度耦合，才能发挥最大价值。</a:t>
            </a:r>
          </a:p>
          <a:p>
            <a:endParaRPr lang="zh-CN" dirty="0"/>
          </a:p>
          <a:p>
            <a:r>
              <a:rPr lang="zh-CN" dirty="0"/>
              <a:t>要点：① 四模块闭环设计使记忆真正"参与"决策而非只是"存储" ② 选择性写入机制平衡了记忆稳定性与可塑性 ③ 与 Chronos 互补：一个做时序精确召回，一个做记忆驱动策略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方法讲完了，我们用数据来验证这两个框架的效果。</a:t>
            </a:r>
          </a:p>
          <a:p>
            <a:endParaRPr lang="zh-CN" dirty="0"/>
          </a:p>
          <a:p>
            <a:r>
              <a:rPr lang="zh-CN" dirty="0"/>
              <a:t>Chronos 在 LongMemEvalS 基准（500题）上达到 95.60%，认知建模框架在 WebShop 上任务成功率达到 93.2%——两者均是各自领域的当前最优结果。接下来我们看详细数据。</a:t>
            </a:r>
          </a:p>
          <a:p>
            <a:endParaRPr lang="zh-CN" dirty="0"/>
          </a:p>
          <a:p>
            <a:r>
              <a:rPr lang="zh-CN" dirty="0"/>
              <a:t>要点：① LongMemEvalS 是对话记忆领域标准基准 ② WebShop 是长程顺序决策的代表性评测 ③ 两个数字都是当前最优</a:t>
            </a:r>
          </a:p>
          <a:p>
            <a:r>
              <a:rPr lang="zh-CN" dirty="0"/>
              <a:t>时长：30秒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好，我们来仔细看看实验数据。</a:t>
            </a:r>
          </a:p>
          <a:p>
            <a:endParaRPr lang="zh-CN" dirty="0"/>
          </a:p>
          <a:p>
            <a:r>
              <a:rPr lang="zh-CN" dirty="0"/>
              <a:t>先看左边 Chronos 的结果。使用 GPT-4o 的 Chronos Low 达到 92.60%，比上一任最优系统 EmergenceMem Internal 高出了差不多8个百分点，这是相当大的提升幅度。[数据] 用 Opus 4.6 的 Chronos High 进一步提升到 95.60%，在知识更新追踪和单会话类问题上全部达到100%满分。特别值得注意的是，在时序推理这个类别上，Chronos 达到 94.3%，而评测集中很多系统在这个类别上表现都偏弱，这正好验证了时序结构化的价值。再看右边认知建模的结果。总体任务成功率 93.2% 超过了所有基线，同时平均决策步骤从 Pathfinder 的 109.7 步降到了 101.8 步——这说明框架不只是成功率更高，决策效率也更好。记忆利用率 MRU 达到 80.1%，比最近的基线高了近10个百分点，直接说明性能提升来自有效的记忆利用，而不是运气或策略偏置。[停顿] 下面的综合洞察总结了两篇论文共同揭示的核心：结构化记忆是突破性能天花板的关键。</a:t>
            </a:r>
          </a:p>
          <a:p>
            <a:endParaRPr lang="zh-CN" dirty="0"/>
          </a:p>
          <a:p>
            <a:r>
              <a:rPr lang="zh-CN" dirty="0"/>
              <a:t>要点：① Chronos +7.67% 的提升在系统级研究中属于显著改进 ② 记忆利用率提升是认知框架效果的直接证据 ③ 两套基准下的共同结论相互印证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实验结果已经很有说服力了，消融研究进一步帮我们理解每个设计选择的具体贡献。</a:t>
            </a:r>
          </a:p>
          <a:p>
            <a:endParaRPr lang="zh-CN" dirty="0"/>
          </a:p>
          <a:p>
            <a:r>
              <a:rPr lang="zh-CN" dirty="0"/>
              <a:t>左边是 Chronos 的消融结果，最震撼的数字是：移除事件历法索引，Chronos Low 的准确率下降了整整 34.5 个百分点，几乎腰斩。这说明事件历法不是一个锦上添花的组件，而是整个架构成立的基础。相比之下，移除动态提示和初始检索分别损失12到14个点，Reranking 损失约9个点——每个组件都不可或缺，但事件历法的权重最高。右边上方的图展示了高低配置下的错误类型分布：检索失败始终是最大错误来源，即便换上 Opus 4.6 也没有消除，说明即使是顶级模型在大量历史数据中的检索也有天花板。而计算和计数类错误在高配置下减半，说明这类错误更依赖模型基础能力。右下角是认知框架的记忆容量实验：K 值（记忆条数）并非越大越好，过大会引入检索噪声，决策步骤反而增加。[停顿] 这两个发现共同表明：架构设计本身是决定性因素，而不仅仅是堆砌更强的底座模型。</a:t>
            </a:r>
          </a:p>
          <a:p>
            <a:endParaRPr lang="zh-CN" dirty="0"/>
          </a:p>
          <a:p>
            <a:r>
              <a:rPr lang="zh-CN" dirty="0"/>
              <a:t>要点：① 事件历法贡献基线提升58.9%，是 Chronos 最核心组件 ② 检索失败是所有记忆系统的共同瓶颈 ③ 记忆容量需要精细调控，并非越多越好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任何研究都有局限性，坦诚地讨论不足是好论文的标志。我们来逐一看看。</a:t>
            </a:r>
          </a:p>
          <a:p>
            <a:endParaRPr lang="zh-CN" dirty="0"/>
          </a:p>
          <a:p>
            <a:r>
              <a:rPr lang="zh-CN" dirty="0"/>
              <a:t>左边 Chronos 有四个主要局限：最核心的是双索引带来的存储和计算开销，论文通过稀疏提取缓解了这个问题，但并未根本解决；并行检索也会增加响应延迟，对实时性要求高的场景有压力；另外，单会话偏好召回类问题（SSP）表现明显弱于 Honcho，这说明对非时序类的偏好信息还需要专项优化。右边认知建模框架的局限则主要集中在：记忆容量的超参敏感性、注意力检索的可解释性低，以及只在 WebShop 一个数据集上验证了效果——跨领域泛化能力还是未知数。[停顿] 底部综合起来，两个框架面临四个共同挑战：记忆精确性与检索效率的根本权衡、记忆老化与主动更新策略、多 Agent 场景的共享记忆扩展、以及安全可控的记忆管理。这些问题，每一个都足以支撑一个独立的后续研究方向。</a:t>
            </a:r>
          </a:p>
          <a:p>
            <a:endParaRPr lang="zh-CN" dirty="0"/>
          </a:p>
          <a:p>
            <a:r>
              <a:rPr lang="zh-CN" dirty="0"/>
              <a:t>要点：① Chronos 最弱点是偏好类查询和存储开销 ② 认知框架最弱点是单一数据集验证和可解释性 ③ 四个共同挑战指向明确的后续研究机会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最后，让我们做一个综合总结，提炼这两篇论文共同传递的核心信息。</a:t>
            </a:r>
          </a:p>
          <a:p>
            <a:endParaRPr lang="zh-CN" dirty="0"/>
          </a:p>
          <a:p>
            <a:r>
              <a:rPr lang="zh-CN" dirty="0"/>
              <a:t>这次综述涵盖了两个视角下的长期记忆研究，它们共同传递了三个核心观点。第一，结构化记忆比纯向量检索具有本质优势——Chronos 和认知建模框架都用自己的方式证明了这一点，且都取得了各自领域的最优结果。第二，两个框架方法论上互补而非重复——Chronos 擅长时序精确召回，认知框架擅长历史驱动的决策一致性，两者可以相互借鉴，甚至有潜力融合出更强大的系统。第三，未来方向清晰可见——记忆老化与更新、多 Agent 共享记忆、跨场景迁移、从事件历史中直接更新模型权重，都是值得投入的前沿课题。[停顿] 总的来说，这两篇论文共同揭示了一个未来 AI 记忆系统的核心原则：不是让模型记住更多，而是让记忆更精准地驱动推理。感谢大家的聆听，欢迎交流与讨论。</a:t>
            </a:r>
          </a:p>
          <a:p>
            <a:endParaRPr lang="zh-CN" dirty="0"/>
          </a:p>
          <a:p>
            <a:r>
              <a:rPr lang="zh-CN" dirty="0"/>
              <a:t>要点：① 结构化记忆 + 推理耦合是突破性能天花板的核心 ② 两框架互补，存在融合潜力 ③ 未来方向：记忆老化、多Agent、跨场景、权重学习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6_img1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7_img1.jp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9_img1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0_img1.png"/>
  <Relationship Id="rId3" Type="http://schemas.openxmlformats.org/officeDocument/2006/relationships/image" Target="../media/s10_img2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95250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096500" y="266700"/>
            <a:ext cx="1695450" cy="323850"/>
          </a:xfrm>
          <a:custGeom>
            <a:avLst/>
            <a:gdLst/>
            <a:ahLst/>
            <a:cxnLst/>
            <a:rect l="l" t="t" r="r" b="b"/>
            <a:pathLst>
              <a:path w="1695450" h="323850">
                <a:moveTo>
                  <a:pt x="38100" y="0"/>
                </a:moveTo>
                <a:lnTo>
                  <a:pt x="1657350" y="0"/>
                </a:lnTo>
                <a:cubicBezTo>
                  <a:pt x="1678392" y="0"/>
                  <a:pt x="1695450" y="17058"/>
                  <a:pt x="1695450" y="38100"/>
                </a:cubicBezTo>
                <a:lnTo>
                  <a:pt x="1695450" y="285750"/>
                </a:lnTo>
                <a:cubicBezTo>
                  <a:pt x="1695450" y="306792"/>
                  <a:pt x="1678392" y="323850"/>
                  <a:pt x="165735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412373" y="3643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论文综述汇报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3855" y="406718"/>
            <a:ext cx="21666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AI 长期记忆 · 综述系列</a:t>
            </a:r>
          </a:p>
        </p:txBody>
      </p:sp>
      <p:sp>
        <p:nvSpPr>
          <p:cNvPr id="8" name="Rectangle 8"/>
          <p:cNvSpPr/>
          <p:nvPr/>
        </p:nvSpPr>
        <p:spPr>
          <a:xfrm>
            <a:off x="1905000" y="1524000"/>
            <a:ext cx="38100" cy="342900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905000" y="1524000"/>
            <a:ext cx="38100" cy="95250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011241" y="2436495"/>
            <a:ext cx="616951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LLM 长期记忆机制综述</a:t>
            </a:r>
          </a:p>
        </p:txBody>
      </p:sp>
      <p:sp>
        <p:nvSpPr>
          <p:cNvPr id="11" name="Freeform 11"/>
          <p:cNvSpPr/>
          <p:nvPr/>
        </p:nvSpPr>
        <p:spPr>
          <a:xfrm>
            <a:off x="3238500" y="3028950"/>
            <a:ext cx="5715000" cy="38100"/>
          </a:xfrm>
          <a:custGeom>
            <a:avLst/>
            <a:gdLst/>
            <a:ahLst/>
            <a:cxnLst/>
            <a:rect l="l" t="t" r="r" b="b"/>
            <a:pathLst>
              <a:path w="5715000" h="38100">
                <a:moveTo>
                  <a:pt x="19050" y="0"/>
                </a:moveTo>
                <a:lnTo>
                  <a:pt x="5695950" y="0"/>
                </a:lnTo>
                <a:cubicBezTo>
                  <a:pt x="5706471" y="0"/>
                  <a:pt x="5715000" y="8529"/>
                  <a:pt x="5715000" y="19050"/>
                </a:cubicBezTo>
                <a:lnTo>
                  <a:pt x="5715000" y="19050"/>
                </a:lnTo>
                <a:cubicBezTo>
                  <a:pt x="5715000" y="29571"/>
                  <a:pt x="5706471" y="38100"/>
                  <a:pt x="5695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913894" y="3408998"/>
            <a:ext cx="436421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时序感知会话记忆 × 长程认知建模</a:t>
            </a:r>
          </a:p>
        </p:txBody>
      </p:sp>
      <p:sp>
        <p:nvSpPr>
          <p:cNvPr id="13" name="Line 13"/>
          <p:cNvSpPr/>
          <p:nvPr/>
        </p:nvSpPr>
        <p:spPr>
          <a:xfrm>
            <a:off x="3810000" y="40005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D0D7E0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6048375" y="3952875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89696" y="4410075"/>
            <a:ext cx="18126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汇报人：[汇报者]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57888" y="4807268"/>
            <a:ext cx="40762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指导老师：[指导教师] 所在单位：[机构名称]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99638" y="5315902"/>
            <a:ext cx="5792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涵盖文献：Chronos (arXiv:2603.16862) · 认知建模框架 (preprints202602.1990)</a:t>
            </a:r>
          </a:p>
        </p:txBody>
      </p:sp>
      <p:sp>
        <p:nvSpPr>
          <p:cNvPr id="18" name="Rectangle 1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557433" y="65351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2026年5月26日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97246" y="65512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1 / 12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66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汇报目录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95973" y="308610"/>
            <a:ext cx="15302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LLM 长期记忆综述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9558" y="833914"/>
            <a:ext cx="70619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本次汇报涵盖：研究背景 · 问题定义 · 方法脉络 · 实验结果 · 消融分析 · 局限与展望</a:t>
            </a:r>
          </a:p>
        </p:txBody>
      </p:sp>
      <p:sp>
        <p:nvSpPr>
          <p:cNvPr id="10" name="Freeform 10"/>
          <p:cNvSpPr/>
          <p:nvPr/>
        </p:nvSpPr>
        <p:spPr>
          <a:xfrm>
            <a:off x="381000" y="1409700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876300"/>
                </a:lnTo>
                <a:cubicBezTo>
                  <a:pt x="5524500" y="918384"/>
                  <a:pt x="5490384" y="952500"/>
                  <a:pt x="5448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381000" y="1409700"/>
            <a:ext cx="57150" cy="952500"/>
          </a:xfrm>
          <a:custGeom>
            <a:avLst/>
            <a:gdLst/>
            <a:ahLst/>
            <a:cxnLst/>
            <a:rect l="l" t="t" r="r" b="b"/>
            <a:pathLst>
              <a:path w="57150" h="952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923925"/>
                </a:lnTo>
                <a:cubicBezTo>
                  <a:pt x="57150" y="939707"/>
                  <a:pt x="44357" y="952500"/>
                  <a:pt x="28575" y="952500"/>
                </a:cubicBezTo>
                <a:lnTo>
                  <a:pt x="28575" y="952500"/>
                </a:lnTo>
                <a:cubicBezTo>
                  <a:pt x="12793" y="952500"/>
                  <a:pt x="0" y="939707"/>
                  <a:pt x="0" y="923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41045" y="1603058"/>
            <a:ext cx="21041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01 研究背景与动机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013585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长期记忆的规模挑战、时序失真与决策碎片化</a:t>
            </a:r>
          </a:p>
        </p:txBody>
      </p:sp>
      <p:sp>
        <p:nvSpPr>
          <p:cNvPr id="14" name="Freeform 14"/>
          <p:cNvSpPr/>
          <p:nvPr/>
        </p:nvSpPr>
        <p:spPr>
          <a:xfrm>
            <a:off x="381000" y="2552700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876300"/>
                </a:lnTo>
                <a:cubicBezTo>
                  <a:pt x="5524500" y="918384"/>
                  <a:pt x="5490384" y="952500"/>
                  <a:pt x="5448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381000" y="2552700"/>
            <a:ext cx="57150" cy="952500"/>
          </a:xfrm>
          <a:custGeom>
            <a:avLst/>
            <a:gdLst/>
            <a:ahLst/>
            <a:cxnLst/>
            <a:rect l="l" t="t" r="r" b="b"/>
            <a:pathLst>
              <a:path w="57150" h="952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923925"/>
                </a:lnTo>
                <a:cubicBezTo>
                  <a:pt x="57150" y="939707"/>
                  <a:pt x="44357" y="952500"/>
                  <a:pt x="28575" y="952500"/>
                </a:cubicBezTo>
                <a:lnTo>
                  <a:pt x="28575" y="952500"/>
                </a:lnTo>
                <a:cubicBezTo>
                  <a:pt x="12793" y="952500"/>
                  <a:pt x="0" y="939707"/>
                  <a:pt x="0" y="923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1045" y="2746058"/>
            <a:ext cx="19143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02 核心问题定义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3156585"/>
            <a:ext cx="37284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时序推理与长程决策的双重困境——两篇论文视角</a:t>
            </a:r>
          </a:p>
        </p:txBody>
      </p:sp>
      <p:sp>
        <p:nvSpPr>
          <p:cNvPr id="18" name="Freeform 18"/>
          <p:cNvSpPr/>
          <p:nvPr/>
        </p:nvSpPr>
        <p:spPr>
          <a:xfrm>
            <a:off x="381000" y="3695700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876300"/>
                </a:lnTo>
                <a:cubicBezTo>
                  <a:pt x="5524500" y="918384"/>
                  <a:pt x="5490384" y="952500"/>
                  <a:pt x="5448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381000" y="3695700"/>
            <a:ext cx="57150" cy="952500"/>
          </a:xfrm>
          <a:custGeom>
            <a:avLst/>
            <a:gdLst/>
            <a:ahLst/>
            <a:cxnLst/>
            <a:rect l="l" t="t" r="r" b="b"/>
            <a:pathLst>
              <a:path w="57150" h="952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923925"/>
                </a:lnTo>
                <a:cubicBezTo>
                  <a:pt x="57150" y="939707"/>
                  <a:pt x="44357" y="952500"/>
                  <a:pt x="28575" y="952500"/>
                </a:cubicBezTo>
                <a:lnTo>
                  <a:pt x="28575" y="952500"/>
                </a:lnTo>
                <a:cubicBezTo>
                  <a:pt x="12793" y="952500"/>
                  <a:pt x="0" y="939707"/>
                  <a:pt x="0" y="923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1045" y="38890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03 方法脉络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6760" y="4299585"/>
            <a:ext cx="30624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Chronos 时序框架 × 认知建模统一架构</a:t>
            </a:r>
          </a:p>
        </p:txBody>
      </p:sp>
      <p:sp>
        <p:nvSpPr>
          <p:cNvPr id="22" name="Freeform 22"/>
          <p:cNvSpPr/>
          <p:nvPr/>
        </p:nvSpPr>
        <p:spPr>
          <a:xfrm>
            <a:off x="6286500" y="1409700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876300"/>
                </a:lnTo>
                <a:cubicBezTo>
                  <a:pt x="5524500" y="918384"/>
                  <a:pt x="5490384" y="952500"/>
                  <a:pt x="5448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6286500" y="1409700"/>
            <a:ext cx="57150" cy="952500"/>
          </a:xfrm>
          <a:custGeom>
            <a:avLst/>
            <a:gdLst/>
            <a:ahLst/>
            <a:cxnLst/>
            <a:rect l="l" t="t" r="r" b="b"/>
            <a:pathLst>
              <a:path w="57150" h="952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923925"/>
                </a:lnTo>
                <a:cubicBezTo>
                  <a:pt x="57150" y="939707"/>
                  <a:pt x="44357" y="952500"/>
                  <a:pt x="28575" y="952500"/>
                </a:cubicBezTo>
                <a:lnTo>
                  <a:pt x="28575" y="952500"/>
                </a:lnTo>
                <a:cubicBezTo>
                  <a:pt x="12793" y="952500"/>
                  <a:pt x="0" y="939707"/>
                  <a:pt x="0" y="923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46545" y="16030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04 实验结果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2260" y="2013585"/>
            <a:ext cx="33078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LongMemEvalS 与 WebShop 基准评测数据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2552700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876300"/>
                </a:lnTo>
                <a:cubicBezTo>
                  <a:pt x="5524500" y="918384"/>
                  <a:pt x="5490384" y="952500"/>
                  <a:pt x="5448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6286500" y="2552700"/>
            <a:ext cx="57150" cy="952500"/>
          </a:xfrm>
          <a:custGeom>
            <a:avLst/>
            <a:gdLst/>
            <a:ahLst/>
            <a:cxnLst/>
            <a:rect l="l" t="t" r="r" b="b"/>
            <a:pathLst>
              <a:path w="57150" h="952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923925"/>
                </a:lnTo>
                <a:cubicBezTo>
                  <a:pt x="57150" y="939707"/>
                  <a:pt x="44357" y="952500"/>
                  <a:pt x="28575" y="952500"/>
                </a:cubicBezTo>
                <a:lnTo>
                  <a:pt x="28575" y="952500"/>
                </a:lnTo>
                <a:cubicBezTo>
                  <a:pt x="12793" y="952500"/>
                  <a:pt x="0" y="939707"/>
                  <a:pt x="0" y="923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46545" y="27460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05 消融分析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2260" y="3156585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各组件贡献度量化分析与设计权衡</a:t>
            </a:r>
          </a:p>
        </p:txBody>
      </p:sp>
      <p:sp>
        <p:nvSpPr>
          <p:cNvPr id="30" name="Freeform 30"/>
          <p:cNvSpPr/>
          <p:nvPr/>
        </p:nvSpPr>
        <p:spPr>
          <a:xfrm>
            <a:off x="6286500" y="3695700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876300"/>
                </a:lnTo>
                <a:cubicBezTo>
                  <a:pt x="5524500" y="918384"/>
                  <a:pt x="5490384" y="952500"/>
                  <a:pt x="5448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6286500" y="3695700"/>
            <a:ext cx="57150" cy="952500"/>
          </a:xfrm>
          <a:custGeom>
            <a:avLst/>
            <a:gdLst/>
            <a:ahLst/>
            <a:cxnLst/>
            <a:rect l="l" t="t" r="r" b="b"/>
            <a:pathLst>
              <a:path w="57150" h="952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923925"/>
                </a:lnTo>
                <a:cubicBezTo>
                  <a:pt x="57150" y="939707"/>
                  <a:pt x="44357" y="952500"/>
                  <a:pt x="28575" y="952500"/>
                </a:cubicBezTo>
                <a:lnTo>
                  <a:pt x="28575" y="952500"/>
                </a:lnTo>
                <a:cubicBezTo>
                  <a:pt x="12793" y="952500"/>
                  <a:pt x="0" y="939707"/>
                  <a:pt x="0" y="923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46545" y="3889058"/>
            <a:ext cx="19143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06 局限性与展望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2260" y="429958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两框架的不足、共同挑战与未来研究方向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81000" y="4857750"/>
            <a:ext cx="11430000" cy="190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67665" y="5030152"/>
            <a:ext cx="86067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📄 文献一：Chronos: Temporal-Aware Conversational Agents with Structured Event Retrieval for Long-Term Memory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7665" y="5239702"/>
            <a:ext cx="82233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📄 文献二：Cognitive Modeling for Long-Horizon Agent Learning via Integrated Long-Term Memory and Reasoning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69570" y="6522720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LLM 长期记忆综述汇报 · 2026-05-26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06616" y="65065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2 / 12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66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248668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01 研究背景与动机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57617" y="316706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LLM 长期记忆综述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9558" y="833914"/>
            <a:ext cx="61122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现有 LLM 记忆系统在"时序推理"与"跨时段决策一致性"上存在系统性短板</a:t>
            </a:r>
          </a:p>
        </p:txBody>
      </p:sp>
      <p:sp>
        <p:nvSpPr>
          <p:cNvPr id="10" name="Freeform 10"/>
          <p:cNvSpPr/>
          <p:nvPr/>
        </p:nvSpPr>
        <p:spPr>
          <a:xfrm>
            <a:off x="381000" y="1409700"/>
            <a:ext cx="3524250" cy="4667250"/>
          </a:xfrm>
          <a:custGeom>
            <a:avLst/>
            <a:gdLst/>
            <a:ahLst/>
            <a:cxnLst/>
            <a:rect l="l" t="t" r="r" b="b"/>
            <a:pathLst>
              <a:path w="3524250" h="4667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572000"/>
                </a:lnTo>
                <a:cubicBezTo>
                  <a:pt x="3524250" y="4624605"/>
                  <a:pt x="3481605" y="4667250"/>
                  <a:pt x="342900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381000" y="1409700"/>
            <a:ext cx="3524250" cy="76200"/>
          </a:xfrm>
          <a:custGeom>
            <a:avLst/>
            <a:gdLst/>
            <a:ahLst/>
            <a:cxnLst/>
            <a:rect l="l" t="t" r="r" b="b"/>
            <a:pathLst>
              <a:path w="3524250" h="76200">
                <a:moveTo>
                  <a:pt x="47625" y="0"/>
                </a:moveTo>
                <a:lnTo>
                  <a:pt x="3476625" y="0"/>
                </a:lnTo>
                <a:cubicBezTo>
                  <a:pt x="3502928" y="0"/>
                  <a:pt x="3524250" y="17058"/>
                  <a:pt x="3524250" y="38100"/>
                </a:cubicBezTo>
                <a:lnTo>
                  <a:pt x="3524250" y="38100"/>
                </a:lnTo>
                <a:cubicBezTo>
                  <a:pt x="3524250" y="59142"/>
                  <a:pt x="3502928" y="76200"/>
                  <a:pt x="347662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1936750" y="1757283"/>
            <a:ext cx="255573" cy="257334"/>
            <a:chOff x="1936750" y="1757283"/>
            <a:chExt cx="255573" cy="257334"/>
          </a:xfrm>
        </p:grpSpPr>
        <p:sp>
          <p:nvSpPr>
            <p:cNvPr id="12" name="Freeform 12"/>
            <p:cNvSpPr/>
            <p:nvPr/>
          </p:nvSpPr>
          <p:spPr>
            <a:xfrm>
              <a:off x="1936750" y="1758950"/>
              <a:ext cx="63500" cy="254000"/>
            </a:xfrm>
            <a:custGeom>
              <a:avLst/>
              <a:gdLst/>
              <a:ahLst/>
              <a:cxnLst/>
              <a:rect l="l" t="t" r="r" b="b"/>
              <a:pathLst>
                <a:path w="63500" h="254000">
                  <a:moveTo>
                    <a:pt x="0" y="15875"/>
                  </a:moveTo>
                  <a:cubicBezTo>
                    <a:pt x="0" y="7107"/>
                    <a:pt x="7107" y="0"/>
                    <a:pt x="15875" y="0"/>
                  </a:cubicBezTo>
                  <a:lnTo>
                    <a:pt x="47625" y="0"/>
                  </a:lnTo>
                  <a:cubicBezTo>
                    <a:pt x="56393" y="0"/>
                    <a:pt x="63500" y="7107"/>
                    <a:pt x="63500" y="15875"/>
                  </a:cubicBezTo>
                  <a:lnTo>
                    <a:pt x="63500" y="238125"/>
                  </a:lnTo>
                  <a:cubicBezTo>
                    <a:pt x="63500" y="246893"/>
                    <a:pt x="56393" y="254000"/>
                    <a:pt x="47625" y="254000"/>
                  </a:cubicBezTo>
                  <a:lnTo>
                    <a:pt x="15875" y="254000"/>
                  </a:lnTo>
                  <a:cubicBezTo>
                    <a:pt x="7107" y="254000"/>
                    <a:pt x="0" y="246893"/>
                    <a:pt x="0" y="238125"/>
                  </a:cubicBezTo>
                  <a:lnTo>
                    <a:pt x="0" y="15875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000250" y="1758950"/>
              <a:ext cx="63500" cy="254000"/>
            </a:xfrm>
            <a:custGeom>
              <a:avLst/>
              <a:gdLst/>
              <a:ahLst/>
              <a:cxnLst/>
              <a:rect l="l" t="t" r="r" b="b"/>
              <a:pathLst>
                <a:path w="63500" h="254000">
                  <a:moveTo>
                    <a:pt x="0" y="15875"/>
                  </a:moveTo>
                  <a:cubicBezTo>
                    <a:pt x="0" y="7107"/>
                    <a:pt x="7107" y="0"/>
                    <a:pt x="15875" y="0"/>
                  </a:cubicBezTo>
                  <a:lnTo>
                    <a:pt x="47625" y="0"/>
                  </a:lnTo>
                  <a:cubicBezTo>
                    <a:pt x="56393" y="0"/>
                    <a:pt x="63500" y="7107"/>
                    <a:pt x="63500" y="15875"/>
                  </a:cubicBezTo>
                  <a:lnTo>
                    <a:pt x="63500" y="238125"/>
                  </a:lnTo>
                  <a:cubicBezTo>
                    <a:pt x="63500" y="246893"/>
                    <a:pt x="56393" y="254000"/>
                    <a:pt x="47625" y="254000"/>
                  </a:cubicBezTo>
                  <a:lnTo>
                    <a:pt x="15875" y="254000"/>
                  </a:lnTo>
                  <a:cubicBezTo>
                    <a:pt x="7107" y="254000"/>
                    <a:pt x="0" y="246893"/>
                    <a:pt x="0" y="238125"/>
                  </a:cubicBezTo>
                  <a:lnTo>
                    <a:pt x="0" y="15875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36750" y="1822450"/>
              <a:ext cx="63500" cy="9525"/>
            </a:xfrm>
            <a:custGeom>
              <a:avLst/>
              <a:gdLst/>
              <a:ahLst/>
              <a:cxnLst/>
              <a:rect l="l" t="t" r="r" b="b"/>
              <a:pathLst>
                <a:path w="63500" h="9525">
                  <a:moveTo>
                    <a:pt x="0" y="0"/>
                  </a:moveTo>
                  <a:lnTo>
                    <a:pt x="63500" y="0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000250" y="1949450"/>
              <a:ext cx="63500" cy="9525"/>
            </a:xfrm>
            <a:custGeom>
              <a:avLst/>
              <a:gdLst/>
              <a:ahLst/>
              <a:cxnLst/>
              <a:rect l="l" t="t" r="r" b="b"/>
              <a:pathLst>
                <a:path w="63500" h="9525">
                  <a:moveTo>
                    <a:pt x="0" y="0"/>
                  </a:moveTo>
                  <a:lnTo>
                    <a:pt x="63500" y="0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062177" y="1757283"/>
              <a:ext cx="130146" cy="257334"/>
            </a:xfrm>
            <a:custGeom>
              <a:avLst/>
              <a:gdLst/>
              <a:ahLst/>
              <a:cxnLst/>
              <a:rect l="l" t="t" r="r" b="b"/>
              <a:pathLst>
                <a:path w="130146" h="257334">
                  <a:moveTo>
                    <a:pt x="14321" y="10557"/>
                  </a:moveTo>
                  <a:lnTo>
                    <a:pt x="48992" y="2143"/>
                  </a:lnTo>
                  <a:cubicBezTo>
                    <a:pt x="57913" y="0"/>
                    <a:pt x="66978" y="5159"/>
                    <a:pt x="69343" y="13764"/>
                  </a:cubicBezTo>
                  <a:lnTo>
                    <a:pt x="128002" y="226774"/>
                  </a:lnTo>
                  <a:cubicBezTo>
                    <a:pt x="130146" y="234856"/>
                    <a:pt x="125785" y="243242"/>
                    <a:pt x="117937" y="246126"/>
                  </a:cubicBezTo>
                  <a:lnTo>
                    <a:pt x="115825" y="246777"/>
                  </a:lnTo>
                  <a:lnTo>
                    <a:pt x="81154" y="255191"/>
                  </a:lnTo>
                  <a:cubicBezTo>
                    <a:pt x="72233" y="257334"/>
                    <a:pt x="63168" y="252174"/>
                    <a:pt x="60803" y="243570"/>
                  </a:cubicBezTo>
                  <a:lnTo>
                    <a:pt x="2145" y="30559"/>
                  </a:lnTo>
                  <a:cubicBezTo>
                    <a:pt x="0" y="22478"/>
                    <a:pt x="4361" y="14092"/>
                    <a:pt x="12209" y="11208"/>
                  </a:cubicBezTo>
                  <a:lnTo>
                    <a:pt x="14321" y="10557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079625" y="1822450"/>
              <a:ext cx="63500" cy="15875"/>
            </a:xfrm>
            <a:custGeom>
              <a:avLst/>
              <a:gdLst/>
              <a:ahLst/>
              <a:cxnLst/>
              <a:rect l="l" t="t" r="r" b="b"/>
              <a:pathLst>
                <a:path w="63500" h="15875">
                  <a:moveTo>
                    <a:pt x="0" y="15875"/>
                  </a:moveTo>
                  <a:lnTo>
                    <a:pt x="63500" y="0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111375" y="1933892"/>
              <a:ext cx="62278" cy="15557"/>
            </a:xfrm>
            <a:custGeom>
              <a:avLst/>
              <a:gdLst/>
              <a:ahLst/>
              <a:cxnLst/>
              <a:rect l="l" t="t" r="r" b="b"/>
              <a:pathLst>
                <a:path w="62278" h="15557">
                  <a:moveTo>
                    <a:pt x="0" y="15557"/>
                  </a:moveTo>
                  <a:lnTo>
                    <a:pt x="62278" y="0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088946" y="225742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会话记忆的规模挑战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43000" y="2514600"/>
            <a:ext cx="2000250" cy="28575"/>
          </a:xfrm>
          <a:custGeom>
            <a:avLst/>
            <a:gdLst/>
            <a:ahLst/>
            <a:cxnLst/>
            <a:rect l="l" t="t" r="r" b="b"/>
            <a:pathLst>
              <a:path w="2000250" h="28575">
                <a:moveTo>
                  <a:pt x="9525" y="0"/>
                </a:moveTo>
                <a:lnTo>
                  <a:pt x="1990725" y="0"/>
                </a:lnTo>
                <a:cubicBezTo>
                  <a:pt x="1995986" y="0"/>
                  <a:pt x="2000250" y="4264"/>
                  <a:pt x="2000250" y="9525"/>
                </a:cubicBezTo>
                <a:lnTo>
                  <a:pt x="2000250" y="19050"/>
                </a:lnTo>
                <a:cubicBezTo>
                  <a:pt x="2000250" y="24311"/>
                  <a:pt x="1995986" y="28575"/>
                  <a:pt x="1990725" y="28575"/>
                </a:cubicBezTo>
                <a:lnTo>
                  <a:pt x="9525" y="28575"/>
                </a:lnTo>
                <a:cubicBezTo>
                  <a:pt x="4264" y="28575"/>
                  <a:pt x="0" y="24311"/>
                  <a:pt x="0" y="19050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56260" y="27279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对话可跨越数周至数月，LLM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6260" y="296608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上下文窗口无法涵盖全部历史。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333750"/>
            <a:ext cx="3143250" cy="9525"/>
          </a:xfrm>
          <a:prstGeom prst="rect">
            <a:avLst/>
          </a:prstGeom>
          <a:solidFill>
            <a:srgbClr val="D0D7E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57212" y="3498056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知识图谱：结构完整但存储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7212" y="371713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开销大、检索噪声高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7212" y="3974306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纯向量检索：简单但缺乏结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7212" y="419338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构化时序表示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7212" y="4450556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摘要预计算：查询独立导致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7212" y="4669631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上下文熵增</a:t>
            </a:r>
          </a:p>
        </p:txBody>
      </p:sp>
      <p:sp>
        <p:nvSpPr>
          <p:cNvPr id="31" name="Freeform 31"/>
          <p:cNvSpPr/>
          <p:nvPr/>
        </p:nvSpPr>
        <p:spPr>
          <a:xfrm>
            <a:off x="571500" y="5095875"/>
            <a:ext cx="3143250" cy="571500"/>
          </a:xfrm>
          <a:custGeom>
            <a:avLst/>
            <a:gdLst/>
            <a:ahLst/>
            <a:cxnLst/>
            <a:rect l="l" t="t" r="r" b="b"/>
            <a:pathLst>
              <a:path w="3143250" h="571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514350"/>
                </a:lnTo>
                <a:cubicBezTo>
                  <a:pt x="3143250" y="545913"/>
                  <a:pt x="3117663" y="571500"/>
                  <a:pt x="308610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807750" y="52111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关键矛盾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8909" y="5438299"/>
            <a:ext cx="1548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精确提取 vs 检索简洁性</a:t>
            </a:r>
          </a:p>
        </p:txBody>
      </p:sp>
      <p:sp>
        <p:nvSpPr>
          <p:cNvPr id="34" name="Freeform 34"/>
          <p:cNvSpPr/>
          <p:nvPr/>
        </p:nvSpPr>
        <p:spPr>
          <a:xfrm>
            <a:off x="4333875" y="1409700"/>
            <a:ext cx="3524250" cy="4667250"/>
          </a:xfrm>
          <a:custGeom>
            <a:avLst/>
            <a:gdLst/>
            <a:ahLst/>
            <a:cxnLst/>
            <a:rect l="l" t="t" r="r" b="b"/>
            <a:pathLst>
              <a:path w="3524250" h="4667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572000"/>
                </a:lnTo>
                <a:cubicBezTo>
                  <a:pt x="3524250" y="4624605"/>
                  <a:pt x="3481605" y="4667250"/>
                  <a:pt x="342900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5" name="Freeform 35"/>
          <p:cNvSpPr/>
          <p:nvPr/>
        </p:nvSpPr>
        <p:spPr>
          <a:xfrm>
            <a:off x="4333875" y="1409700"/>
            <a:ext cx="3524250" cy="76200"/>
          </a:xfrm>
          <a:custGeom>
            <a:avLst/>
            <a:gdLst/>
            <a:ahLst/>
            <a:cxnLst/>
            <a:rect l="l" t="t" r="r" b="b"/>
            <a:pathLst>
              <a:path w="3524250" h="76200">
                <a:moveTo>
                  <a:pt x="47625" y="0"/>
                </a:moveTo>
                <a:lnTo>
                  <a:pt x="3476625" y="0"/>
                </a:lnTo>
                <a:cubicBezTo>
                  <a:pt x="3502928" y="0"/>
                  <a:pt x="3524250" y="17058"/>
                  <a:pt x="3524250" y="38100"/>
                </a:cubicBezTo>
                <a:lnTo>
                  <a:pt x="3524250" y="38100"/>
                </a:lnTo>
                <a:cubicBezTo>
                  <a:pt x="3524250" y="59142"/>
                  <a:pt x="3502928" y="76200"/>
                  <a:pt x="347662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5873750" y="1743075"/>
            <a:ext cx="254000" cy="285750"/>
            <a:chOff x="5873750" y="1743075"/>
            <a:chExt cx="254000" cy="285750"/>
          </a:xfrm>
        </p:grpSpPr>
        <p:sp>
          <p:nvSpPr>
            <p:cNvPr id="36" name="Freeform 36"/>
            <p:cNvSpPr/>
            <p:nvPr/>
          </p:nvSpPr>
          <p:spPr>
            <a:xfrm>
              <a:off x="5873750" y="1774825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0" y="31750"/>
                  </a:moveTo>
                  <a:cubicBezTo>
                    <a:pt x="0" y="14215"/>
                    <a:pt x="14215" y="0"/>
                    <a:pt x="31750" y="0"/>
                  </a:cubicBezTo>
                  <a:lnTo>
                    <a:pt x="222250" y="0"/>
                  </a:lnTo>
                  <a:cubicBezTo>
                    <a:pt x="239785" y="0"/>
                    <a:pt x="254000" y="14215"/>
                    <a:pt x="254000" y="31750"/>
                  </a:cubicBezTo>
                  <a:lnTo>
                    <a:pt x="254000" y="222250"/>
                  </a:lnTo>
                  <a:cubicBezTo>
                    <a:pt x="254000" y="239785"/>
                    <a:pt x="239785" y="254000"/>
                    <a:pt x="222250" y="254000"/>
                  </a:cubicBezTo>
                  <a:lnTo>
                    <a:pt x="31750" y="254000"/>
                  </a:lnTo>
                  <a:cubicBezTo>
                    <a:pt x="14215" y="254000"/>
                    <a:pt x="0" y="239785"/>
                    <a:pt x="0" y="222250"/>
                  </a:cubicBezTo>
                  <a:lnTo>
                    <a:pt x="0" y="31750"/>
                  </a:ln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064250" y="1743075"/>
              <a:ext cx="9525" cy="63500"/>
            </a:xfrm>
            <a:custGeom>
              <a:avLst/>
              <a:gdLst/>
              <a:ahLst/>
              <a:cxnLst/>
              <a:rect l="l" t="t" r="r" b="b"/>
              <a:pathLst>
                <a:path w="9525"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937250" y="1743075"/>
              <a:ext cx="9525" cy="63500"/>
            </a:xfrm>
            <a:custGeom>
              <a:avLst/>
              <a:gdLst/>
              <a:ahLst/>
              <a:cxnLst/>
              <a:rect l="l" t="t" r="r" b="b"/>
              <a:pathLst>
                <a:path w="9525"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873750" y="1870075"/>
              <a:ext cx="254000" cy="9525"/>
            </a:xfrm>
            <a:custGeom>
              <a:avLst/>
              <a:gdLst/>
              <a:ahLst/>
              <a:cxnLst/>
              <a:rect l="l" t="t" r="r" b="b"/>
              <a:pathLst>
                <a:path w="254000" h="9525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984875" y="1933575"/>
              <a:ext cx="15875" cy="9525"/>
            </a:xfrm>
            <a:custGeom>
              <a:avLst/>
              <a:gdLst/>
              <a:ahLst/>
              <a:cxnLst/>
              <a:rect l="l" t="t" r="r" b="b"/>
              <a:pathLst>
                <a:path w="15875" h="9525">
                  <a:moveTo>
                    <a:pt x="0" y="0"/>
                  </a:moveTo>
                  <a:lnTo>
                    <a:pt x="15875" y="0"/>
                  </a:ln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000750" y="19335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5271849" y="225742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时序信息的失真</a:t>
            </a:r>
          </a:p>
        </p:txBody>
      </p:sp>
      <p:sp>
        <p:nvSpPr>
          <p:cNvPr id="44" name="Freeform 44"/>
          <p:cNvSpPr/>
          <p:nvPr/>
        </p:nvSpPr>
        <p:spPr>
          <a:xfrm>
            <a:off x="5095875" y="2514600"/>
            <a:ext cx="2000250" cy="28575"/>
          </a:xfrm>
          <a:custGeom>
            <a:avLst/>
            <a:gdLst/>
            <a:ahLst/>
            <a:cxnLst/>
            <a:rect l="l" t="t" r="r" b="b"/>
            <a:pathLst>
              <a:path w="2000250" h="28575">
                <a:moveTo>
                  <a:pt x="9525" y="0"/>
                </a:moveTo>
                <a:lnTo>
                  <a:pt x="1990725" y="0"/>
                </a:lnTo>
                <a:cubicBezTo>
                  <a:pt x="1995986" y="0"/>
                  <a:pt x="2000250" y="4264"/>
                  <a:pt x="2000250" y="9525"/>
                </a:cubicBezTo>
                <a:lnTo>
                  <a:pt x="2000250" y="19050"/>
                </a:lnTo>
                <a:cubicBezTo>
                  <a:pt x="2000250" y="24311"/>
                  <a:pt x="1995986" y="28575"/>
                  <a:pt x="1990725" y="28575"/>
                </a:cubicBezTo>
                <a:lnTo>
                  <a:pt x="9525" y="28575"/>
                </a:lnTo>
                <a:cubicBezTo>
                  <a:pt x="4264" y="28575"/>
                  <a:pt x="0" y="24311"/>
                  <a:pt x="0" y="19050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509135" y="27279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时间表达式被当作普通字符串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09135" y="296608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处理，无法精确过滤。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524375" y="3333750"/>
            <a:ext cx="3143250" cy="9525"/>
          </a:xfrm>
          <a:prstGeom prst="rect">
            <a:avLst/>
          </a:prstGeom>
          <a:solidFill>
            <a:srgbClr val="D0D7E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510088" y="3498056"/>
            <a:ext cx="21563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无法回答"上个月做了什么"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10088" y="371713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类时间过滤查询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10088" y="3974306"/>
            <a:ext cx="1975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跨会话事件聚合准确率低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510088" y="4193381"/>
            <a:ext cx="2016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（"今年总共运动几次？"）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510088" y="4450556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相对日期推理依赖模型隐式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10088" y="466963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理解，错误率高</a:t>
            </a:r>
          </a:p>
        </p:txBody>
      </p:sp>
      <p:sp>
        <p:nvSpPr>
          <p:cNvPr id="54" name="Freeform 54"/>
          <p:cNvSpPr/>
          <p:nvPr/>
        </p:nvSpPr>
        <p:spPr>
          <a:xfrm>
            <a:off x="4524375" y="5095875"/>
            <a:ext cx="3143250" cy="571500"/>
          </a:xfrm>
          <a:custGeom>
            <a:avLst/>
            <a:gdLst/>
            <a:ahLst/>
            <a:cxnLst/>
            <a:rect l="l" t="t" r="r" b="b"/>
            <a:pathLst>
              <a:path w="3143250" h="571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514350"/>
                </a:lnTo>
                <a:cubicBezTo>
                  <a:pt x="3143250" y="545913"/>
                  <a:pt x="3117663" y="571500"/>
                  <a:pt x="308610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5760625" y="52111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核心缺失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179385" y="5438299"/>
            <a:ext cx="18332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结构化时序 vs 语义语言理解</a:t>
            </a:r>
          </a:p>
        </p:txBody>
      </p:sp>
      <p:sp>
        <p:nvSpPr>
          <p:cNvPr id="57" name="Freeform 57"/>
          <p:cNvSpPr/>
          <p:nvPr/>
        </p:nvSpPr>
        <p:spPr>
          <a:xfrm>
            <a:off x="8286750" y="1409700"/>
            <a:ext cx="3524250" cy="4667250"/>
          </a:xfrm>
          <a:custGeom>
            <a:avLst/>
            <a:gdLst/>
            <a:ahLst/>
            <a:cxnLst/>
            <a:rect l="l" t="t" r="r" b="b"/>
            <a:pathLst>
              <a:path w="3524250" h="4667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572000"/>
                </a:lnTo>
                <a:cubicBezTo>
                  <a:pt x="3524250" y="4624605"/>
                  <a:pt x="3481605" y="4667250"/>
                  <a:pt x="342900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58" name="Freeform 58"/>
          <p:cNvSpPr/>
          <p:nvPr/>
        </p:nvSpPr>
        <p:spPr>
          <a:xfrm>
            <a:off x="8286750" y="1409700"/>
            <a:ext cx="3524250" cy="76200"/>
          </a:xfrm>
          <a:custGeom>
            <a:avLst/>
            <a:gdLst/>
            <a:ahLst/>
            <a:cxnLst/>
            <a:rect l="l" t="t" r="r" b="b"/>
            <a:pathLst>
              <a:path w="3524250" h="76200">
                <a:moveTo>
                  <a:pt x="47625" y="0"/>
                </a:moveTo>
                <a:lnTo>
                  <a:pt x="3476625" y="0"/>
                </a:lnTo>
                <a:cubicBezTo>
                  <a:pt x="3502928" y="0"/>
                  <a:pt x="3524250" y="17058"/>
                  <a:pt x="3524250" y="38100"/>
                </a:cubicBezTo>
                <a:lnTo>
                  <a:pt x="3524250" y="38100"/>
                </a:lnTo>
                <a:cubicBezTo>
                  <a:pt x="3524250" y="59142"/>
                  <a:pt x="3502928" y="76200"/>
                  <a:pt x="347662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grpSp>
        <p:nvGrpSpPr>
          <p:cNvPr id="65" name="Group 65"/>
          <p:cNvGrpSpPr/>
          <p:nvPr/>
        </p:nvGrpSpPr>
        <p:grpSpPr>
          <a:xfrm>
            <a:off x="9810750" y="1743075"/>
            <a:ext cx="285750" cy="285750"/>
            <a:chOff x="9810750" y="1743075"/>
            <a:chExt cx="285750" cy="285750"/>
          </a:xfrm>
        </p:grpSpPr>
        <p:sp>
          <p:nvSpPr>
            <p:cNvPr id="59" name="Freeform 59"/>
            <p:cNvSpPr/>
            <p:nvPr/>
          </p:nvSpPr>
          <p:spPr>
            <a:xfrm>
              <a:off x="9953625" y="1901825"/>
              <a:ext cx="111125" cy="127000"/>
            </a:xfrm>
            <a:custGeom>
              <a:avLst/>
              <a:gdLst/>
              <a:ahLst/>
              <a:cxnLst/>
              <a:rect l="l" t="t" r="r" b="b"/>
              <a:pathLst>
                <a:path w="111125" h="127000">
                  <a:moveTo>
                    <a:pt x="55562" y="0"/>
                  </a:moveTo>
                  <a:cubicBezTo>
                    <a:pt x="24876" y="0"/>
                    <a:pt x="0" y="24876"/>
                    <a:pt x="0" y="55563"/>
                  </a:cubicBezTo>
                  <a:lnTo>
                    <a:pt x="0" y="71438"/>
                  </a:lnTo>
                  <a:cubicBezTo>
                    <a:pt x="0" y="102124"/>
                    <a:pt x="24876" y="127000"/>
                    <a:pt x="55562" y="127000"/>
                  </a:cubicBezTo>
                  <a:cubicBezTo>
                    <a:pt x="86249" y="127000"/>
                    <a:pt x="111125" y="102124"/>
                    <a:pt x="111125" y="71438"/>
                  </a:cubicBezTo>
                  <a:lnTo>
                    <a:pt x="111125" y="42862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842500" y="1901825"/>
              <a:ext cx="111125" cy="127000"/>
            </a:xfrm>
            <a:custGeom>
              <a:avLst/>
              <a:gdLst/>
              <a:ahLst/>
              <a:cxnLst/>
              <a:rect l="l" t="t" r="r" b="b"/>
              <a:pathLst>
                <a:path w="111125" h="127000">
                  <a:moveTo>
                    <a:pt x="55563" y="0"/>
                  </a:moveTo>
                  <a:cubicBezTo>
                    <a:pt x="86249" y="0"/>
                    <a:pt x="111125" y="24876"/>
                    <a:pt x="111125" y="55563"/>
                  </a:cubicBezTo>
                  <a:lnTo>
                    <a:pt x="111125" y="71438"/>
                  </a:lnTo>
                  <a:cubicBezTo>
                    <a:pt x="111125" y="102124"/>
                    <a:pt x="86249" y="127000"/>
                    <a:pt x="55563" y="127000"/>
                  </a:cubicBezTo>
                  <a:cubicBezTo>
                    <a:pt x="24876" y="127000"/>
                    <a:pt x="0" y="102124"/>
                    <a:pt x="0" y="71438"/>
                  </a:cubicBezTo>
                  <a:lnTo>
                    <a:pt x="0" y="42862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033000" y="1838325"/>
              <a:ext cx="63500" cy="111125"/>
            </a:xfrm>
            <a:custGeom>
              <a:avLst/>
              <a:gdLst/>
              <a:ahLst/>
              <a:cxnLst/>
              <a:rect l="l" t="t" r="r" b="b"/>
              <a:pathLst>
                <a:path w="63500" h="111125">
                  <a:moveTo>
                    <a:pt x="7938" y="111125"/>
                  </a:moveTo>
                  <a:cubicBezTo>
                    <a:pt x="38624" y="111125"/>
                    <a:pt x="63500" y="86249"/>
                    <a:pt x="63500" y="55563"/>
                  </a:cubicBezTo>
                  <a:cubicBezTo>
                    <a:pt x="63500" y="24876"/>
                    <a:pt x="38624" y="0"/>
                    <a:pt x="7938" y="0"/>
                  </a:cubicBez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953625" y="1743075"/>
              <a:ext cx="111125" cy="100012"/>
            </a:xfrm>
            <a:custGeom>
              <a:avLst/>
              <a:gdLst/>
              <a:ahLst/>
              <a:cxnLst/>
              <a:rect l="l" t="t" r="r" b="b"/>
              <a:pathLst>
                <a:path w="111125" h="100012">
                  <a:moveTo>
                    <a:pt x="111125" y="100012"/>
                  </a:moveTo>
                  <a:lnTo>
                    <a:pt x="111125" y="55563"/>
                  </a:lnTo>
                  <a:cubicBezTo>
                    <a:pt x="111125" y="24876"/>
                    <a:pt x="86249" y="0"/>
                    <a:pt x="55562" y="0"/>
                  </a:cubicBezTo>
                  <a:cubicBezTo>
                    <a:pt x="24876" y="0"/>
                    <a:pt x="0" y="24876"/>
                    <a:pt x="0" y="55563"/>
                  </a:cubicBez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810750" y="1838325"/>
              <a:ext cx="63500" cy="111125"/>
            </a:xfrm>
            <a:custGeom>
              <a:avLst/>
              <a:gdLst/>
              <a:ahLst/>
              <a:cxnLst/>
              <a:rect l="l" t="t" r="r" b="b"/>
              <a:pathLst>
                <a:path w="63500" h="111125">
                  <a:moveTo>
                    <a:pt x="55562" y="111125"/>
                  </a:moveTo>
                  <a:cubicBezTo>
                    <a:pt x="24876" y="111125"/>
                    <a:pt x="0" y="86249"/>
                    <a:pt x="0" y="55563"/>
                  </a:cubicBezTo>
                  <a:cubicBezTo>
                    <a:pt x="0" y="24876"/>
                    <a:pt x="24876" y="0"/>
                    <a:pt x="55562" y="0"/>
                  </a:cubicBezTo>
                  <a:lnTo>
                    <a:pt x="63500" y="0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842500" y="1743075"/>
              <a:ext cx="111125" cy="214312"/>
            </a:xfrm>
            <a:custGeom>
              <a:avLst/>
              <a:gdLst/>
              <a:ahLst/>
              <a:cxnLst/>
              <a:rect l="l" t="t" r="r" b="b"/>
              <a:pathLst>
                <a:path w="111125" h="214312">
                  <a:moveTo>
                    <a:pt x="0" y="100012"/>
                  </a:moveTo>
                  <a:lnTo>
                    <a:pt x="0" y="55563"/>
                  </a:lnTo>
                  <a:cubicBezTo>
                    <a:pt x="0" y="24876"/>
                    <a:pt x="24876" y="0"/>
                    <a:pt x="55563" y="0"/>
                  </a:cubicBezTo>
                  <a:cubicBezTo>
                    <a:pt x="86249" y="0"/>
                    <a:pt x="111125" y="24876"/>
                    <a:pt x="111125" y="55563"/>
                  </a:cubicBezTo>
                  <a:lnTo>
                    <a:pt x="111125" y="214312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</p:grpSp>
      <p:sp>
        <p:nvSpPr>
          <p:cNvPr id="66" name="TextBox 66"/>
          <p:cNvSpPr txBox="1"/>
          <p:nvPr/>
        </p:nvSpPr>
        <p:spPr>
          <a:xfrm>
            <a:off x="9109710" y="225742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长程决策的碎片化</a:t>
            </a:r>
          </a:p>
        </p:txBody>
      </p:sp>
      <p:sp>
        <p:nvSpPr>
          <p:cNvPr id="67" name="Freeform 67"/>
          <p:cNvSpPr/>
          <p:nvPr/>
        </p:nvSpPr>
        <p:spPr>
          <a:xfrm>
            <a:off x="9048750" y="2514600"/>
            <a:ext cx="2000250" cy="28575"/>
          </a:xfrm>
          <a:custGeom>
            <a:avLst/>
            <a:gdLst/>
            <a:ahLst/>
            <a:cxnLst/>
            <a:rect l="l" t="t" r="r" b="b"/>
            <a:pathLst>
              <a:path w="2000250" h="28575">
                <a:moveTo>
                  <a:pt x="9525" y="0"/>
                </a:moveTo>
                <a:lnTo>
                  <a:pt x="1990725" y="0"/>
                </a:lnTo>
                <a:cubicBezTo>
                  <a:pt x="1995986" y="0"/>
                  <a:pt x="2000250" y="4264"/>
                  <a:pt x="2000250" y="9525"/>
                </a:cubicBezTo>
                <a:lnTo>
                  <a:pt x="2000250" y="19050"/>
                </a:lnTo>
                <a:cubicBezTo>
                  <a:pt x="2000250" y="24311"/>
                  <a:pt x="1995986" y="28575"/>
                  <a:pt x="1990725" y="28575"/>
                </a:cubicBezTo>
                <a:lnTo>
                  <a:pt x="9525" y="28575"/>
                </a:lnTo>
                <a:cubicBezTo>
                  <a:pt x="4264" y="28575"/>
                  <a:pt x="0" y="24311"/>
                  <a:pt x="0" y="19050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462010" y="27279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智能体过度依赖短期状态，历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462010" y="2966085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史经验未能显式参与决策。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477250" y="3333750"/>
            <a:ext cx="3143250" cy="9525"/>
          </a:xfrm>
          <a:prstGeom prst="rect">
            <a:avLst/>
          </a:prstGeom>
          <a:solidFill>
            <a:srgbClr val="D0D7E0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8462962" y="3498056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记忆压缩进隐式状态向量，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462962" y="3717131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可追踪性与可解释性低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462962" y="3974306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长期目标一致性难以维持，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462962" y="4193381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策略易退化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462962" y="4450556"/>
            <a:ext cx="1975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部分可观测环境下推理链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462962" y="466963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断裂，效率损失显著</a:t>
            </a:r>
          </a:p>
        </p:txBody>
      </p:sp>
      <p:sp>
        <p:nvSpPr>
          <p:cNvPr id="77" name="Freeform 77"/>
          <p:cNvSpPr/>
          <p:nvPr/>
        </p:nvSpPr>
        <p:spPr>
          <a:xfrm>
            <a:off x="8477250" y="5095875"/>
            <a:ext cx="3143250" cy="571500"/>
          </a:xfrm>
          <a:custGeom>
            <a:avLst/>
            <a:gdLst/>
            <a:ahLst/>
            <a:cxnLst/>
            <a:rect l="l" t="t" r="r" b="b"/>
            <a:pathLst>
              <a:path w="3143250" h="571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514350"/>
                </a:lnTo>
                <a:cubicBezTo>
                  <a:pt x="3143250" y="545913"/>
                  <a:pt x="3117663" y="571500"/>
                  <a:pt x="308610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9713500" y="52111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根本缺口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203460" y="5438299"/>
            <a:ext cx="1690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记忆管理 vs 推理决策脱耦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69570" y="6522720"/>
            <a:ext cx="46694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来源：Chronos (arXiv:2603.16862) | 认知建模框架 (preprints202602.1990)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624512" y="65227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研究背景与动机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06616" y="65065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3 / 12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66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226240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02 核心问题定义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57617" y="316706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LLM 长期记忆综述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9558" y="833914"/>
            <a:ext cx="76671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两篇论文从互补视角切入：前者聚焦时序记忆精确召回，后者关注记忆驱动的长程策略一致性</a:t>
            </a:r>
          </a:p>
        </p:txBody>
      </p:sp>
      <p:sp>
        <p:nvSpPr>
          <p:cNvPr id="10" name="Freeform 10"/>
          <p:cNvSpPr/>
          <p:nvPr/>
        </p:nvSpPr>
        <p:spPr>
          <a:xfrm>
            <a:off x="381000" y="1333500"/>
            <a:ext cx="5619750" cy="4762500"/>
          </a:xfrm>
          <a:custGeom>
            <a:avLst/>
            <a:gdLst/>
            <a:ahLst/>
            <a:cxnLst/>
            <a:rect l="l" t="t" r="r" b="b"/>
            <a:pathLst>
              <a:path w="5619750" h="4762500">
                <a:moveTo>
                  <a:pt x="95250" y="0"/>
                </a:moveTo>
                <a:lnTo>
                  <a:pt x="5524500" y="0"/>
                </a:lnTo>
                <a:cubicBezTo>
                  <a:pt x="5577105" y="0"/>
                  <a:pt x="5619750" y="42645"/>
                  <a:pt x="5619750" y="95250"/>
                </a:cubicBezTo>
                <a:lnTo>
                  <a:pt x="5619750" y="4667250"/>
                </a:lnTo>
                <a:cubicBezTo>
                  <a:pt x="5619750" y="4719855"/>
                  <a:pt x="5577105" y="4762500"/>
                  <a:pt x="55245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381000" y="1333500"/>
            <a:ext cx="5619750" cy="533400"/>
          </a:xfrm>
          <a:custGeom>
            <a:avLst/>
            <a:gdLst/>
            <a:ahLst/>
            <a:cxnLst/>
            <a:rect l="l" t="t" r="r" b="b"/>
            <a:pathLst>
              <a:path w="5619750" h="533400">
                <a:moveTo>
                  <a:pt x="95250" y="0"/>
                </a:moveTo>
                <a:lnTo>
                  <a:pt x="5524500" y="0"/>
                </a:lnTo>
                <a:cubicBezTo>
                  <a:pt x="5577105" y="0"/>
                  <a:pt x="5619750" y="42645"/>
                  <a:pt x="5619750" y="95250"/>
                </a:cubicBezTo>
                <a:lnTo>
                  <a:pt x="5619750" y="438150"/>
                </a:lnTo>
                <a:cubicBezTo>
                  <a:pt x="5619750" y="490755"/>
                  <a:pt x="5577105" y="533400"/>
                  <a:pt x="5524500" y="533400"/>
                </a:cubicBezTo>
                <a:lnTo>
                  <a:pt x="95250" y="533400"/>
                </a:lnTo>
                <a:cubicBezTo>
                  <a:pt x="42645" y="533400"/>
                  <a:pt x="0" y="490755"/>
                  <a:pt x="0" y="438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600200"/>
            <a:ext cx="5619750" cy="2667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571500" y="1447800"/>
            <a:ext cx="1143000" cy="247650"/>
          </a:xfrm>
          <a:custGeom>
            <a:avLst/>
            <a:gdLst/>
            <a:ahLst/>
            <a:cxnLst/>
            <a:rect l="l" t="t" r="r" b="b"/>
            <a:pathLst>
              <a:path w="1143000" h="24765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209550"/>
                </a:lnTo>
                <a:cubicBezTo>
                  <a:pt x="1143000" y="230592"/>
                  <a:pt x="1125942" y="247650"/>
                  <a:pt x="11049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32543" y="1513999"/>
            <a:ext cx="12209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文献一 · Chronos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38448" y="1492568"/>
            <a:ext cx="17526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arXiv:2603.16862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402" y="203692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研究问题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26695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9525" y="0"/>
                </a:moveTo>
                <a:lnTo>
                  <a:pt x="1895475" y="0"/>
                </a:lnTo>
                <a:cubicBezTo>
                  <a:pt x="1900736" y="0"/>
                  <a:pt x="1905000" y="4264"/>
                  <a:pt x="1905000" y="9525"/>
                </a:cubicBezTo>
                <a:lnTo>
                  <a:pt x="1905000" y="19050"/>
                </a:lnTo>
                <a:cubicBezTo>
                  <a:pt x="1905000" y="24311"/>
                  <a:pt x="1900736" y="28575"/>
                  <a:pt x="1895475" y="28575"/>
                </a:cubicBezTo>
                <a:lnTo>
                  <a:pt x="9525" y="28575"/>
                </a:lnTo>
                <a:cubicBezTo>
                  <a:pt x="4264" y="28575"/>
                  <a:pt x="0" y="24311"/>
                  <a:pt x="0" y="19050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56260" y="2423160"/>
            <a:ext cx="20372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对话 AI 系统如何精确回答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5308" y="2634139"/>
            <a:ext cx="23982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"时间敏感型"跨会话查询？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952750"/>
            <a:ext cx="5238750" cy="9525"/>
          </a:xfrm>
          <a:prstGeom prst="rect">
            <a:avLst/>
          </a:prstGeom>
          <a:solidFill>
            <a:srgbClr val="D0D7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55308" y="310086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核心挑战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3409950"/>
            <a:ext cx="5238750" cy="552450"/>
          </a:xfrm>
          <a:custGeom>
            <a:avLst/>
            <a:gdLst/>
            <a:ahLst/>
            <a:cxnLst/>
            <a:rect l="l" t="t" r="r" b="b"/>
            <a:pathLst>
              <a:path w="5238750" h="55245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95300"/>
                </a:lnTo>
                <a:cubicBezTo>
                  <a:pt x="5238750" y="526863"/>
                  <a:pt x="5213163" y="552450"/>
                  <a:pt x="5181600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09612" y="3507581"/>
            <a:ext cx="41608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现有系统将"last month"当作普通字符串，无法映射到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9612" y="3726656"/>
            <a:ext cx="240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精确 ISO 8601 时间范围进行过滤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4076700"/>
            <a:ext cx="5238750" cy="552450"/>
          </a:xfrm>
          <a:custGeom>
            <a:avLst/>
            <a:gdLst/>
            <a:ahLst/>
            <a:cxnLst/>
            <a:rect l="l" t="t" r="r" b="b"/>
            <a:pathLst>
              <a:path w="5238750" h="55245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95300"/>
                </a:lnTo>
                <a:cubicBezTo>
                  <a:pt x="5238750" y="526863"/>
                  <a:pt x="5213163" y="552450"/>
                  <a:pt x="5181600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09612" y="4174331"/>
            <a:ext cx="41280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多跳时序查询（"度假后那周做了什么？"）需要跨会话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9612" y="43934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事件聚合，纯语义检索无法处理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4743450"/>
            <a:ext cx="5238750" cy="552450"/>
          </a:xfrm>
          <a:custGeom>
            <a:avLst/>
            <a:gdLst/>
            <a:ahLst/>
            <a:cxnLst/>
            <a:rect l="l" t="t" r="r" b="b"/>
            <a:pathLst>
              <a:path w="5238750" h="55245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95300"/>
                </a:lnTo>
                <a:cubicBezTo>
                  <a:pt x="5238750" y="526863"/>
                  <a:pt x="5213163" y="552450"/>
                  <a:pt x="5181600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9612" y="4841081"/>
            <a:ext cx="41280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知识更新追踪（"我现在在哪工作？"）要求识别最新事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9612" y="50601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件，而非历史所有提及</a:t>
            </a:r>
          </a:p>
        </p:txBody>
      </p:sp>
      <p:sp>
        <p:nvSpPr>
          <p:cNvPr id="31" name="Freeform 31"/>
          <p:cNvSpPr/>
          <p:nvPr/>
        </p:nvSpPr>
        <p:spPr>
          <a:xfrm>
            <a:off x="571500" y="5410200"/>
            <a:ext cx="5238750" cy="476250"/>
          </a:xfrm>
          <a:custGeom>
            <a:avLst/>
            <a:gdLst/>
            <a:ahLst/>
            <a:cxnLst/>
            <a:rect l="l" t="t" r="r" b="b"/>
            <a:pathLst>
              <a:path w="5238750" h="47625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19100"/>
                </a:lnTo>
                <a:cubicBezTo>
                  <a:pt x="5238750" y="450663"/>
                  <a:pt x="5213163" y="476250"/>
                  <a:pt x="518160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3366">
              <a:alpha val="8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855500" y="54968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本质缺失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97368" y="5677852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结构化时序信息与语义检索无法有效解耦</a:t>
            </a:r>
          </a:p>
        </p:txBody>
      </p:sp>
      <p:sp>
        <p:nvSpPr>
          <p:cNvPr id="34" name="Freeform 34"/>
          <p:cNvSpPr/>
          <p:nvPr/>
        </p:nvSpPr>
        <p:spPr>
          <a:xfrm>
            <a:off x="6191250" y="1333500"/>
            <a:ext cx="5619750" cy="4762500"/>
          </a:xfrm>
          <a:custGeom>
            <a:avLst/>
            <a:gdLst/>
            <a:ahLst/>
            <a:cxnLst/>
            <a:rect l="l" t="t" r="r" b="b"/>
            <a:pathLst>
              <a:path w="5619750" h="4762500">
                <a:moveTo>
                  <a:pt x="95250" y="0"/>
                </a:moveTo>
                <a:lnTo>
                  <a:pt x="5524500" y="0"/>
                </a:lnTo>
                <a:cubicBezTo>
                  <a:pt x="5577105" y="0"/>
                  <a:pt x="5619750" y="42645"/>
                  <a:pt x="5619750" y="95250"/>
                </a:cubicBezTo>
                <a:lnTo>
                  <a:pt x="5619750" y="4667250"/>
                </a:lnTo>
                <a:cubicBezTo>
                  <a:pt x="5619750" y="4719855"/>
                  <a:pt x="5577105" y="4762500"/>
                  <a:pt x="55245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E87722"/>
            </a:solidFill>
          </a:ln>
        </p:spPr>
      </p:sp>
      <p:sp>
        <p:nvSpPr>
          <p:cNvPr id="35" name="Freeform 35"/>
          <p:cNvSpPr/>
          <p:nvPr/>
        </p:nvSpPr>
        <p:spPr>
          <a:xfrm>
            <a:off x="6191250" y="1333500"/>
            <a:ext cx="5619750" cy="533400"/>
          </a:xfrm>
          <a:custGeom>
            <a:avLst/>
            <a:gdLst/>
            <a:ahLst/>
            <a:cxnLst/>
            <a:rect l="l" t="t" r="r" b="b"/>
            <a:pathLst>
              <a:path w="5619750" h="533400">
                <a:moveTo>
                  <a:pt x="95250" y="0"/>
                </a:moveTo>
                <a:lnTo>
                  <a:pt x="5524500" y="0"/>
                </a:lnTo>
                <a:cubicBezTo>
                  <a:pt x="5577105" y="0"/>
                  <a:pt x="5619750" y="42645"/>
                  <a:pt x="5619750" y="95250"/>
                </a:cubicBezTo>
                <a:lnTo>
                  <a:pt x="5619750" y="438150"/>
                </a:lnTo>
                <a:cubicBezTo>
                  <a:pt x="5619750" y="490755"/>
                  <a:pt x="5577105" y="533400"/>
                  <a:pt x="5524500" y="533400"/>
                </a:cubicBezTo>
                <a:lnTo>
                  <a:pt x="95250" y="533400"/>
                </a:lnTo>
                <a:cubicBezTo>
                  <a:pt x="42645" y="533400"/>
                  <a:pt x="0" y="490755"/>
                  <a:pt x="0" y="438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6191250" y="1600200"/>
            <a:ext cx="5619750" cy="26670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381750" y="1447800"/>
            <a:ext cx="1409700" cy="247650"/>
          </a:xfrm>
          <a:custGeom>
            <a:avLst/>
            <a:gdLst/>
            <a:ahLst/>
            <a:cxnLst/>
            <a:rect l="l" t="t" r="r" b="b"/>
            <a:pathLst>
              <a:path w="1409700" h="247650">
                <a:moveTo>
                  <a:pt x="38100" y="0"/>
                </a:moveTo>
                <a:lnTo>
                  <a:pt x="1371600" y="0"/>
                </a:lnTo>
                <a:cubicBezTo>
                  <a:pt x="1392642" y="0"/>
                  <a:pt x="1409700" y="17058"/>
                  <a:pt x="1409700" y="38100"/>
                </a:cubicBezTo>
                <a:lnTo>
                  <a:pt x="1409700" y="209550"/>
                </a:lnTo>
                <a:cubicBezTo>
                  <a:pt x="1409700" y="230592"/>
                  <a:pt x="1392642" y="247650"/>
                  <a:pt x="13716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464929" y="1513999"/>
            <a:ext cx="12433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文献二 · 认知建模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25719" y="1492568"/>
            <a:ext cx="22080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preprints202602.1990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63652" y="203692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研究问题</a:t>
            </a:r>
          </a:p>
        </p:txBody>
      </p:sp>
      <p:sp>
        <p:nvSpPr>
          <p:cNvPr id="41" name="Freeform 41"/>
          <p:cNvSpPr/>
          <p:nvPr/>
        </p:nvSpPr>
        <p:spPr>
          <a:xfrm>
            <a:off x="6381750" y="226695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9525" y="0"/>
                </a:moveTo>
                <a:lnTo>
                  <a:pt x="1895475" y="0"/>
                </a:lnTo>
                <a:cubicBezTo>
                  <a:pt x="1900736" y="0"/>
                  <a:pt x="1905000" y="4264"/>
                  <a:pt x="1905000" y="9525"/>
                </a:cubicBezTo>
                <a:lnTo>
                  <a:pt x="1905000" y="19050"/>
                </a:lnTo>
                <a:cubicBezTo>
                  <a:pt x="1905000" y="24311"/>
                  <a:pt x="1900736" y="28575"/>
                  <a:pt x="1895475" y="28575"/>
                </a:cubicBezTo>
                <a:lnTo>
                  <a:pt x="9525" y="28575"/>
                </a:lnTo>
                <a:cubicBezTo>
                  <a:pt x="4264" y="28575"/>
                  <a:pt x="0" y="24311"/>
                  <a:pt x="0" y="19050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366510" y="24231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长程顺序任务中，智能体如何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65558" y="2634139"/>
            <a:ext cx="21831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系统性地利用历史经验？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381750" y="2952750"/>
            <a:ext cx="5238750" cy="9525"/>
          </a:xfrm>
          <a:prstGeom prst="rect">
            <a:avLst/>
          </a:prstGeom>
          <a:solidFill>
            <a:srgbClr val="D0D7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365558" y="310086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核心挑战</a:t>
            </a:r>
          </a:p>
        </p:txBody>
      </p:sp>
      <p:sp>
        <p:nvSpPr>
          <p:cNvPr id="46" name="Freeform 46"/>
          <p:cNvSpPr/>
          <p:nvPr/>
        </p:nvSpPr>
        <p:spPr>
          <a:xfrm>
            <a:off x="6381750" y="3409950"/>
            <a:ext cx="5238750" cy="552450"/>
          </a:xfrm>
          <a:custGeom>
            <a:avLst/>
            <a:gdLst/>
            <a:ahLst/>
            <a:cxnLst/>
            <a:rect l="l" t="t" r="r" b="b"/>
            <a:pathLst>
              <a:path w="5238750" h="55245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95300"/>
                </a:lnTo>
                <a:cubicBezTo>
                  <a:pt x="5238750" y="526863"/>
                  <a:pt x="5213163" y="552450"/>
                  <a:pt x="5181600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519862" y="3507581"/>
            <a:ext cx="39472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现有策略模型仅基于短期状态或隐式历史压缩，缺乏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19862" y="3726656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可追踪的跨时间关键信息结构化存储</a:t>
            </a:r>
          </a:p>
        </p:txBody>
      </p:sp>
      <p:sp>
        <p:nvSpPr>
          <p:cNvPr id="49" name="Freeform 49"/>
          <p:cNvSpPr/>
          <p:nvPr/>
        </p:nvSpPr>
        <p:spPr>
          <a:xfrm>
            <a:off x="6381750" y="4076700"/>
            <a:ext cx="5238750" cy="552450"/>
          </a:xfrm>
          <a:custGeom>
            <a:avLst/>
            <a:gdLst/>
            <a:ahLst/>
            <a:cxnLst/>
            <a:rect l="l" t="t" r="r" b="b"/>
            <a:pathLst>
              <a:path w="5238750" h="55245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95300"/>
                </a:lnTo>
                <a:cubicBezTo>
                  <a:pt x="5238750" y="526863"/>
                  <a:pt x="5213163" y="552450"/>
                  <a:pt x="5181600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519862" y="4174331"/>
            <a:ext cx="37829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记忆存储与决策生成相互脱节，历史经验无法显式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19862" y="43934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参与当前决策逻辑的形成</a:t>
            </a:r>
          </a:p>
        </p:txBody>
      </p:sp>
      <p:sp>
        <p:nvSpPr>
          <p:cNvPr id="52" name="Freeform 52"/>
          <p:cNvSpPr/>
          <p:nvPr/>
        </p:nvSpPr>
        <p:spPr>
          <a:xfrm>
            <a:off x="6381750" y="4743450"/>
            <a:ext cx="5238750" cy="552450"/>
          </a:xfrm>
          <a:custGeom>
            <a:avLst/>
            <a:gdLst/>
            <a:ahLst/>
            <a:cxnLst/>
            <a:rect l="l" t="t" r="r" b="b"/>
            <a:pathLst>
              <a:path w="5238750" h="55245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95300"/>
                </a:lnTo>
                <a:cubicBezTo>
                  <a:pt x="5238750" y="526863"/>
                  <a:pt x="5213163" y="552450"/>
                  <a:pt x="5181600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519862" y="4841081"/>
            <a:ext cx="3971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■ 部分可观测环境 + 长程依赖叠加，导致策略不稳定、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519862" y="50601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目标一致性差、无效探索比例高</a:t>
            </a:r>
          </a:p>
        </p:txBody>
      </p:sp>
      <p:sp>
        <p:nvSpPr>
          <p:cNvPr id="55" name="Freeform 55"/>
          <p:cNvSpPr/>
          <p:nvPr/>
        </p:nvSpPr>
        <p:spPr>
          <a:xfrm>
            <a:off x="6381750" y="5410200"/>
            <a:ext cx="5238750" cy="476250"/>
          </a:xfrm>
          <a:custGeom>
            <a:avLst/>
            <a:gdLst/>
            <a:ahLst/>
            <a:cxnLst/>
            <a:rect l="l" t="t" r="r" b="b"/>
            <a:pathLst>
              <a:path w="5238750" h="47625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19100"/>
                </a:lnTo>
                <a:cubicBezTo>
                  <a:pt x="5238750" y="450663"/>
                  <a:pt x="5213163" y="476250"/>
                  <a:pt x="518160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7722">
              <a:alpha val="10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665750" y="54968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本质缺失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634454" y="5677852"/>
            <a:ext cx="27333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感知-记忆-推理-决策缺乏统一认知闭环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522720"/>
            <a:ext cx="35521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来源：Chronos §1 Introduction | 认知建模 §I Introduction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核心问题定义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06616" y="65065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4 / 12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2286000"/>
            <a:ext cx="133350" cy="2286000"/>
          </a:xfrm>
          <a:custGeom>
            <a:avLst/>
            <a:gdLst/>
            <a:ahLst/>
            <a:cxnLst/>
            <a:rect l="l" t="t" r="r" b="b"/>
            <a:pathLst>
              <a:path w="133350" h="2286000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2266950"/>
                </a:lnTo>
                <a:cubicBezTo>
                  <a:pt x="133350" y="2277471"/>
                  <a:pt x="124821" y="2286000"/>
                  <a:pt x="114300" y="2286000"/>
                </a:cubicBezTo>
                <a:lnTo>
                  <a:pt x="19050" y="2286000"/>
                </a:lnTo>
                <a:cubicBezTo>
                  <a:pt x="8529" y="2286000"/>
                  <a:pt x="0" y="2277471"/>
                  <a:pt x="0" y="2266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66750" y="2333625"/>
            <a:ext cx="4366974" cy="457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0" b="1" dirty="0">
                <a:solidFill>
                  <a:srgbClr val="FFFFFF">
                    <a:alpha val="6000"/>
                  </a:srgbClr>
                </a:solidFill>
                <a:latin typeface="微软雅黑"/>
                <a:ea typeface="Microsoft YaHei"/>
                <a:cs typeface="微软雅黑"/>
              </a:rPr>
              <a:t>03</a:t>
            </a:r>
          </a:p>
        </p:txBody>
      </p:sp>
      <p:sp>
        <p:nvSpPr>
          <p:cNvPr id="7" name="Line 7"/>
          <p:cNvSpPr/>
          <p:nvPr/>
        </p:nvSpPr>
        <p:spPr>
          <a:xfrm>
            <a:off x="3619500" y="25527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57150">
            <a:solidFill>
              <a:srgbClr val="E8772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566160" y="2832735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方法脉络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6640" y="3758565"/>
            <a:ext cx="56452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微软雅黑"/>
                <a:ea typeface="Microsoft YaHei"/>
                <a:cs typeface="微软雅黑"/>
              </a:rPr>
              <a:t>Chronos 时序感知框架 × 认知建模统一学习架构</a:t>
            </a:r>
          </a:p>
        </p:txBody>
      </p:sp>
      <p:sp>
        <p:nvSpPr>
          <p:cNvPr id="10" name="Freeform 10"/>
          <p:cNvSpPr/>
          <p:nvPr/>
        </p:nvSpPr>
        <p:spPr>
          <a:xfrm>
            <a:off x="3619500" y="4381500"/>
            <a:ext cx="2000250" cy="323850"/>
          </a:xfrm>
          <a:custGeom>
            <a:avLst/>
            <a:gdLst/>
            <a:ahLst/>
            <a:cxnLst/>
            <a:rect l="l" t="t" r="r" b="b"/>
            <a:pathLst>
              <a:path w="2000250" h="323850">
                <a:moveTo>
                  <a:pt x="38100" y="0"/>
                </a:moveTo>
                <a:lnTo>
                  <a:pt x="1962150" y="0"/>
                </a:lnTo>
                <a:cubicBezTo>
                  <a:pt x="1983192" y="0"/>
                  <a:pt x="2000250" y="17058"/>
                  <a:pt x="2000250" y="38100"/>
                </a:cubicBezTo>
                <a:lnTo>
                  <a:pt x="2000250" y="285750"/>
                </a:lnTo>
                <a:cubicBezTo>
                  <a:pt x="2000250" y="306792"/>
                  <a:pt x="1983192" y="323850"/>
                  <a:pt x="196215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7722">
              <a:alpha val="25000"/>
            </a:srgbClr>
          </a:solidFill>
          <a:ln w="9525">
            <a:solidFill>
              <a:srgbClr val="E87722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26536" y="4461510"/>
            <a:ext cx="21861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文献一：arXiv:2603.16862</a:t>
            </a:r>
          </a:p>
        </p:txBody>
      </p:sp>
      <p:sp>
        <p:nvSpPr>
          <p:cNvPr id="12" name="Freeform 12"/>
          <p:cNvSpPr/>
          <p:nvPr/>
        </p:nvSpPr>
        <p:spPr>
          <a:xfrm>
            <a:off x="5810250" y="4381500"/>
            <a:ext cx="2286000" cy="323850"/>
          </a:xfrm>
          <a:custGeom>
            <a:avLst/>
            <a:gdLst/>
            <a:ahLst/>
            <a:cxnLst/>
            <a:rect l="l" t="t" r="r" b="b"/>
            <a:pathLst>
              <a:path w="2286000" h="3238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285750"/>
                </a:lnTo>
                <a:cubicBezTo>
                  <a:pt x="2286000" y="306792"/>
                  <a:pt x="2268942" y="323850"/>
                  <a:pt x="22479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66CC">
              <a:alpha val="30000"/>
            </a:srgbClr>
          </a:solidFill>
          <a:ln w="9525">
            <a:solidFill>
              <a:srgbClr val="0066C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667375" y="4461510"/>
            <a:ext cx="25717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文献二：preprints202602.1990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86940" y="6426518"/>
            <a:ext cx="16412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35000"/>
                  </a:srgbClr>
                </a:solidFill>
                <a:latin typeface="微软雅黑"/>
                <a:ea typeface="Microsoft YaHei"/>
                <a:cs typeface="微软雅黑"/>
              </a:rPr>
              <a:t>LLM 长期记忆综述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66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29053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03 Chronos 架构解析</a:t>
            </a:r>
          </a:p>
        </p:txBody>
      </p:sp>
      <p:sp>
        <p:nvSpPr>
          <p:cNvPr id="6" name="Freeform 6"/>
          <p:cNvSpPr/>
          <p:nvPr/>
        </p:nvSpPr>
        <p:spPr>
          <a:xfrm>
            <a:off x="10096500" y="171450"/>
            <a:ext cx="1619250" cy="285750"/>
          </a:xfrm>
          <a:custGeom>
            <a:avLst/>
            <a:gdLst/>
            <a:ahLst/>
            <a:cxnLst/>
            <a:rect l="l" t="t" r="r" b="b"/>
            <a:pathLst>
              <a:path w="1619250" h="285750">
                <a:moveTo>
                  <a:pt x="38100" y="0"/>
                </a:moveTo>
                <a:lnTo>
                  <a:pt x="1581150" y="0"/>
                </a:lnTo>
                <a:cubicBezTo>
                  <a:pt x="1602192" y="0"/>
                  <a:pt x="1619250" y="17058"/>
                  <a:pt x="1619250" y="38100"/>
                </a:cubicBezTo>
                <a:lnTo>
                  <a:pt x="1619250" y="247650"/>
                </a:lnTo>
                <a:cubicBezTo>
                  <a:pt x="1619250" y="268692"/>
                  <a:pt x="1602192" y="285750"/>
                  <a:pt x="158115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7722">
              <a:alpha val="2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007310" y="256699"/>
            <a:ext cx="17976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文献一 · arXiv:2603.16862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69558" y="833914"/>
            <a:ext cx="752748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Chronos 以"最小充分抽象"原则，仅结构化时序事件，将对话语义原样保留以支持双模检索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1000" y="1333500"/>
            <a:ext cx="4762500" cy="1066800"/>
          </a:xfrm>
          <a:custGeom>
            <a:avLst/>
            <a:gdLst/>
            <a:ahLst/>
            <a:cxnLst/>
            <a:rect l="l" t="t" r="r" b="b"/>
            <a:pathLst>
              <a:path w="4762500" h="10668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990600"/>
                </a:lnTo>
                <a:cubicBezTo>
                  <a:pt x="4762500" y="1032684"/>
                  <a:pt x="4728384" y="1066800"/>
                  <a:pt x="46863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381000" y="1333500"/>
            <a:ext cx="57150" cy="1066800"/>
          </a:xfrm>
          <a:custGeom>
            <a:avLst/>
            <a:gdLst/>
            <a:ahLst/>
            <a:cxnLst/>
            <a:rect l="l" t="t" r="r" b="b"/>
            <a:pathLst>
              <a:path w="57150" h="1066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38225"/>
                </a:lnTo>
                <a:cubicBezTo>
                  <a:pt x="57150" y="1054007"/>
                  <a:pt x="44357" y="1066800"/>
                  <a:pt x="28575" y="1066800"/>
                </a:cubicBezTo>
                <a:lnTo>
                  <a:pt x="28575" y="1066800"/>
                </a:lnTo>
                <a:cubicBezTo>
                  <a:pt x="12793" y="1066800"/>
                  <a:pt x="0" y="1054007"/>
                  <a:pt x="0" y="1038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596900" y="1538288"/>
            <a:ext cx="177800" cy="200024"/>
            <a:chOff x="596900" y="1538288"/>
            <a:chExt cx="177800" cy="200024"/>
          </a:xfrm>
        </p:grpSpPr>
        <p:sp>
          <p:nvSpPr>
            <p:cNvPr id="13" name="Freeform 13"/>
            <p:cNvSpPr/>
            <p:nvPr/>
          </p:nvSpPr>
          <p:spPr>
            <a:xfrm>
              <a:off x="596900" y="1538288"/>
              <a:ext cx="177800" cy="66675"/>
            </a:xfrm>
            <a:custGeom>
              <a:avLst/>
              <a:gdLst/>
              <a:ahLst/>
              <a:cxnLst/>
              <a:rect l="l" t="t" r="r" b="b"/>
              <a:pathLst>
                <a:path w="177800" h="66675">
                  <a:moveTo>
                    <a:pt x="0" y="33338"/>
                  </a:moveTo>
                  <a:cubicBezTo>
                    <a:pt x="0" y="51749"/>
                    <a:pt x="39802" y="66675"/>
                    <a:pt x="88900" y="66675"/>
                  </a:cubicBezTo>
                  <a:cubicBezTo>
                    <a:pt x="137998" y="66675"/>
                    <a:pt x="177800" y="51749"/>
                    <a:pt x="177800" y="33338"/>
                  </a:cubicBezTo>
                  <a:cubicBezTo>
                    <a:pt x="177800" y="14926"/>
                    <a:pt x="137998" y="0"/>
                    <a:pt x="88900" y="0"/>
                  </a:cubicBezTo>
                  <a:cubicBezTo>
                    <a:pt x="39802" y="0"/>
                    <a:pt x="0" y="14926"/>
                    <a:pt x="0" y="33338"/>
                  </a:cubicBez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96900" y="1571625"/>
              <a:ext cx="177800" cy="100012"/>
            </a:xfrm>
            <a:custGeom>
              <a:avLst/>
              <a:gdLst/>
              <a:ahLst/>
              <a:cxnLst/>
              <a:rect l="l" t="t" r="r" b="b"/>
              <a:pathLst>
                <a:path w="177800" h="100012">
                  <a:moveTo>
                    <a:pt x="0" y="0"/>
                  </a:moveTo>
                  <a:lnTo>
                    <a:pt x="0" y="66675"/>
                  </a:lnTo>
                  <a:cubicBezTo>
                    <a:pt x="0" y="85087"/>
                    <a:pt x="39802" y="100012"/>
                    <a:pt x="88900" y="100012"/>
                  </a:cubicBezTo>
                  <a:cubicBezTo>
                    <a:pt x="137998" y="100012"/>
                    <a:pt x="177800" y="85087"/>
                    <a:pt x="177800" y="66675"/>
                  </a:cubicBezTo>
                  <a:lnTo>
                    <a:pt x="177800" y="0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96900" y="1638300"/>
              <a:ext cx="177800" cy="100012"/>
            </a:xfrm>
            <a:custGeom>
              <a:avLst/>
              <a:gdLst/>
              <a:ahLst/>
              <a:cxnLst/>
              <a:rect l="l" t="t" r="r" b="b"/>
              <a:pathLst>
                <a:path w="177800" h="100012">
                  <a:moveTo>
                    <a:pt x="0" y="0"/>
                  </a:moveTo>
                  <a:lnTo>
                    <a:pt x="0" y="66675"/>
                  </a:lnTo>
                  <a:cubicBezTo>
                    <a:pt x="0" y="85087"/>
                    <a:pt x="39802" y="100012"/>
                    <a:pt x="88900" y="100012"/>
                  </a:cubicBezTo>
                  <a:cubicBezTo>
                    <a:pt x="137998" y="100012"/>
                    <a:pt x="177800" y="85087"/>
                    <a:pt x="177800" y="66675"/>
                  </a:cubicBezTo>
                  <a:lnTo>
                    <a:pt x="177800" y="0"/>
                  </a:lnTo>
                </a:path>
              </a:pathLst>
            </a:custGeom>
            <a:noFill/>
            <a:ln w="9525">
              <a:solidFill>
                <a:srgbClr val="003366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936308" y="1462564"/>
            <a:ext cx="13717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① 事件提取管道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9115" y="1734502"/>
            <a:ext cx="4312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⟨subject, verb, object⟩ + ISO 8601 精确时间范围；多分辨率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9115" y="1925002"/>
            <a:ext cx="34387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时间归一化；生成 2–4 个词汇别名增强检索召回率</a:t>
            </a:r>
          </a:p>
        </p:txBody>
      </p:sp>
      <p:sp>
        <p:nvSpPr>
          <p:cNvPr id="20" name="Freeform 20"/>
          <p:cNvSpPr/>
          <p:nvPr/>
        </p:nvSpPr>
        <p:spPr>
          <a:xfrm>
            <a:off x="552450" y="2171700"/>
            <a:ext cx="1143000" cy="171450"/>
          </a:xfrm>
          <a:custGeom>
            <a:avLst/>
            <a:gdLst/>
            <a:ahLst/>
            <a:cxnLst/>
            <a:rect l="l" t="t" r="r" b="b"/>
            <a:pathLst>
              <a:path w="1143000" h="171450">
                <a:moveTo>
                  <a:pt x="28575" y="0"/>
                </a:moveTo>
                <a:lnTo>
                  <a:pt x="1114425" y="0"/>
                </a:lnTo>
                <a:cubicBezTo>
                  <a:pt x="1130207" y="0"/>
                  <a:pt x="1143000" y="12793"/>
                  <a:pt x="1143000" y="28575"/>
                </a:cubicBezTo>
                <a:lnTo>
                  <a:pt x="1143000" y="142875"/>
                </a:lnTo>
                <a:cubicBezTo>
                  <a:pt x="1143000" y="158657"/>
                  <a:pt x="1130207" y="171450"/>
                  <a:pt x="111442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>
              <a:alpha val="15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43074" y="2198370"/>
            <a:ext cx="15617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事件历法索引 → 时序过滤</a:t>
            </a:r>
          </a:p>
        </p:txBody>
      </p:sp>
      <p:sp>
        <p:nvSpPr>
          <p:cNvPr id="22" name="Freeform 22"/>
          <p:cNvSpPr/>
          <p:nvPr/>
        </p:nvSpPr>
        <p:spPr>
          <a:xfrm>
            <a:off x="381000" y="2524125"/>
            <a:ext cx="4762500" cy="1066800"/>
          </a:xfrm>
          <a:custGeom>
            <a:avLst/>
            <a:gdLst/>
            <a:ahLst/>
            <a:cxnLst/>
            <a:rect l="l" t="t" r="r" b="b"/>
            <a:pathLst>
              <a:path w="4762500" h="10668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990600"/>
                </a:lnTo>
                <a:cubicBezTo>
                  <a:pt x="4762500" y="1032684"/>
                  <a:pt x="4728384" y="1066800"/>
                  <a:pt x="46863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381000" y="2524125"/>
            <a:ext cx="57150" cy="1066800"/>
          </a:xfrm>
          <a:custGeom>
            <a:avLst/>
            <a:gdLst/>
            <a:ahLst/>
            <a:cxnLst/>
            <a:rect l="l" t="t" r="r" b="b"/>
            <a:pathLst>
              <a:path w="57150" h="1066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38225"/>
                </a:lnTo>
                <a:cubicBezTo>
                  <a:pt x="57150" y="1054007"/>
                  <a:pt x="44357" y="1066800"/>
                  <a:pt x="28575" y="1066800"/>
                </a:cubicBezTo>
                <a:lnTo>
                  <a:pt x="28575" y="1066800"/>
                </a:lnTo>
                <a:cubicBezTo>
                  <a:pt x="12793" y="1066800"/>
                  <a:pt x="0" y="1054007"/>
                  <a:pt x="0" y="1038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591344" y="2740025"/>
            <a:ext cx="188912" cy="172244"/>
            <a:chOff x="591344" y="2740025"/>
            <a:chExt cx="188912" cy="172244"/>
          </a:xfrm>
        </p:grpSpPr>
        <p:sp>
          <p:nvSpPr>
            <p:cNvPr id="24" name="Freeform 24"/>
            <p:cNvSpPr/>
            <p:nvPr/>
          </p:nvSpPr>
          <p:spPr>
            <a:xfrm>
              <a:off x="674688" y="2840038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3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3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19125" y="2840038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3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3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30250" y="2840038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3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3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74688" y="2740025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3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3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02469" y="2790031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3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3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46906" y="2790031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2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2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02469" y="2890044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3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3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46906" y="2890044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2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2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91344" y="2890044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2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2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58031" y="2890044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2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2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9525">
              <a:solidFill>
                <a:srgbClr val="0066CC"/>
              </a:solidFill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936308" y="2653189"/>
            <a:ext cx="13717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② 动态提示系统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9115" y="2925128"/>
            <a:ext cx="41978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每个查询独立生成检索指导（preamble）；区分时间过滤型 /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9115" y="3115628"/>
            <a:ext cx="3722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偏好召回型 / 跨会话聚合型；Gemini 3 Flash 轻量推理</a:t>
            </a:r>
          </a:p>
        </p:txBody>
      </p:sp>
      <p:sp>
        <p:nvSpPr>
          <p:cNvPr id="38" name="Freeform 38"/>
          <p:cNvSpPr/>
          <p:nvPr/>
        </p:nvSpPr>
        <p:spPr>
          <a:xfrm>
            <a:off x="552450" y="3362325"/>
            <a:ext cx="1238250" cy="171450"/>
          </a:xfrm>
          <a:custGeom>
            <a:avLst/>
            <a:gdLst/>
            <a:ahLst/>
            <a:cxnLst/>
            <a:rect l="l" t="t" r="r" b="b"/>
            <a:pathLst>
              <a:path w="1238250" h="171450">
                <a:moveTo>
                  <a:pt x="28575" y="0"/>
                </a:moveTo>
                <a:lnTo>
                  <a:pt x="1209675" y="0"/>
                </a:lnTo>
                <a:cubicBezTo>
                  <a:pt x="1225457" y="0"/>
                  <a:pt x="1238250" y="12793"/>
                  <a:pt x="1238250" y="28575"/>
                </a:cubicBezTo>
                <a:lnTo>
                  <a:pt x="1238250" y="142875"/>
                </a:lnTo>
                <a:cubicBezTo>
                  <a:pt x="1238250" y="158657"/>
                  <a:pt x="1225457" y="171450"/>
                  <a:pt x="12096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>
              <a:alpha val="12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45781" y="3388995"/>
            <a:ext cx="18515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扩展 RAG 查询改写到对话记忆</a:t>
            </a:r>
          </a:p>
        </p:txBody>
      </p:sp>
      <p:sp>
        <p:nvSpPr>
          <p:cNvPr id="40" name="Freeform 40"/>
          <p:cNvSpPr/>
          <p:nvPr/>
        </p:nvSpPr>
        <p:spPr>
          <a:xfrm>
            <a:off x="381000" y="3714750"/>
            <a:ext cx="4762500" cy="1066800"/>
          </a:xfrm>
          <a:custGeom>
            <a:avLst/>
            <a:gdLst/>
            <a:ahLst/>
            <a:cxnLst/>
            <a:rect l="l" t="t" r="r" b="b"/>
            <a:pathLst>
              <a:path w="4762500" h="10668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990600"/>
                </a:lnTo>
                <a:cubicBezTo>
                  <a:pt x="4762500" y="1032684"/>
                  <a:pt x="4728384" y="1066800"/>
                  <a:pt x="46863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41" name="Freeform 41"/>
          <p:cNvSpPr/>
          <p:nvPr/>
        </p:nvSpPr>
        <p:spPr>
          <a:xfrm>
            <a:off x="381000" y="3714750"/>
            <a:ext cx="57150" cy="1066800"/>
          </a:xfrm>
          <a:custGeom>
            <a:avLst/>
            <a:gdLst/>
            <a:ahLst/>
            <a:cxnLst/>
            <a:rect l="l" t="t" r="r" b="b"/>
            <a:pathLst>
              <a:path w="57150" h="1066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38225"/>
                </a:lnTo>
                <a:cubicBezTo>
                  <a:pt x="57150" y="1054007"/>
                  <a:pt x="44357" y="1066800"/>
                  <a:pt x="28575" y="1066800"/>
                </a:cubicBezTo>
                <a:lnTo>
                  <a:pt x="28575" y="1066800"/>
                </a:lnTo>
                <a:cubicBezTo>
                  <a:pt x="12793" y="1066800"/>
                  <a:pt x="0" y="1054007"/>
                  <a:pt x="0" y="1038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grpSp>
        <p:nvGrpSpPr>
          <p:cNvPr id="47" name="Group 47"/>
          <p:cNvGrpSpPr/>
          <p:nvPr/>
        </p:nvGrpSpPr>
        <p:grpSpPr>
          <a:xfrm>
            <a:off x="596900" y="3919538"/>
            <a:ext cx="200025" cy="211137"/>
            <a:chOff x="596900" y="3919538"/>
            <a:chExt cx="200025" cy="211137"/>
          </a:xfrm>
        </p:grpSpPr>
        <p:sp>
          <p:nvSpPr>
            <p:cNvPr id="42" name="Freeform 42"/>
            <p:cNvSpPr/>
            <p:nvPr/>
          </p:nvSpPr>
          <p:spPr>
            <a:xfrm>
              <a:off x="596900" y="3919538"/>
              <a:ext cx="177800" cy="66675"/>
            </a:xfrm>
            <a:custGeom>
              <a:avLst/>
              <a:gdLst/>
              <a:ahLst/>
              <a:cxnLst/>
              <a:rect l="l" t="t" r="r" b="b"/>
              <a:pathLst>
                <a:path w="177800" h="66675">
                  <a:moveTo>
                    <a:pt x="0" y="33338"/>
                  </a:moveTo>
                  <a:cubicBezTo>
                    <a:pt x="0" y="51751"/>
                    <a:pt x="39805" y="66675"/>
                    <a:pt x="88900" y="66675"/>
                  </a:cubicBezTo>
                  <a:cubicBezTo>
                    <a:pt x="137995" y="66675"/>
                    <a:pt x="177800" y="51751"/>
                    <a:pt x="177800" y="33338"/>
                  </a:cubicBezTo>
                  <a:cubicBezTo>
                    <a:pt x="177800" y="14924"/>
                    <a:pt x="137995" y="0"/>
                    <a:pt x="88900" y="0"/>
                  </a:cubicBezTo>
                  <a:cubicBezTo>
                    <a:pt x="39805" y="0"/>
                    <a:pt x="0" y="14924"/>
                    <a:pt x="0" y="33338"/>
                  </a:cubicBez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96900" y="3952875"/>
              <a:ext cx="177800" cy="100012"/>
            </a:xfrm>
            <a:custGeom>
              <a:avLst/>
              <a:gdLst/>
              <a:ahLst/>
              <a:cxnLst/>
              <a:rect l="l" t="t" r="r" b="b"/>
              <a:pathLst>
                <a:path w="177800" h="100012">
                  <a:moveTo>
                    <a:pt x="0" y="0"/>
                  </a:moveTo>
                  <a:lnTo>
                    <a:pt x="0" y="66675"/>
                  </a:lnTo>
                  <a:cubicBezTo>
                    <a:pt x="0" y="85088"/>
                    <a:pt x="39805" y="100012"/>
                    <a:pt x="88900" y="100012"/>
                  </a:cubicBezTo>
                  <a:moveTo>
                    <a:pt x="177800" y="61119"/>
                  </a:moveTo>
                  <a:lnTo>
                    <a:pt x="177800" y="0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596900" y="4019550"/>
              <a:ext cx="88900" cy="100012"/>
            </a:xfrm>
            <a:custGeom>
              <a:avLst/>
              <a:gdLst/>
              <a:ahLst/>
              <a:cxnLst/>
              <a:rect l="l" t="t" r="r" b="b"/>
              <a:pathLst>
                <a:path w="88900" h="100012">
                  <a:moveTo>
                    <a:pt x="0" y="0"/>
                  </a:moveTo>
                  <a:lnTo>
                    <a:pt x="0" y="66675"/>
                  </a:lnTo>
                  <a:cubicBezTo>
                    <a:pt x="0" y="85088"/>
                    <a:pt x="39805" y="100012"/>
                    <a:pt x="88900" y="100012"/>
                  </a:cubicBez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19138" y="405288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33338"/>
                  </a:moveTo>
                  <a:cubicBezTo>
                    <a:pt x="0" y="51749"/>
                    <a:pt x="14926" y="66675"/>
                    <a:pt x="33338" y="66675"/>
                  </a:cubicBezTo>
                  <a:cubicBezTo>
                    <a:pt x="51749" y="66675"/>
                    <a:pt x="66675" y="51749"/>
                    <a:pt x="66675" y="33338"/>
                  </a:cubicBezTo>
                  <a:cubicBezTo>
                    <a:pt x="66675" y="14926"/>
                    <a:pt x="51749" y="0"/>
                    <a:pt x="33338" y="0"/>
                  </a:cubicBezTo>
                  <a:cubicBezTo>
                    <a:pt x="14926" y="0"/>
                    <a:pt x="0" y="14926"/>
                    <a:pt x="0" y="33338"/>
                  </a:cubicBez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76922" y="4110672"/>
              <a:ext cx="20003" cy="20003"/>
            </a:xfrm>
            <a:custGeom>
              <a:avLst/>
              <a:gdLst/>
              <a:ahLst/>
              <a:cxnLst/>
              <a:rect l="l" t="t" r="r" b="b"/>
              <a:pathLst>
                <a:path w="20003" h="20003">
                  <a:moveTo>
                    <a:pt x="0" y="0"/>
                  </a:moveTo>
                  <a:lnTo>
                    <a:pt x="20003" y="20003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936308" y="3843814"/>
            <a:ext cx="13717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③ 初始检索阶段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9115" y="4115752"/>
            <a:ext cx="3484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向量检索 Top-100 → Cohere Rerank v3 → Top-15；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9115" y="4306252"/>
            <a:ext cx="35997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每条结果前后各扩展1轮对话上下文，补全语义连贯性</a:t>
            </a:r>
          </a:p>
        </p:txBody>
      </p:sp>
      <p:sp>
        <p:nvSpPr>
          <p:cNvPr id="51" name="Freeform 51"/>
          <p:cNvSpPr/>
          <p:nvPr/>
        </p:nvSpPr>
        <p:spPr>
          <a:xfrm>
            <a:off x="552450" y="4552950"/>
            <a:ext cx="1143000" cy="171450"/>
          </a:xfrm>
          <a:custGeom>
            <a:avLst/>
            <a:gdLst/>
            <a:ahLst/>
            <a:cxnLst/>
            <a:rect l="l" t="t" r="r" b="b"/>
            <a:pathLst>
              <a:path w="1143000" h="171450">
                <a:moveTo>
                  <a:pt x="28575" y="0"/>
                </a:moveTo>
                <a:lnTo>
                  <a:pt x="1114425" y="0"/>
                </a:lnTo>
                <a:cubicBezTo>
                  <a:pt x="1130207" y="0"/>
                  <a:pt x="1143000" y="12793"/>
                  <a:pt x="1143000" y="28575"/>
                </a:cubicBezTo>
                <a:lnTo>
                  <a:pt x="1143000" y="142875"/>
                </a:lnTo>
                <a:cubicBezTo>
                  <a:pt x="1143000" y="158657"/>
                  <a:pt x="1130207" y="171450"/>
                  <a:pt x="111442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>
              <a:alpha val="15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81091" y="4579620"/>
            <a:ext cx="12857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对话历法 → 语义理解</a:t>
            </a:r>
          </a:p>
        </p:txBody>
      </p:sp>
      <p:sp>
        <p:nvSpPr>
          <p:cNvPr id="53" name="Freeform 53"/>
          <p:cNvSpPr/>
          <p:nvPr/>
        </p:nvSpPr>
        <p:spPr>
          <a:xfrm>
            <a:off x="381000" y="4905375"/>
            <a:ext cx="4762500" cy="1066800"/>
          </a:xfrm>
          <a:custGeom>
            <a:avLst/>
            <a:gdLst/>
            <a:ahLst/>
            <a:cxnLst/>
            <a:rect l="l" t="t" r="r" b="b"/>
            <a:pathLst>
              <a:path w="4762500" h="10668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990600"/>
                </a:lnTo>
                <a:cubicBezTo>
                  <a:pt x="4762500" y="1032684"/>
                  <a:pt x="4728384" y="1066800"/>
                  <a:pt x="46863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54" name="Freeform 54"/>
          <p:cNvSpPr/>
          <p:nvPr/>
        </p:nvSpPr>
        <p:spPr>
          <a:xfrm>
            <a:off x="381000" y="4905375"/>
            <a:ext cx="57150" cy="1066800"/>
          </a:xfrm>
          <a:custGeom>
            <a:avLst/>
            <a:gdLst/>
            <a:ahLst/>
            <a:cxnLst/>
            <a:rect l="l" t="t" r="r" b="b"/>
            <a:pathLst>
              <a:path w="57150" h="1066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38225"/>
                </a:lnTo>
                <a:cubicBezTo>
                  <a:pt x="57150" y="1054007"/>
                  <a:pt x="44357" y="1066800"/>
                  <a:pt x="28575" y="1066800"/>
                </a:cubicBezTo>
                <a:lnTo>
                  <a:pt x="28575" y="1066800"/>
                </a:lnTo>
                <a:cubicBezTo>
                  <a:pt x="12793" y="1066800"/>
                  <a:pt x="0" y="1054007"/>
                  <a:pt x="0" y="1038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596900" y="5121275"/>
            <a:ext cx="177800" cy="188913"/>
          </a:xfrm>
          <a:custGeom>
            <a:avLst/>
            <a:gdLst/>
            <a:ahLst/>
            <a:cxnLst/>
            <a:rect l="l" t="t" r="r" b="b"/>
            <a:pathLst>
              <a:path w="177800" h="188913">
                <a:moveTo>
                  <a:pt x="0" y="0"/>
                </a:moveTo>
                <a:lnTo>
                  <a:pt x="177800" y="0"/>
                </a:lnTo>
                <a:lnTo>
                  <a:pt x="177800" y="24136"/>
                </a:lnTo>
                <a:cubicBezTo>
                  <a:pt x="177799" y="30030"/>
                  <a:pt x="175456" y="35682"/>
                  <a:pt x="171288" y="39849"/>
                </a:cubicBezTo>
                <a:lnTo>
                  <a:pt x="122238" y="88900"/>
                </a:lnTo>
                <a:lnTo>
                  <a:pt x="122238" y="166688"/>
                </a:lnTo>
                <a:lnTo>
                  <a:pt x="55563" y="188913"/>
                </a:lnTo>
                <a:lnTo>
                  <a:pt x="55563" y="94456"/>
                </a:lnTo>
                <a:lnTo>
                  <a:pt x="5779" y="39694"/>
                </a:lnTo>
                <a:cubicBezTo>
                  <a:pt x="2061" y="35604"/>
                  <a:pt x="1" y="30275"/>
                  <a:pt x="0" y="24748"/>
                </a:cubicBezTo>
                <a:lnTo>
                  <a:pt x="0" y="0"/>
                </a:lnTo>
              </a:path>
            </a:pathLst>
          </a:custGeom>
          <a:noFill/>
          <a:ln w="9525">
            <a:solidFill>
              <a:srgbClr val="003366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36308" y="5034439"/>
            <a:ext cx="154769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④ Chronos Agent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39115" y="5306378"/>
            <a:ext cx="41058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ReAct 推理循环；vector search + grep 双工具；迭代积累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39115" y="5496878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证据直至置信度满足；支持日期范围约束精确过滤</a:t>
            </a:r>
          </a:p>
        </p:txBody>
      </p:sp>
      <p:sp>
        <p:nvSpPr>
          <p:cNvPr id="59" name="Freeform 59"/>
          <p:cNvSpPr/>
          <p:nvPr/>
        </p:nvSpPr>
        <p:spPr>
          <a:xfrm>
            <a:off x="552450" y="5743575"/>
            <a:ext cx="1238250" cy="171450"/>
          </a:xfrm>
          <a:custGeom>
            <a:avLst/>
            <a:gdLst/>
            <a:ahLst/>
            <a:cxnLst/>
            <a:rect l="l" t="t" r="r" b="b"/>
            <a:pathLst>
              <a:path w="1238250" h="171450">
                <a:moveTo>
                  <a:pt x="28575" y="0"/>
                </a:moveTo>
                <a:lnTo>
                  <a:pt x="1209675" y="0"/>
                </a:lnTo>
                <a:cubicBezTo>
                  <a:pt x="1225457" y="0"/>
                  <a:pt x="1238250" y="12793"/>
                  <a:pt x="1238250" y="28575"/>
                </a:cubicBezTo>
                <a:lnTo>
                  <a:pt x="1238250" y="142875"/>
                </a:lnTo>
                <a:cubicBezTo>
                  <a:pt x="1238250" y="158657"/>
                  <a:pt x="1225457" y="171450"/>
                  <a:pt x="12096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>
              <a:alpha val="12000"/>
            </a:srgbClr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73322" y="5770245"/>
            <a:ext cx="19965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工具调用 → 迭代推理 → 精确回答</a:t>
            </a:r>
          </a:p>
        </p:txBody>
      </p:sp>
      <p:sp>
        <p:nvSpPr>
          <p:cNvPr id="61" name="Freeform 61"/>
          <p:cNvSpPr/>
          <p:nvPr/>
        </p:nvSpPr>
        <p:spPr>
          <a:xfrm>
            <a:off x="5334000" y="1285875"/>
            <a:ext cx="6572250" cy="4857750"/>
          </a:xfrm>
          <a:custGeom>
            <a:avLst/>
            <a:gdLst/>
            <a:ahLst/>
            <a:cxnLst/>
            <a:rect l="l" t="t" r="r" b="b"/>
            <a:pathLst>
              <a:path w="6572250" h="4857750">
                <a:moveTo>
                  <a:pt x="95250" y="0"/>
                </a:moveTo>
                <a:lnTo>
                  <a:pt x="6477000" y="0"/>
                </a:lnTo>
                <a:cubicBezTo>
                  <a:pt x="6529605" y="0"/>
                  <a:pt x="6572250" y="42645"/>
                  <a:pt x="6572250" y="95250"/>
                </a:cubicBezTo>
                <a:lnTo>
                  <a:pt x="6572250" y="4762500"/>
                </a:lnTo>
                <a:cubicBezTo>
                  <a:pt x="6572250" y="4815105"/>
                  <a:pt x="6529605" y="4857750"/>
                  <a:pt x="6477000" y="4857750"/>
                </a:cubicBezTo>
                <a:lnTo>
                  <a:pt x="95250" y="4857750"/>
                </a:lnTo>
                <a:cubicBezTo>
                  <a:pt x="42645" y="4857750"/>
                  <a:pt x="0" y="4815105"/>
                  <a:pt x="0" y="476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pic>
        <p:nvPicPr>
          <p:cNvPr id="62" name="Imag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908" y="1381125"/>
            <a:ext cx="5004435" cy="4667250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6631960" y="6124099"/>
            <a:ext cx="39763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图1：Chronos 系统架构（事件提取 → 双历法索引 → 查询处理）</a:t>
            </a:r>
          </a:p>
        </p:txBody>
      </p:sp>
      <p:sp>
        <p:nvSpPr>
          <p:cNvPr id="64" name="Line 6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69570" y="6522720"/>
            <a:ext cx="33615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来源：Chronos §3 Architecture (Lumer et al., 2026)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493067" y="65227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方法脉络 · Chronos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06616" y="65065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6 / 12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66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286048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03 认知建模框架解析</a:t>
            </a:r>
          </a:p>
        </p:txBody>
      </p:sp>
      <p:sp>
        <p:nvSpPr>
          <p:cNvPr id="6" name="Freeform 6"/>
          <p:cNvSpPr/>
          <p:nvPr/>
        </p:nvSpPr>
        <p:spPr>
          <a:xfrm>
            <a:off x="10096500" y="171450"/>
            <a:ext cx="1790700" cy="285750"/>
          </a:xfrm>
          <a:custGeom>
            <a:avLst/>
            <a:gdLst/>
            <a:ahLst/>
            <a:cxnLst/>
            <a:rect l="l" t="t" r="r" b="b"/>
            <a:pathLst>
              <a:path w="1790700" h="285750">
                <a:moveTo>
                  <a:pt x="38100" y="0"/>
                </a:moveTo>
                <a:lnTo>
                  <a:pt x="1752600" y="0"/>
                </a:lnTo>
                <a:cubicBezTo>
                  <a:pt x="1773642" y="0"/>
                  <a:pt x="1790700" y="17058"/>
                  <a:pt x="1790700" y="38100"/>
                </a:cubicBezTo>
                <a:lnTo>
                  <a:pt x="1790700" y="247650"/>
                </a:lnTo>
                <a:cubicBezTo>
                  <a:pt x="1790700" y="268692"/>
                  <a:pt x="1773642" y="285750"/>
                  <a:pt x="17526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66CC">
              <a:alpha val="3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14395" y="256699"/>
            <a:ext cx="17549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文献二 · preprints202602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69558" y="833914"/>
            <a:ext cx="76671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统一认知闭环将感知、记忆、推理与决策耦合为端到端框架，显式引入历史经验参与策略生成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1000" y="133350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381000" y="133350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55308" y="1462564"/>
            <a:ext cx="98067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① 感知表征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8165" y="171545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h_t = f_enc(o_t)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165" y="1905952"/>
            <a:ext cx="3576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当前观测 → 潜在认知状态，区分短期感知与长期存储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118" y="2161699"/>
            <a:ext cx="2566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→ 避免过度压缩历史，建立稳定推理基础</a:t>
            </a:r>
          </a:p>
        </p:txBody>
      </p:sp>
      <p:sp>
        <p:nvSpPr>
          <p:cNvPr id="17" name="Freeform 17"/>
          <p:cNvSpPr/>
          <p:nvPr/>
        </p:nvSpPr>
        <p:spPr>
          <a:xfrm>
            <a:off x="381000" y="2505075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381000" y="2505075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55308" y="2634139"/>
            <a:ext cx="13717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② 长期记忆管理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8165" y="2887028"/>
            <a:ext cx="26643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M_{t+1} = M_t ∪ g_write(h_t, M_t)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8165" y="3077528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选择性写入机制，实现稳定性与可塑性平衡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9118" y="3333274"/>
            <a:ext cx="1854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→ 避免无关信息污染记忆空间</a:t>
            </a:r>
          </a:p>
        </p:txBody>
      </p:sp>
      <p:sp>
        <p:nvSpPr>
          <p:cNvPr id="23" name="Freeform 23"/>
          <p:cNvSpPr/>
          <p:nvPr/>
        </p:nvSpPr>
        <p:spPr>
          <a:xfrm>
            <a:off x="381000" y="367665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381000" y="367665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55308" y="3805714"/>
            <a:ext cx="13717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③ 记忆检索推理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8165" y="4058602"/>
            <a:ext cx="31397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α_t = softmax(h_t · m_i)；r_t = Σ α_i m_i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8165" y="4249102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注意力机制检索相关记忆，历史经验显式参与决策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9118" y="4504849"/>
            <a:ext cx="22817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→ 连接过去与现在，增强决策一致性</a:t>
            </a:r>
          </a:p>
        </p:txBody>
      </p:sp>
      <p:sp>
        <p:nvSpPr>
          <p:cNvPr id="29" name="Freeform 29"/>
          <p:cNvSpPr/>
          <p:nvPr/>
        </p:nvSpPr>
        <p:spPr>
          <a:xfrm>
            <a:off x="381000" y="4848225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381000" y="4848225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55308" y="4977289"/>
            <a:ext cx="98067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④ 策略生成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8165" y="5230178"/>
            <a:ext cx="3722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z_t = φ(h_t, r_t)；π(a_t|o_t) = softmax(W·z_t)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8165" y="5420678"/>
            <a:ext cx="28100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行为由当前环境 + 长期认知结构共同驱动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9118" y="5676424"/>
            <a:ext cx="19969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→ 面向长期目标的稳定决策偏好</a:t>
            </a:r>
          </a:p>
        </p:txBody>
      </p:sp>
      <p:sp>
        <p:nvSpPr>
          <p:cNvPr id="35" name="Freeform 35"/>
          <p:cNvSpPr/>
          <p:nvPr/>
        </p:nvSpPr>
        <p:spPr>
          <a:xfrm>
            <a:off x="5619750" y="1285875"/>
            <a:ext cx="6191250" cy="2952750"/>
          </a:xfrm>
          <a:custGeom>
            <a:avLst/>
            <a:gdLst/>
            <a:ahLst/>
            <a:cxnLst/>
            <a:rect l="l" t="t" r="r" b="b"/>
            <a:pathLst>
              <a:path w="6191250" h="2952750">
                <a:moveTo>
                  <a:pt x="95250" y="0"/>
                </a:moveTo>
                <a:lnTo>
                  <a:pt x="6096000" y="0"/>
                </a:lnTo>
                <a:cubicBezTo>
                  <a:pt x="6148605" y="0"/>
                  <a:pt x="6191250" y="42645"/>
                  <a:pt x="6191250" y="95250"/>
                </a:cubicBezTo>
                <a:lnTo>
                  <a:pt x="6191250" y="2857500"/>
                </a:lnTo>
                <a:cubicBezTo>
                  <a:pt x="6191250" y="2910105"/>
                  <a:pt x="6148605" y="2952750"/>
                  <a:pt x="6096000" y="2952750"/>
                </a:cubicBezTo>
                <a:lnTo>
                  <a:pt x="95250" y="2952750"/>
                </a:lnTo>
                <a:cubicBezTo>
                  <a:pt x="42645" y="2952750"/>
                  <a:pt x="0" y="2910105"/>
                  <a:pt x="0" y="2857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pic>
        <p:nvPicPr>
          <p:cNvPr id="36" name="Imag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72602"/>
            <a:ext cx="6000750" cy="1979295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7129891" y="4284345"/>
            <a:ext cx="3170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图1：整体认知建模架构（感知→记忆→推理→决策闭环）</a:t>
            </a:r>
          </a:p>
        </p:txBody>
      </p:sp>
      <p:sp>
        <p:nvSpPr>
          <p:cNvPr id="38" name="Freeform 38"/>
          <p:cNvSpPr/>
          <p:nvPr/>
        </p:nvSpPr>
        <p:spPr>
          <a:xfrm>
            <a:off x="5619750" y="4524375"/>
            <a:ext cx="6191250" cy="1571625"/>
          </a:xfrm>
          <a:custGeom>
            <a:avLst/>
            <a:gdLst/>
            <a:ahLst/>
            <a:cxnLst/>
            <a:rect l="l" t="t" r="r" b="b"/>
            <a:pathLst>
              <a:path w="6191250" h="1571625">
                <a:moveTo>
                  <a:pt x="76200" y="0"/>
                </a:moveTo>
                <a:lnTo>
                  <a:pt x="6115050" y="0"/>
                </a:lnTo>
                <a:cubicBezTo>
                  <a:pt x="6157134" y="0"/>
                  <a:pt x="6191250" y="34116"/>
                  <a:pt x="6191250" y="76200"/>
                </a:cubicBezTo>
                <a:lnTo>
                  <a:pt x="6191250" y="1495425"/>
                </a:lnTo>
                <a:cubicBezTo>
                  <a:pt x="6191250" y="1537509"/>
                  <a:pt x="6157134" y="1571625"/>
                  <a:pt x="6115050" y="1571625"/>
                </a:cubicBezTo>
                <a:lnTo>
                  <a:pt x="76200" y="1571625"/>
                </a:lnTo>
                <a:cubicBezTo>
                  <a:pt x="34116" y="1571625"/>
                  <a:pt x="0" y="1537509"/>
                  <a:pt x="0" y="1495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872031" y="4632960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两框架核心设计对比</a:t>
            </a:r>
          </a:p>
        </p:txBody>
      </p:sp>
      <p:sp>
        <p:nvSpPr>
          <p:cNvPr id="40" name="Freeform 40"/>
          <p:cNvSpPr/>
          <p:nvPr/>
        </p:nvSpPr>
        <p:spPr>
          <a:xfrm>
            <a:off x="5619750" y="4857750"/>
            <a:ext cx="6191250" cy="266700"/>
          </a:xfrm>
          <a:custGeom>
            <a:avLst/>
            <a:gdLst/>
            <a:ahLst/>
            <a:cxnLst/>
            <a:rect l="l" t="t" r="r" b="b"/>
            <a:pathLst>
              <a:path w="6191250" h="266700">
                <a:moveTo>
                  <a:pt x="38100" y="0"/>
                </a:moveTo>
                <a:lnTo>
                  <a:pt x="6153150" y="0"/>
                </a:lnTo>
                <a:cubicBezTo>
                  <a:pt x="6174192" y="0"/>
                  <a:pt x="6191250" y="17058"/>
                  <a:pt x="6191250" y="38100"/>
                </a:cubicBezTo>
                <a:lnTo>
                  <a:pt x="6191250" y="228600"/>
                </a:lnTo>
                <a:cubicBezTo>
                  <a:pt x="6191250" y="249642"/>
                  <a:pt x="6174192" y="266700"/>
                  <a:pt x="61531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505599" y="49334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维度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605544" y="4933474"/>
            <a:ext cx="600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Chronos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254561" y="493347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认知建模框架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619750" y="5124450"/>
            <a:ext cx="619125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370320" y="51906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记忆类型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241893" y="519064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事件历法 + 对话历法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980444" y="519064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抽象记忆向量集合 M_t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619750" y="5372100"/>
            <a:ext cx="6191250" cy="2476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370320" y="54382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检索方式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77493" y="5438299"/>
            <a:ext cx="1256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向量 + grep 双模态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204722" y="54382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注意力权重计算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19750" y="5619750"/>
            <a:ext cx="619125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370320" y="56859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应用场景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66171" y="56859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长期对话问答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275921" y="56859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长程顺序决策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619750" y="5867400"/>
            <a:ext cx="619125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70320" y="59240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共同结论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260137" y="5924074"/>
            <a:ext cx="29104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结构化记忆 + 推理深度耦合 → 性能突破关键</a:t>
            </a:r>
          </a:p>
        </p:txBody>
      </p:sp>
      <p:sp>
        <p:nvSpPr>
          <p:cNvPr id="59" name="Line 59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369570" y="6522720"/>
            <a:ext cx="2717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来源：认知建模框架 §III (Yang et al., 2026)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483209" y="6522720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方法脉络 · 认知建模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406616" y="65065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7 / 12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905500" y="0"/>
            <a:ext cx="6286500" cy="6858000"/>
          </a:xfrm>
          <a:custGeom>
            <a:avLst/>
            <a:gdLst/>
            <a:ahLst/>
            <a:cxnLst/>
            <a:rect l="l" t="t" r="r" b="b"/>
            <a:pathLst>
              <a:path w="6286500" h="6858000">
                <a:moveTo>
                  <a:pt x="1905000" y="0"/>
                </a:moveTo>
                <a:lnTo>
                  <a:pt x="6286500" y="0"/>
                </a:lnTo>
                <a:lnTo>
                  <a:pt x="6286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2286000"/>
            <a:ext cx="133350" cy="2286000"/>
          </a:xfrm>
          <a:custGeom>
            <a:avLst/>
            <a:gdLst/>
            <a:ahLst/>
            <a:cxnLst/>
            <a:rect l="l" t="t" r="r" b="b"/>
            <a:pathLst>
              <a:path w="133350" h="2286000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2266950"/>
                </a:lnTo>
                <a:cubicBezTo>
                  <a:pt x="133350" y="2277471"/>
                  <a:pt x="124821" y="2286000"/>
                  <a:pt x="114300" y="2286000"/>
                </a:cubicBezTo>
                <a:lnTo>
                  <a:pt x="19050" y="2286000"/>
                </a:lnTo>
                <a:cubicBezTo>
                  <a:pt x="8529" y="2286000"/>
                  <a:pt x="0" y="2277471"/>
                  <a:pt x="0" y="2266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66750" y="2333625"/>
            <a:ext cx="4366974" cy="457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0" b="1" dirty="0">
                <a:solidFill>
                  <a:srgbClr val="FFFFFF">
                    <a:alpha val="6000"/>
                  </a:srgbClr>
                </a:solidFill>
                <a:latin typeface="微软雅黑"/>
                <a:ea typeface="Microsoft YaHei"/>
                <a:cs typeface="微软雅黑"/>
              </a:rPr>
              <a:t>04</a:t>
            </a:r>
          </a:p>
        </p:txBody>
      </p:sp>
      <p:sp>
        <p:nvSpPr>
          <p:cNvPr id="7" name="Line 7"/>
          <p:cNvSpPr/>
          <p:nvPr/>
        </p:nvSpPr>
        <p:spPr>
          <a:xfrm>
            <a:off x="3619500" y="25527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57150">
            <a:solidFill>
              <a:srgbClr val="E8772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566160" y="2832735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核心实验结果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6640" y="3758565"/>
            <a:ext cx="60659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微软雅黑"/>
                <a:ea typeface="Microsoft YaHei"/>
                <a:cs typeface="微软雅黑"/>
              </a:rPr>
              <a:t>LongMemEvalS 基准（500题）× WebShop 交互评测</a:t>
            </a:r>
          </a:p>
        </p:txBody>
      </p:sp>
      <p:sp>
        <p:nvSpPr>
          <p:cNvPr id="10" name="Freeform 10"/>
          <p:cNvSpPr/>
          <p:nvPr/>
        </p:nvSpPr>
        <p:spPr>
          <a:xfrm>
            <a:off x="3619500" y="4343400"/>
            <a:ext cx="1428750" cy="514350"/>
          </a:xfrm>
          <a:custGeom>
            <a:avLst/>
            <a:gdLst/>
            <a:ahLst/>
            <a:cxnLst/>
            <a:rect l="l" t="t" r="r" b="b"/>
            <a:pathLst>
              <a:path w="1428750" h="514350">
                <a:moveTo>
                  <a:pt x="76200" y="0"/>
                </a:moveTo>
                <a:lnTo>
                  <a:pt x="1352550" y="0"/>
                </a:lnTo>
                <a:cubicBezTo>
                  <a:pt x="1394634" y="0"/>
                  <a:pt x="1428750" y="34116"/>
                  <a:pt x="1428750" y="76200"/>
                </a:cubicBezTo>
                <a:lnTo>
                  <a:pt x="1428750" y="438150"/>
                </a:lnTo>
                <a:cubicBezTo>
                  <a:pt x="1428750" y="480234"/>
                  <a:pt x="1394634" y="514350"/>
                  <a:pt x="135255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7722">
              <a:alpha val="20000"/>
            </a:srgbClr>
          </a:solidFill>
          <a:ln w="9525">
            <a:solidFill>
              <a:srgbClr val="E87722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35979" y="4319588"/>
            <a:ext cx="119579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95.60%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55137" y="4647724"/>
            <a:ext cx="9574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4FC"/>
                </a:solidFill>
                <a:latin typeface="微软雅黑"/>
                <a:ea typeface="Microsoft YaHei"/>
                <a:cs typeface="微软雅黑"/>
              </a:rPr>
              <a:t>Chronos SOTA</a:t>
            </a:r>
          </a:p>
        </p:txBody>
      </p:sp>
      <p:sp>
        <p:nvSpPr>
          <p:cNvPr id="13" name="Freeform 13"/>
          <p:cNvSpPr/>
          <p:nvPr/>
        </p:nvSpPr>
        <p:spPr>
          <a:xfrm>
            <a:off x="5286375" y="4343400"/>
            <a:ext cx="1428750" cy="514350"/>
          </a:xfrm>
          <a:custGeom>
            <a:avLst/>
            <a:gdLst/>
            <a:ahLst/>
            <a:cxnLst/>
            <a:rect l="l" t="t" r="r" b="b"/>
            <a:pathLst>
              <a:path w="1428750" h="514350">
                <a:moveTo>
                  <a:pt x="76200" y="0"/>
                </a:moveTo>
                <a:lnTo>
                  <a:pt x="1352550" y="0"/>
                </a:lnTo>
                <a:cubicBezTo>
                  <a:pt x="1394634" y="0"/>
                  <a:pt x="1428750" y="34116"/>
                  <a:pt x="1428750" y="76200"/>
                </a:cubicBezTo>
                <a:lnTo>
                  <a:pt x="1428750" y="438150"/>
                </a:lnTo>
                <a:cubicBezTo>
                  <a:pt x="1428750" y="480234"/>
                  <a:pt x="1394634" y="514350"/>
                  <a:pt x="135255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66CC">
              <a:alpha val="20000"/>
            </a:srgbClr>
          </a:solidFill>
          <a:ln w="9525">
            <a:solidFill>
              <a:srgbClr val="0066C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497741" y="4319588"/>
            <a:ext cx="10060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93.2%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03891" y="4647724"/>
            <a:ext cx="7937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8F4FC"/>
                </a:solidFill>
                <a:latin typeface="微软雅黑"/>
                <a:ea typeface="Microsoft YaHei"/>
                <a:cs typeface="微软雅黑"/>
              </a:rPr>
              <a:t>认知框架 SR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86940" y="6426518"/>
            <a:ext cx="16412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35000"/>
                  </a:srgbClr>
                </a:solidFill>
                <a:latin typeface="微软雅黑"/>
                <a:ea typeface="Microsoft YaHei"/>
                <a:cs typeface="微软雅黑"/>
              </a:rPr>
              <a:t>LLM 长期记忆综述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66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226240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04 实验结果对比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57617" y="316706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LLM 长期记忆综述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9558" y="833914"/>
            <a:ext cx="580501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两框架均在各自评测基准上取得最优：结构化记忆是共同关键驱动因素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3855" y="1187768"/>
            <a:ext cx="41955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文献一：LongMemEvalS (500题) 准确率对比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409700"/>
            <a:ext cx="38100" cy="19050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381000" y="1657350"/>
            <a:ext cx="5715000" cy="285750"/>
          </a:xfrm>
          <a:custGeom>
            <a:avLst/>
            <a:gdLst/>
            <a:ahLst/>
            <a:cxnLst/>
            <a:rect l="l" t="t" r="r" b="b"/>
            <a:pathLst>
              <a:path w="5715000" h="285750">
                <a:moveTo>
                  <a:pt x="38100" y="0"/>
                </a:moveTo>
                <a:lnTo>
                  <a:pt x="5676900" y="0"/>
                </a:lnTo>
                <a:cubicBezTo>
                  <a:pt x="5697942" y="0"/>
                  <a:pt x="5715000" y="17058"/>
                  <a:pt x="5715000" y="38100"/>
                </a:cubicBezTo>
                <a:lnTo>
                  <a:pt x="5715000" y="247650"/>
                </a:lnTo>
                <a:cubicBezTo>
                  <a:pt x="5715000" y="268692"/>
                  <a:pt x="5697942" y="285750"/>
                  <a:pt x="5676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600224" y="17425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42821" y="17425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总体准确率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77382" y="174259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KU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86305" y="1742599"/>
            <a:ext cx="219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MS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25132" y="174259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TR</a:t>
            </a:r>
          </a:p>
        </p:txBody>
      </p:sp>
      <p:sp>
        <p:nvSpPr>
          <p:cNvPr id="18" name="Freeform 18"/>
          <p:cNvSpPr/>
          <p:nvPr/>
        </p:nvSpPr>
        <p:spPr>
          <a:xfrm>
            <a:off x="381000" y="1943100"/>
            <a:ext cx="5715000" cy="285750"/>
          </a:xfrm>
          <a:custGeom>
            <a:avLst/>
            <a:gdLst/>
            <a:ahLst/>
            <a:cxnLst/>
            <a:rect l="l" t="t" r="r" b="b"/>
            <a:pathLst>
              <a:path w="5715000" h="285750">
                <a:moveTo>
                  <a:pt x="19050" y="0"/>
                </a:moveTo>
                <a:lnTo>
                  <a:pt x="5695950" y="0"/>
                </a:lnTo>
                <a:cubicBezTo>
                  <a:pt x="5706471" y="0"/>
                  <a:pt x="5715000" y="8529"/>
                  <a:pt x="5715000" y="19050"/>
                </a:cubicBezTo>
                <a:lnTo>
                  <a:pt x="5715000" y="266700"/>
                </a:lnTo>
                <a:cubicBezTo>
                  <a:pt x="5715000" y="277221"/>
                  <a:pt x="5706471" y="285750"/>
                  <a:pt x="5695950" y="285750"/>
                </a:cubicBezTo>
                <a:lnTo>
                  <a:pt x="19050" y="285750"/>
                </a:lnTo>
                <a:cubicBezTo>
                  <a:pt x="8529" y="285750"/>
                  <a:pt x="0" y="277221"/>
                  <a:pt x="0" y="266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7722">
              <a:alpha val="12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381000" y="1943100"/>
            <a:ext cx="38100" cy="285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51740" y="2020252"/>
            <a:ext cx="1620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Chronos High (Ours)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10122" y="2004060"/>
            <a:ext cx="637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95.60%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09146" y="20202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100%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71680" y="20202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88.7%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95555" y="20202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95.5%</a:t>
            </a:r>
          </a:p>
        </p:txBody>
      </p:sp>
      <p:sp>
        <p:nvSpPr>
          <p:cNvPr id="25" name="Freeform 25"/>
          <p:cNvSpPr/>
          <p:nvPr/>
        </p:nvSpPr>
        <p:spPr>
          <a:xfrm>
            <a:off x="381000" y="2228850"/>
            <a:ext cx="5715000" cy="285750"/>
          </a:xfrm>
          <a:custGeom>
            <a:avLst/>
            <a:gdLst/>
            <a:ahLst/>
            <a:cxnLst/>
            <a:rect l="l" t="t" r="r" b="b"/>
            <a:pathLst>
              <a:path w="5715000" h="285750">
                <a:moveTo>
                  <a:pt x="19050" y="0"/>
                </a:moveTo>
                <a:lnTo>
                  <a:pt x="5695950" y="0"/>
                </a:lnTo>
                <a:cubicBezTo>
                  <a:pt x="5706471" y="0"/>
                  <a:pt x="5715000" y="8529"/>
                  <a:pt x="5715000" y="19050"/>
                </a:cubicBezTo>
                <a:lnTo>
                  <a:pt x="5715000" y="266700"/>
                </a:lnTo>
                <a:cubicBezTo>
                  <a:pt x="5715000" y="277221"/>
                  <a:pt x="5706471" y="285750"/>
                  <a:pt x="5695950" y="285750"/>
                </a:cubicBezTo>
                <a:lnTo>
                  <a:pt x="19050" y="285750"/>
                </a:lnTo>
                <a:cubicBezTo>
                  <a:pt x="8529" y="285750"/>
                  <a:pt x="0" y="277221"/>
                  <a:pt x="0" y="266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66CC">
              <a:alpha val="8000"/>
            </a:srgbClr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381000" y="2228850"/>
            <a:ext cx="38100" cy="285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59791" y="2306002"/>
            <a:ext cx="16046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Chronos Low (Ours)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10122" y="2289810"/>
            <a:ext cx="637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92.60%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47805" y="23060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96.2%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90849" y="23060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91.7%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95555" y="23060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94.3%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81000" y="2514600"/>
            <a:ext cx="57150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514785" y="258079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Honcho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81660" y="258079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90.00%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63819" y="25807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94.9%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87694" y="25807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85.0%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411569" y="25807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88.7%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2762250"/>
            <a:ext cx="5715000" cy="2476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38070" y="2828449"/>
            <a:ext cx="1648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EmergenceMem Internal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81660" y="282844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86.00%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63819" y="28284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83.3%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05494" y="28284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81.2%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411569" y="28284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85.7%</a:t>
            </a:r>
          </a:p>
        </p:txBody>
      </p:sp>
      <p:sp>
        <p:nvSpPr>
          <p:cNvPr id="44" name="Rectangle 44"/>
          <p:cNvSpPr/>
          <p:nvPr/>
        </p:nvSpPr>
        <p:spPr>
          <a:xfrm>
            <a:off x="381000" y="3009900"/>
            <a:ext cx="57150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500545" y="3076099"/>
            <a:ext cx="5231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Mastra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181660" y="307609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84.80%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63819" y="30760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85.9%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887694" y="30760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79.7%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411569" y="30760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85.7%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81000" y="3257550"/>
            <a:ext cx="5715000" cy="2476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632264" y="332374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Zep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199459" y="332374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71.20%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363819" y="33237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83.3%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887694" y="33237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57.9%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11569" y="33237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62.4%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69570" y="3598545"/>
            <a:ext cx="52083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KU=知识更新追踪 MS=跨会话聚合 TR=时序推理 （+7.67% vs EmergenceMem Internal）</a:t>
            </a:r>
          </a:p>
        </p:txBody>
      </p:sp>
      <p:sp>
        <p:nvSpPr>
          <p:cNvPr id="57" name="Freeform 57"/>
          <p:cNvSpPr/>
          <p:nvPr/>
        </p:nvSpPr>
        <p:spPr>
          <a:xfrm>
            <a:off x="381000" y="3857625"/>
            <a:ext cx="5715000" cy="2190750"/>
          </a:xfrm>
          <a:custGeom>
            <a:avLst/>
            <a:gdLst/>
            <a:ahLst/>
            <a:cxnLst/>
            <a:rect l="l" t="t" r="r" b="b"/>
            <a:pathLst>
              <a:path w="5715000" h="2190750">
                <a:moveTo>
                  <a:pt x="76200" y="0"/>
                </a:moveTo>
                <a:lnTo>
                  <a:pt x="5638800" y="0"/>
                </a:lnTo>
                <a:cubicBezTo>
                  <a:pt x="5680884" y="0"/>
                  <a:pt x="5715000" y="34116"/>
                  <a:pt x="5715000" y="76200"/>
                </a:cubicBezTo>
                <a:lnTo>
                  <a:pt x="5715000" y="2114550"/>
                </a:lnTo>
                <a:cubicBezTo>
                  <a:pt x="5715000" y="2156634"/>
                  <a:pt x="5680884" y="2190750"/>
                  <a:pt x="563880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pic>
        <p:nvPicPr>
          <p:cNvPr id="58" name="Imag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352" y="3952875"/>
            <a:ext cx="3884295" cy="2000250"/>
          </a:xfrm>
          <a:prstGeom prst="rect">
            <a:avLst/>
          </a:prstGeom>
        </p:spPr>
      </p:pic>
      <p:sp>
        <p:nvSpPr>
          <p:cNvPr id="59" name="TextBox 59"/>
          <p:cNvSpPr txBox="1"/>
          <p:nvPr/>
        </p:nvSpPr>
        <p:spPr>
          <a:xfrm>
            <a:off x="6269355" y="1187768"/>
            <a:ext cx="30051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文献二：WebShop 评测结果对比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286500" y="1409700"/>
            <a:ext cx="38100" cy="190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61" name="Freeform 61"/>
          <p:cNvSpPr/>
          <p:nvPr/>
        </p:nvSpPr>
        <p:spPr>
          <a:xfrm>
            <a:off x="6286500" y="1657350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38100" y="0"/>
                </a:moveTo>
                <a:lnTo>
                  <a:pt x="5486400" y="0"/>
                </a:lnTo>
                <a:cubicBezTo>
                  <a:pt x="5507442" y="0"/>
                  <a:pt x="5524500" y="17058"/>
                  <a:pt x="5524500" y="38100"/>
                </a:cubicBezTo>
                <a:lnTo>
                  <a:pt x="5524500" y="247650"/>
                </a:lnTo>
                <a:cubicBezTo>
                  <a:pt x="5524500" y="268692"/>
                  <a:pt x="5507442" y="285750"/>
                  <a:pt x="54864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7648599" y="17425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方法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008265" y="1742599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SR%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714059" y="1742599"/>
            <a:ext cx="7648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Avg.Steps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952445" y="1742599"/>
            <a:ext cx="3836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MRU%</a:t>
            </a:r>
          </a:p>
        </p:txBody>
      </p:sp>
      <p:sp>
        <p:nvSpPr>
          <p:cNvPr id="66" name="Freeform 66"/>
          <p:cNvSpPr/>
          <p:nvPr/>
        </p:nvSpPr>
        <p:spPr>
          <a:xfrm>
            <a:off x="6286500" y="1943100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19050" y="0"/>
                </a:moveTo>
                <a:lnTo>
                  <a:pt x="5505450" y="0"/>
                </a:lnTo>
                <a:cubicBezTo>
                  <a:pt x="5515971" y="0"/>
                  <a:pt x="5524500" y="8529"/>
                  <a:pt x="5524500" y="19050"/>
                </a:cubicBezTo>
                <a:lnTo>
                  <a:pt x="5524500" y="266700"/>
                </a:lnTo>
                <a:cubicBezTo>
                  <a:pt x="5524500" y="277221"/>
                  <a:pt x="5515971" y="285750"/>
                  <a:pt x="5505450" y="285750"/>
                </a:cubicBezTo>
                <a:lnTo>
                  <a:pt x="19050" y="285750"/>
                </a:lnTo>
                <a:cubicBezTo>
                  <a:pt x="8529" y="285750"/>
                  <a:pt x="0" y="277221"/>
                  <a:pt x="0" y="266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7722">
              <a:alpha val="12000"/>
            </a:srgbClr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6286500" y="1943100"/>
            <a:ext cx="38100" cy="285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7120880" y="2020252"/>
            <a:ext cx="13792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Ours（认知建模）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926335" y="2004060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93.2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910643" y="202025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101.8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981396" y="202025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80.1</a:t>
            </a:r>
          </a:p>
        </p:txBody>
      </p:sp>
      <p:sp>
        <p:nvSpPr>
          <p:cNvPr id="72" name="Rectangle 72"/>
          <p:cNvSpPr/>
          <p:nvPr/>
        </p:nvSpPr>
        <p:spPr>
          <a:xfrm>
            <a:off x="6286500" y="22288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7424321" y="22950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Pathfinder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974979" y="22950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90.6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906119" y="22950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109.7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975229" y="22950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77.3</a:t>
            </a:r>
          </a:p>
        </p:txBody>
      </p:sp>
      <p:sp>
        <p:nvSpPr>
          <p:cNvPr id="77" name="Rectangle 77"/>
          <p:cNvSpPr/>
          <p:nvPr/>
        </p:nvSpPr>
        <p:spPr>
          <a:xfrm>
            <a:off x="6286500" y="2476500"/>
            <a:ext cx="5524500" cy="2476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7367361" y="2542699"/>
            <a:ext cx="8862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G-safeguard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974979" y="25426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89.4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923919" y="2542699"/>
            <a:ext cx="3451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113.2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975229" y="25426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76.0</a:t>
            </a:r>
          </a:p>
        </p:txBody>
      </p:sp>
      <p:sp>
        <p:nvSpPr>
          <p:cNvPr id="82" name="Rectangle 82"/>
          <p:cNvSpPr/>
          <p:nvPr/>
        </p:nvSpPr>
        <p:spPr>
          <a:xfrm>
            <a:off x="6286500" y="2724150"/>
            <a:ext cx="55245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7620119" y="27903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Robin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992779" y="2790349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88.1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923919" y="2790349"/>
            <a:ext cx="3451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117.9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975229" y="27903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74.6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286500" y="2971800"/>
            <a:ext cx="5524500" cy="2476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7431441" y="3037999"/>
            <a:ext cx="758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Masrouter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974979" y="30379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86.9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923919" y="3037999"/>
            <a:ext cx="3451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121.4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975229" y="30379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73.2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275070" y="3312795"/>
            <a:ext cx="41173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SR=任务成功率 Avg.Steps=平均步骤数（越小越优） MRU=记忆利用率</a:t>
            </a:r>
          </a:p>
        </p:txBody>
      </p:sp>
      <p:sp>
        <p:nvSpPr>
          <p:cNvPr id="93" name="Freeform 93"/>
          <p:cNvSpPr/>
          <p:nvPr/>
        </p:nvSpPr>
        <p:spPr>
          <a:xfrm>
            <a:off x="6286500" y="3600450"/>
            <a:ext cx="2571750" cy="762000"/>
          </a:xfrm>
          <a:custGeom>
            <a:avLst/>
            <a:gdLst/>
            <a:ahLst/>
            <a:cxnLst/>
            <a:rect l="l" t="t" r="r" b="b"/>
            <a:pathLst>
              <a:path w="2571750" h="762000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685800"/>
                </a:lnTo>
                <a:cubicBezTo>
                  <a:pt x="2571750" y="727884"/>
                  <a:pt x="2537634" y="762000"/>
                  <a:pt x="24955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>
              <a:alpha val="6000"/>
            </a:srgbClr>
          </a:solidFill>
          <a:ln w="9525">
            <a:solidFill>
              <a:srgbClr val="003366"/>
            </a:solidFill>
          </a:ln>
        </p:spPr>
      </p:sp>
      <p:sp>
        <p:nvSpPr>
          <p:cNvPr id="94" name="TextBox 94"/>
          <p:cNvSpPr txBox="1"/>
          <p:nvPr/>
        </p:nvSpPr>
        <p:spPr>
          <a:xfrm>
            <a:off x="6499122" y="3752374"/>
            <a:ext cx="21465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Chronos Low vs EmergenceMem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014339" y="3888105"/>
            <a:ext cx="111607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+7.67%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969442" y="41890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总体准确率相对提升</a:t>
            </a:r>
          </a:p>
        </p:txBody>
      </p:sp>
      <p:sp>
        <p:nvSpPr>
          <p:cNvPr id="97" name="Freeform 97"/>
          <p:cNvSpPr/>
          <p:nvPr/>
        </p:nvSpPr>
        <p:spPr>
          <a:xfrm>
            <a:off x="9144000" y="3600450"/>
            <a:ext cx="2667000" cy="762000"/>
          </a:xfrm>
          <a:custGeom>
            <a:avLst/>
            <a:gdLst/>
            <a:ahLst/>
            <a:cxnLst/>
            <a:rect l="l" t="t" r="r" b="b"/>
            <a:pathLst>
              <a:path w="2667000" h="762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685800"/>
                </a:lnTo>
                <a:cubicBezTo>
                  <a:pt x="2667000" y="727884"/>
                  <a:pt x="2632884" y="762000"/>
                  <a:pt x="2590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66CC">
              <a:alpha val="6000"/>
            </a:srgbClr>
          </a:solidFill>
          <a:ln w="9525">
            <a:solidFill>
              <a:srgbClr val="0066CC"/>
            </a:solidFill>
          </a:ln>
        </p:spPr>
      </p:sp>
      <p:sp>
        <p:nvSpPr>
          <p:cNvPr id="98" name="TextBox 98"/>
          <p:cNvSpPr txBox="1"/>
          <p:nvPr/>
        </p:nvSpPr>
        <p:spPr>
          <a:xfrm>
            <a:off x="9685484" y="3752374"/>
            <a:ext cx="15840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认知建模 vs Pathfinder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9935566" y="3888105"/>
            <a:ext cx="108386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−7.9步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9611678" y="418909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平均决策步骤减少（更高效）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6286500" y="4524375"/>
            <a:ext cx="5524500" cy="1543050"/>
          </a:xfrm>
          <a:custGeom>
            <a:avLst/>
            <a:gdLst/>
            <a:ahLst/>
            <a:cxnLst/>
            <a:rect l="l" t="t" r="r" b="b"/>
            <a:pathLst>
              <a:path w="5524500" h="154305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1466850"/>
                </a:lnTo>
                <a:cubicBezTo>
                  <a:pt x="5524500" y="1508934"/>
                  <a:pt x="5490384" y="1543050"/>
                  <a:pt x="5448300" y="1543050"/>
                </a:cubicBezTo>
                <a:lnTo>
                  <a:pt x="76200" y="1543050"/>
                </a:lnTo>
                <a:cubicBezTo>
                  <a:pt x="34116" y="1543050"/>
                  <a:pt x="0" y="1508934"/>
                  <a:pt x="0" y="1466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2" name="TextBox 102"/>
          <p:cNvSpPr txBox="1"/>
          <p:nvPr/>
        </p:nvSpPr>
        <p:spPr>
          <a:xfrm>
            <a:off x="8665464" y="46520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综合洞察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6477000" y="4876800"/>
            <a:ext cx="5143500" cy="9525"/>
          </a:xfrm>
          <a:prstGeom prst="rect">
            <a:avLst/>
          </a:prstGeom>
          <a:solidFill>
            <a:srgbClr val="D0D7E0"/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6462712" y="4964906"/>
            <a:ext cx="40376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■ Chronos High（Opus 4.6）在知识更新/偏好/单会话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462712" y="5174456"/>
            <a:ext cx="30271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所有类别均取得 100%，展示顶级模型潜力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462712" y="5384006"/>
            <a:ext cx="3897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■ 认知框架记忆利用率提升（+9.7% vs Pathfinder）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462712" y="5593556"/>
            <a:ext cx="3479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证明性能增益来自有效记忆利用，而非策略偏置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463665" y="5830252"/>
            <a:ext cx="4028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→ 两框架共同验证：结构化记忆是突破性能天花板的核心</a:t>
            </a:r>
          </a:p>
        </p:txBody>
      </p:sp>
      <p:sp>
        <p:nvSpPr>
          <p:cNvPr id="109" name="Line 109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10" name="TextBox 110"/>
          <p:cNvSpPr txBox="1"/>
          <p:nvPr/>
        </p:nvSpPr>
        <p:spPr>
          <a:xfrm>
            <a:off x="369570" y="6522720"/>
            <a:ext cx="33418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来源：Chronos §4 (Table 1, 2) | 认知建模 §IV (Table 1)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核心实验结果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406616" y="65065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9 / 12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66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315951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05 消融分析与深度讨论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57617" y="316706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LLM 长期记忆综述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9558" y="833914"/>
            <a:ext cx="69316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事件历法是 Chronos 最核心组件（移除后降 34.5pp）；记忆容量存在性能最优区间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4808" y="1195864"/>
            <a:ext cx="38353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Chronos 消融研究（Low 配置，116题样本）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7665" y="15059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移除事件历法索引</a:t>
            </a:r>
          </a:p>
        </p:txBody>
      </p:sp>
      <p:sp>
        <p:nvSpPr>
          <p:cNvPr id="12" name="Freeform 12"/>
          <p:cNvSpPr/>
          <p:nvPr/>
        </p:nvSpPr>
        <p:spPr>
          <a:xfrm>
            <a:off x="381000" y="1695450"/>
            <a:ext cx="4667250" cy="209550"/>
          </a:xfrm>
          <a:custGeom>
            <a:avLst/>
            <a:gdLst/>
            <a:ahLst/>
            <a:cxnLst/>
            <a:rect l="l" t="t" r="r" b="b"/>
            <a:pathLst>
              <a:path w="4667250" h="209550">
                <a:moveTo>
                  <a:pt x="28575" y="0"/>
                </a:moveTo>
                <a:lnTo>
                  <a:pt x="4638675" y="0"/>
                </a:lnTo>
                <a:cubicBezTo>
                  <a:pt x="4654457" y="0"/>
                  <a:pt x="4667250" y="12793"/>
                  <a:pt x="4667250" y="28575"/>
                </a:cubicBezTo>
                <a:lnTo>
                  <a:pt x="4667250" y="180975"/>
                </a:lnTo>
                <a:cubicBezTo>
                  <a:pt x="4667250" y="196757"/>
                  <a:pt x="4654457" y="209550"/>
                  <a:pt x="4638675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>
              <a:alpha val="15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381000" y="1695450"/>
            <a:ext cx="4667250" cy="209550"/>
          </a:xfrm>
          <a:custGeom>
            <a:avLst/>
            <a:gdLst/>
            <a:ahLst/>
            <a:cxnLst/>
            <a:rect l="l" t="t" r="r" b="b"/>
            <a:pathLst>
              <a:path w="4667250" h="209550">
                <a:moveTo>
                  <a:pt x="28575" y="0"/>
                </a:moveTo>
                <a:lnTo>
                  <a:pt x="4638675" y="0"/>
                </a:lnTo>
                <a:cubicBezTo>
                  <a:pt x="4654457" y="0"/>
                  <a:pt x="4667250" y="12793"/>
                  <a:pt x="4667250" y="28575"/>
                </a:cubicBezTo>
                <a:lnTo>
                  <a:pt x="4667250" y="180975"/>
                </a:lnTo>
                <a:cubicBezTo>
                  <a:pt x="4667250" y="196757"/>
                  <a:pt x="4654457" y="209550"/>
                  <a:pt x="4638675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092065" y="1734502"/>
            <a:ext cx="783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−34.5pp 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7665" y="19631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移除初始检索阶段</a:t>
            </a:r>
          </a:p>
        </p:txBody>
      </p:sp>
      <p:sp>
        <p:nvSpPr>
          <p:cNvPr id="16" name="Freeform 16"/>
          <p:cNvSpPr/>
          <p:nvPr/>
        </p:nvSpPr>
        <p:spPr>
          <a:xfrm>
            <a:off x="381000" y="2152650"/>
            <a:ext cx="1524000" cy="209550"/>
          </a:xfrm>
          <a:custGeom>
            <a:avLst/>
            <a:gdLst/>
            <a:ahLst/>
            <a:cxnLst/>
            <a:rect l="l" t="t" r="r" b="b"/>
            <a:pathLst>
              <a:path w="1524000" h="209550">
                <a:moveTo>
                  <a:pt x="28575" y="0"/>
                </a:moveTo>
                <a:lnTo>
                  <a:pt x="1495425" y="0"/>
                </a:lnTo>
                <a:cubicBezTo>
                  <a:pt x="1511207" y="0"/>
                  <a:pt x="1524000" y="12793"/>
                  <a:pt x="1524000" y="28575"/>
                </a:cubicBezTo>
                <a:lnTo>
                  <a:pt x="1524000" y="180975"/>
                </a:lnTo>
                <a:cubicBezTo>
                  <a:pt x="1524000" y="196757"/>
                  <a:pt x="1511207" y="209550"/>
                  <a:pt x="1495425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>
              <a:alpha val="15000"/>
            </a:srgbClr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381000" y="2152650"/>
            <a:ext cx="1362075" cy="209550"/>
          </a:xfrm>
          <a:custGeom>
            <a:avLst/>
            <a:gdLst/>
            <a:ahLst/>
            <a:cxnLst/>
            <a:rect l="l" t="t" r="r" b="b"/>
            <a:pathLst>
              <a:path w="1362075" h="209550">
                <a:moveTo>
                  <a:pt x="28575" y="0"/>
                </a:moveTo>
                <a:lnTo>
                  <a:pt x="1333500" y="0"/>
                </a:lnTo>
                <a:cubicBezTo>
                  <a:pt x="1349282" y="0"/>
                  <a:pt x="1362075" y="12793"/>
                  <a:pt x="1362075" y="28575"/>
                </a:cubicBezTo>
                <a:lnTo>
                  <a:pt x="1362075" y="180975"/>
                </a:lnTo>
                <a:cubicBezTo>
                  <a:pt x="1362075" y="196757"/>
                  <a:pt x="1349282" y="209550"/>
                  <a:pt x="1333500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796415" y="2191702"/>
            <a:ext cx="578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−14.3pp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7665" y="24203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移除动态提示系统</a:t>
            </a:r>
          </a:p>
        </p:txBody>
      </p:sp>
      <p:sp>
        <p:nvSpPr>
          <p:cNvPr id="20" name="Freeform 20"/>
          <p:cNvSpPr/>
          <p:nvPr/>
        </p:nvSpPr>
        <p:spPr>
          <a:xfrm>
            <a:off x="381000" y="2609850"/>
            <a:ext cx="1524000" cy="209550"/>
          </a:xfrm>
          <a:custGeom>
            <a:avLst/>
            <a:gdLst/>
            <a:ahLst/>
            <a:cxnLst/>
            <a:rect l="l" t="t" r="r" b="b"/>
            <a:pathLst>
              <a:path w="1524000" h="209550">
                <a:moveTo>
                  <a:pt x="28575" y="0"/>
                </a:moveTo>
                <a:lnTo>
                  <a:pt x="1495425" y="0"/>
                </a:lnTo>
                <a:cubicBezTo>
                  <a:pt x="1511207" y="0"/>
                  <a:pt x="1524000" y="12793"/>
                  <a:pt x="1524000" y="28575"/>
                </a:cubicBezTo>
                <a:lnTo>
                  <a:pt x="1524000" y="180975"/>
                </a:lnTo>
                <a:cubicBezTo>
                  <a:pt x="1524000" y="196757"/>
                  <a:pt x="1511207" y="209550"/>
                  <a:pt x="1495425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>
              <a:alpha val="15000"/>
            </a:srgbClr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381000" y="2609850"/>
            <a:ext cx="1200150" cy="209550"/>
          </a:xfrm>
          <a:custGeom>
            <a:avLst/>
            <a:gdLst/>
            <a:ahLst/>
            <a:cxnLst/>
            <a:rect l="l" t="t" r="r" b="b"/>
            <a:pathLst>
              <a:path w="1200150" h="209550">
                <a:moveTo>
                  <a:pt x="28575" y="0"/>
                </a:moveTo>
                <a:lnTo>
                  <a:pt x="1171575" y="0"/>
                </a:lnTo>
                <a:cubicBezTo>
                  <a:pt x="1187357" y="0"/>
                  <a:pt x="1200150" y="12793"/>
                  <a:pt x="1200150" y="28575"/>
                </a:cubicBezTo>
                <a:lnTo>
                  <a:pt x="1200150" y="180975"/>
                </a:lnTo>
                <a:cubicBezTo>
                  <a:pt x="1200150" y="196757"/>
                  <a:pt x="1187357" y="209550"/>
                  <a:pt x="1171575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624965" y="2648902"/>
            <a:ext cx="578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−12.6pp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7665" y="2877502"/>
            <a:ext cx="11001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移除 Reranking</a:t>
            </a:r>
          </a:p>
        </p:txBody>
      </p:sp>
      <p:sp>
        <p:nvSpPr>
          <p:cNvPr id="24" name="Freeform 24"/>
          <p:cNvSpPr/>
          <p:nvPr/>
        </p:nvSpPr>
        <p:spPr>
          <a:xfrm>
            <a:off x="381000" y="3067050"/>
            <a:ext cx="1524000" cy="209550"/>
          </a:xfrm>
          <a:custGeom>
            <a:avLst/>
            <a:gdLst/>
            <a:ahLst/>
            <a:cxnLst/>
            <a:rect l="l" t="t" r="r" b="b"/>
            <a:pathLst>
              <a:path w="1524000" h="209550">
                <a:moveTo>
                  <a:pt x="28575" y="0"/>
                </a:moveTo>
                <a:lnTo>
                  <a:pt x="1495425" y="0"/>
                </a:lnTo>
                <a:cubicBezTo>
                  <a:pt x="1511207" y="0"/>
                  <a:pt x="1524000" y="12793"/>
                  <a:pt x="1524000" y="28575"/>
                </a:cubicBezTo>
                <a:lnTo>
                  <a:pt x="1524000" y="180975"/>
                </a:lnTo>
                <a:cubicBezTo>
                  <a:pt x="1524000" y="196757"/>
                  <a:pt x="1511207" y="209550"/>
                  <a:pt x="1495425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>
              <a:alpha val="15000"/>
            </a:srgbClr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381000" y="3067050"/>
            <a:ext cx="876300" cy="209550"/>
          </a:xfrm>
          <a:custGeom>
            <a:avLst/>
            <a:gdLst/>
            <a:ahLst/>
            <a:cxnLst/>
            <a:rect l="l" t="t" r="r" b="b"/>
            <a:pathLst>
              <a:path w="876300" h="209550">
                <a:moveTo>
                  <a:pt x="28575" y="0"/>
                </a:moveTo>
                <a:lnTo>
                  <a:pt x="847725" y="0"/>
                </a:lnTo>
                <a:cubicBezTo>
                  <a:pt x="863507" y="0"/>
                  <a:pt x="876300" y="12793"/>
                  <a:pt x="876300" y="28575"/>
                </a:cubicBezTo>
                <a:lnTo>
                  <a:pt x="876300" y="180975"/>
                </a:lnTo>
                <a:cubicBezTo>
                  <a:pt x="876300" y="196757"/>
                  <a:pt x="863507" y="209550"/>
                  <a:pt x="847725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301115" y="3106102"/>
            <a:ext cx="532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−9.2pp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7665" y="33347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移除日期过滤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" y="3524250"/>
            <a:ext cx="1524000" cy="209550"/>
          </a:xfrm>
          <a:custGeom>
            <a:avLst/>
            <a:gdLst/>
            <a:ahLst/>
            <a:cxnLst/>
            <a:rect l="l" t="t" r="r" b="b"/>
            <a:pathLst>
              <a:path w="1524000" h="209550">
                <a:moveTo>
                  <a:pt x="28575" y="0"/>
                </a:moveTo>
                <a:lnTo>
                  <a:pt x="1495425" y="0"/>
                </a:lnTo>
                <a:cubicBezTo>
                  <a:pt x="1511207" y="0"/>
                  <a:pt x="1524000" y="12793"/>
                  <a:pt x="1524000" y="28575"/>
                </a:cubicBezTo>
                <a:lnTo>
                  <a:pt x="1524000" y="180975"/>
                </a:lnTo>
                <a:cubicBezTo>
                  <a:pt x="1524000" y="196757"/>
                  <a:pt x="1511207" y="209550"/>
                  <a:pt x="1495425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>
              <a:alpha val="15000"/>
            </a:srgbClr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381000" y="3524250"/>
            <a:ext cx="876300" cy="209550"/>
          </a:xfrm>
          <a:custGeom>
            <a:avLst/>
            <a:gdLst/>
            <a:ahLst/>
            <a:cxnLst/>
            <a:rect l="l" t="t" r="r" b="b"/>
            <a:pathLst>
              <a:path w="876300" h="209550">
                <a:moveTo>
                  <a:pt x="28575" y="0"/>
                </a:moveTo>
                <a:lnTo>
                  <a:pt x="847725" y="0"/>
                </a:lnTo>
                <a:cubicBezTo>
                  <a:pt x="863507" y="0"/>
                  <a:pt x="876300" y="12793"/>
                  <a:pt x="876300" y="28575"/>
                </a:cubicBezTo>
                <a:lnTo>
                  <a:pt x="876300" y="180975"/>
                </a:lnTo>
                <a:cubicBezTo>
                  <a:pt x="876300" y="196757"/>
                  <a:pt x="863507" y="209550"/>
                  <a:pt x="847725" y="209550"/>
                </a:cubicBezTo>
                <a:lnTo>
                  <a:pt x="28575" y="209550"/>
                </a:lnTo>
                <a:cubicBezTo>
                  <a:pt x="12793" y="209550"/>
                  <a:pt x="0" y="196757"/>
                  <a:pt x="0" y="180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>
              <a:alpha val="6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301115" y="3563302"/>
            <a:ext cx="532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−9.2pp</a:t>
            </a:r>
          </a:p>
        </p:txBody>
      </p:sp>
      <p:sp>
        <p:nvSpPr>
          <p:cNvPr id="31" name="Freeform 31"/>
          <p:cNvSpPr/>
          <p:nvPr/>
        </p:nvSpPr>
        <p:spPr>
          <a:xfrm>
            <a:off x="381000" y="3886200"/>
            <a:ext cx="5286375" cy="552450"/>
          </a:xfrm>
          <a:custGeom>
            <a:avLst/>
            <a:gdLst/>
            <a:ahLst/>
            <a:cxnLst/>
            <a:rect l="l" t="t" r="r" b="b"/>
            <a:pathLst>
              <a:path w="5286375" h="552450">
                <a:moveTo>
                  <a:pt x="57150" y="0"/>
                </a:moveTo>
                <a:lnTo>
                  <a:pt x="5229225" y="0"/>
                </a:lnTo>
                <a:cubicBezTo>
                  <a:pt x="5260788" y="0"/>
                  <a:pt x="5286375" y="25587"/>
                  <a:pt x="5286375" y="57150"/>
                </a:cubicBezTo>
                <a:lnTo>
                  <a:pt x="5286375" y="495300"/>
                </a:lnTo>
                <a:cubicBezTo>
                  <a:pt x="5286375" y="526863"/>
                  <a:pt x="5260788" y="552450"/>
                  <a:pt x="5229225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7722">
              <a:alpha val="8000"/>
            </a:srgbClr>
          </a:solidFill>
          <a:ln w="9525">
            <a:solidFill>
              <a:srgbClr val="E87722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684050" y="3982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关键洞察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9883" y="4191952"/>
            <a:ext cx="33390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事件历法单独对基线贡献 +58.9%，为最核心组件</a:t>
            </a:r>
          </a:p>
        </p:txBody>
      </p:sp>
      <p:sp>
        <p:nvSpPr>
          <p:cNvPr id="34" name="Freeform 34"/>
          <p:cNvSpPr/>
          <p:nvPr/>
        </p:nvSpPr>
        <p:spPr>
          <a:xfrm>
            <a:off x="381000" y="4552950"/>
            <a:ext cx="5286375" cy="685800"/>
          </a:xfrm>
          <a:custGeom>
            <a:avLst/>
            <a:gdLst/>
            <a:ahLst/>
            <a:cxnLst/>
            <a:rect l="l" t="t" r="r" b="b"/>
            <a:pathLst>
              <a:path w="5286375" h="685800">
                <a:moveTo>
                  <a:pt x="57150" y="0"/>
                </a:moveTo>
                <a:lnTo>
                  <a:pt x="5229225" y="0"/>
                </a:lnTo>
                <a:cubicBezTo>
                  <a:pt x="5260788" y="0"/>
                  <a:pt x="5286375" y="25587"/>
                  <a:pt x="5286375" y="57150"/>
                </a:cubicBezTo>
                <a:lnTo>
                  <a:pt x="5286375" y="628650"/>
                </a:lnTo>
                <a:cubicBezTo>
                  <a:pt x="5286375" y="660213"/>
                  <a:pt x="5260788" y="685800"/>
                  <a:pt x="5229225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57212" y="4641056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模型能力差异分析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8165" y="4858702"/>
            <a:ext cx="51563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Chronos High → Low 移除事件索引：降幅仅 2.6pp（vs Low 的 34.5pp）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8165" y="5049202"/>
            <a:ext cx="48112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高能力模型（Opus 4.6）可部分弥补结构缺失，但架构贡献依然显著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889308" y="1195864"/>
            <a:ext cx="34833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Chronos 错误类型分析（High vs Low）</a:t>
            </a:r>
          </a:p>
        </p:txBody>
      </p:sp>
      <p:sp>
        <p:nvSpPr>
          <p:cNvPr id="39" name="Freeform 39"/>
          <p:cNvSpPr/>
          <p:nvPr/>
        </p:nvSpPr>
        <p:spPr>
          <a:xfrm>
            <a:off x="5905500" y="1428750"/>
            <a:ext cx="5905500" cy="2381250"/>
          </a:xfrm>
          <a:custGeom>
            <a:avLst/>
            <a:gdLst/>
            <a:ahLst/>
            <a:cxnLst/>
            <a:rect l="l" t="t" r="r" b="b"/>
            <a:pathLst>
              <a:path w="5905500" h="2381250">
                <a:moveTo>
                  <a:pt x="76200" y="0"/>
                </a:moveTo>
                <a:lnTo>
                  <a:pt x="5829300" y="0"/>
                </a:lnTo>
                <a:cubicBezTo>
                  <a:pt x="5871384" y="0"/>
                  <a:pt x="5905500" y="34116"/>
                  <a:pt x="5905500" y="76200"/>
                </a:cubicBezTo>
                <a:lnTo>
                  <a:pt x="5905500" y="2305050"/>
                </a:lnTo>
                <a:cubicBezTo>
                  <a:pt x="5905500" y="2347134"/>
                  <a:pt x="5871384" y="2381250"/>
                  <a:pt x="582930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pic>
        <p:nvPicPr>
          <p:cNvPr id="40" name="Imag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4950"/>
            <a:ext cx="4915852" cy="22098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6973729" y="3827145"/>
            <a:ext cx="3769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图3：Chronos High vs Low 各错误类别对比（检索失败仍最大）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889308" y="4053364"/>
            <a:ext cx="35518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记忆容量对决策效率的影响（认知建模）</a:t>
            </a:r>
          </a:p>
        </p:txBody>
      </p:sp>
      <p:sp>
        <p:nvSpPr>
          <p:cNvPr id="43" name="Freeform 43"/>
          <p:cNvSpPr/>
          <p:nvPr/>
        </p:nvSpPr>
        <p:spPr>
          <a:xfrm>
            <a:off x="5905500" y="4286250"/>
            <a:ext cx="5905500" cy="1809750"/>
          </a:xfrm>
          <a:custGeom>
            <a:avLst/>
            <a:gdLst/>
            <a:ahLst/>
            <a:cxnLst/>
            <a:rect l="l" t="t" r="r" b="b"/>
            <a:pathLst>
              <a:path w="5905500" h="1809750">
                <a:moveTo>
                  <a:pt x="76200" y="0"/>
                </a:moveTo>
                <a:lnTo>
                  <a:pt x="5829300" y="0"/>
                </a:lnTo>
                <a:cubicBezTo>
                  <a:pt x="5871384" y="0"/>
                  <a:pt x="5905500" y="34116"/>
                  <a:pt x="5905500" y="76200"/>
                </a:cubicBezTo>
                <a:lnTo>
                  <a:pt x="5905500" y="1733550"/>
                </a:lnTo>
                <a:cubicBezTo>
                  <a:pt x="5905500" y="1775634"/>
                  <a:pt x="5871384" y="1809750"/>
                  <a:pt x="582930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pic>
        <p:nvPicPr>
          <p:cNvPr id="44" name="Imag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915" y="4362450"/>
            <a:ext cx="3074670" cy="1647825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7295769" y="6094095"/>
            <a:ext cx="31249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图3：记忆容量K对Avg.Steps的影响（适中K值最优）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522720"/>
            <a:ext cx="39662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来源：Chronos §4.4 消融实验 (Table 3) | 认知建模 §IV-B (Fig.3)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消融分析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360610" y="650652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10 / 12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667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6235" y="227648"/>
            <a:ext cx="226240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06 局限性与挑战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57617" y="316706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LLM 长期记忆综述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9558" y="833914"/>
            <a:ext cx="76857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两框架面临共同挑战：存储开销、推理计算成本与大规模扩展性——结构与效率的权衡持续存在</a:t>
            </a:r>
          </a:p>
        </p:txBody>
      </p:sp>
      <p:sp>
        <p:nvSpPr>
          <p:cNvPr id="10" name="Freeform 10"/>
          <p:cNvSpPr/>
          <p:nvPr/>
        </p:nvSpPr>
        <p:spPr>
          <a:xfrm>
            <a:off x="381000" y="1285875"/>
            <a:ext cx="5619750" cy="3714750"/>
          </a:xfrm>
          <a:custGeom>
            <a:avLst/>
            <a:gdLst/>
            <a:ahLst/>
            <a:cxnLst/>
            <a:rect l="l" t="t" r="r" b="b"/>
            <a:pathLst>
              <a:path w="5619750" h="3714750">
                <a:moveTo>
                  <a:pt x="95250" y="0"/>
                </a:moveTo>
                <a:lnTo>
                  <a:pt x="5524500" y="0"/>
                </a:lnTo>
                <a:cubicBezTo>
                  <a:pt x="5577105" y="0"/>
                  <a:pt x="5619750" y="42645"/>
                  <a:pt x="5619750" y="95250"/>
                </a:cubicBezTo>
                <a:lnTo>
                  <a:pt x="5619750" y="3619500"/>
                </a:lnTo>
                <a:cubicBezTo>
                  <a:pt x="5619750" y="3672105"/>
                  <a:pt x="5577105" y="3714750"/>
                  <a:pt x="5524500" y="3714750"/>
                </a:cubicBezTo>
                <a:lnTo>
                  <a:pt x="95250" y="3714750"/>
                </a:lnTo>
                <a:cubicBezTo>
                  <a:pt x="42645" y="3714750"/>
                  <a:pt x="0" y="3672105"/>
                  <a:pt x="0" y="3619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381000" y="1285875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95250" y="0"/>
                </a:moveTo>
                <a:lnTo>
                  <a:pt x="5524500" y="0"/>
                </a:lnTo>
                <a:cubicBezTo>
                  <a:pt x="5577105" y="0"/>
                  <a:pt x="5619750" y="42645"/>
                  <a:pt x="5619750" y="95250"/>
                </a:cubicBezTo>
                <a:lnTo>
                  <a:pt x="5619750" y="361950"/>
                </a:lnTo>
                <a:cubicBezTo>
                  <a:pt x="5619750" y="414555"/>
                  <a:pt x="5577105" y="457200"/>
                  <a:pt x="552450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524000"/>
            <a:ext cx="5619750" cy="219075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570689" y="1435111"/>
            <a:ext cx="192114" cy="165051"/>
            <a:chOff x="570689" y="1435111"/>
            <a:chExt cx="192114" cy="165051"/>
          </a:xfrm>
        </p:grpSpPr>
        <p:sp>
          <p:nvSpPr>
            <p:cNvPr id="13" name="Freeform 13"/>
            <p:cNvSpPr/>
            <p:nvPr/>
          </p:nvSpPr>
          <p:spPr>
            <a:xfrm>
              <a:off x="666750" y="1495425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70689" y="1435111"/>
              <a:ext cx="192114" cy="165051"/>
            </a:xfrm>
            <a:custGeom>
              <a:avLst/>
              <a:gdLst/>
              <a:ahLst/>
              <a:cxnLst/>
              <a:rect l="l" t="t" r="r" b="b"/>
              <a:pathLst>
                <a:path w="192114" h="165051">
                  <a:moveTo>
                    <a:pt x="80468" y="8794"/>
                  </a:moveTo>
                  <a:lnTo>
                    <a:pt x="3259" y="137705"/>
                  </a:lnTo>
                  <a:cubicBezTo>
                    <a:pt x="20" y="143314"/>
                    <a:pt x="0" y="150220"/>
                    <a:pt x="3207" y="155848"/>
                  </a:cubicBezTo>
                  <a:cubicBezTo>
                    <a:pt x="6413" y="161475"/>
                    <a:pt x="12365" y="164979"/>
                    <a:pt x="18842" y="165051"/>
                  </a:cubicBezTo>
                  <a:lnTo>
                    <a:pt x="173280" y="165051"/>
                  </a:lnTo>
                  <a:cubicBezTo>
                    <a:pt x="179753" y="164977"/>
                    <a:pt x="185702" y="161474"/>
                    <a:pt x="188908" y="155850"/>
                  </a:cubicBezTo>
                  <a:cubicBezTo>
                    <a:pt x="192114" y="150226"/>
                    <a:pt x="192097" y="143323"/>
                    <a:pt x="188863" y="137715"/>
                  </a:cubicBezTo>
                  <a:lnTo>
                    <a:pt x="111653" y="8784"/>
                  </a:lnTo>
                  <a:cubicBezTo>
                    <a:pt x="108349" y="3331"/>
                    <a:pt x="102437" y="0"/>
                    <a:pt x="96061" y="0"/>
                  </a:cubicBezTo>
                  <a:cubicBezTo>
                    <a:pt x="89685" y="0"/>
                    <a:pt x="83772" y="3331"/>
                    <a:pt x="80468" y="8784"/>
                  </a:cubicBez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66750" y="15621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5" y="0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935355" y="1444942"/>
            <a:ext cx="1514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Chronos 局限性</a:t>
            </a:r>
          </a:p>
        </p:txBody>
      </p:sp>
      <p:sp>
        <p:nvSpPr>
          <p:cNvPr id="18" name="Freeform 18"/>
          <p:cNvSpPr/>
          <p:nvPr/>
        </p:nvSpPr>
        <p:spPr>
          <a:xfrm>
            <a:off x="7143750" y="1409700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1143000" h="2286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190500"/>
                </a:lnTo>
                <a:cubicBezTo>
                  <a:pt x="1143000" y="211542"/>
                  <a:pt x="1125942" y="228600"/>
                  <a:pt x="11049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7722">
              <a:alpha val="2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111913" y="1456849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arXiv:2603.16862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1885950"/>
            <a:ext cx="5238750" cy="647700"/>
          </a:xfrm>
          <a:custGeom>
            <a:avLst/>
            <a:gdLst/>
            <a:ahLst/>
            <a:cxnLst/>
            <a:rect l="l" t="t" r="r" b="b"/>
            <a:pathLst>
              <a:path w="5238750" h="64770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590550"/>
                </a:lnTo>
                <a:cubicBezTo>
                  <a:pt x="5238750" y="622113"/>
                  <a:pt x="5213163" y="647700"/>
                  <a:pt x="5181600" y="647700"/>
                </a:cubicBezTo>
                <a:lnTo>
                  <a:pt x="57150" y="647700"/>
                </a:lnTo>
                <a:cubicBezTo>
                  <a:pt x="25587" y="647700"/>
                  <a:pt x="0" y="622113"/>
                  <a:pt x="0" y="590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571500" y="18859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28650"/>
                </a:lnTo>
                <a:cubicBezTo>
                  <a:pt x="38100" y="639171"/>
                  <a:pt x="29571" y="647700"/>
                  <a:pt x="19050" y="647700"/>
                </a:cubicBezTo>
                <a:lnTo>
                  <a:pt x="19050" y="647700"/>
                </a:lnTo>
                <a:cubicBezTo>
                  <a:pt x="8529" y="647700"/>
                  <a:pt x="0" y="639171"/>
                  <a:pt x="0" y="628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46760" y="1965960"/>
            <a:ext cx="14750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① 双索引存储开销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665" y="2191702"/>
            <a:ext cx="37301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对话历法 + 事件历法双存储，空间开销高于纯对话系统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618" y="2352199"/>
            <a:ext cx="35847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缓解：稀疏事件提取，仅索引时序性事件，保持历法紧凑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2647950"/>
            <a:ext cx="5238750" cy="647700"/>
          </a:xfrm>
          <a:custGeom>
            <a:avLst/>
            <a:gdLst/>
            <a:ahLst/>
            <a:cxnLst/>
            <a:rect l="l" t="t" r="r" b="b"/>
            <a:pathLst>
              <a:path w="5238750" h="64770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590550"/>
                </a:lnTo>
                <a:cubicBezTo>
                  <a:pt x="5238750" y="622113"/>
                  <a:pt x="5213163" y="647700"/>
                  <a:pt x="5181600" y="647700"/>
                </a:cubicBezTo>
                <a:lnTo>
                  <a:pt x="57150" y="647700"/>
                </a:lnTo>
                <a:cubicBezTo>
                  <a:pt x="25587" y="647700"/>
                  <a:pt x="0" y="622113"/>
                  <a:pt x="0" y="590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571500" y="26479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28650"/>
                </a:lnTo>
                <a:cubicBezTo>
                  <a:pt x="38100" y="639171"/>
                  <a:pt x="29571" y="647700"/>
                  <a:pt x="19050" y="647700"/>
                </a:cubicBezTo>
                <a:lnTo>
                  <a:pt x="19050" y="647700"/>
                </a:lnTo>
                <a:cubicBezTo>
                  <a:pt x="8529" y="647700"/>
                  <a:pt x="0" y="639171"/>
                  <a:pt x="0" y="628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46760" y="2727960"/>
            <a:ext cx="16590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② 离线提取计算成本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8665" y="2953702"/>
            <a:ext cx="3116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LLM 驱动的事件提取在摄入阶段增加计算开销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618" y="3114199"/>
            <a:ext cx="33711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缓解：批处理（每批25轮，5轮重叠）+ 轻量模型提取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3409950"/>
            <a:ext cx="5238750" cy="647700"/>
          </a:xfrm>
          <a:custGeom>
            <a:avLst/>
            <a:gdLst/>
            <a:ahLst/>
            <a:cxnLst/>
            <a:rect l="l" t="t" r="r" b="b"/>
            <a:pathLst>
              <a:path w="5238750" h="64770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590550"/>
                </a:lnTo>
                <a:cubicBezTo>
                  <a:pt x="5238750" y="622113"/>
                  <a:pt x="5213163" y="647700"/>
                  <a:pt x="5181600" y="647700"/>
                </a:cubicBezTo>
                <a:lnTo>
                  <a:pt x="57150" y="647700"/>
                </a:lnTo>
                <a:cubicBezTo>
                  <a:pt x="25587" y="647700"/>
                  <a:pt x="0" y="622113"/>
                  <a:pt x="0" y="590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571500" y="34099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28650"/>
                </a:lnTo>
                <a:cubicBezTo>
                  <a:pt x="38100" y="639171"/>
                  <a:pt x="29571" y="647700"/>
                  <a:pt x="19050" y="647700"/>
                </a:cubicBezTo>
                <a:lnTo>
                  <a:pt x="19050" y="647700"/>
                </a:lnTo>
                <a:cubicBezTo>
                  <a:pt x="8529" y="647700"/>
                  <a:pt x="0" y="639171"/>
                  <a:pt x="0" y="628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46760" y="3489960"/>
            <a:ext cx="16590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③ 并行检索推理延迟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8665" y="3715702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查询时双路召回增加响应延迟，高吞吐场景受影响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3876199"/>
            <a:ext cx="35847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缓解：预先完成对话历法初始检索，减少推理中冗余搜索</a:t>
            </a:r>
          </a:p>
        </p:txBody>
      </p:sp>
      <p:sp>
        <p:nvSpPr>
          <p:cNvPr id="35" name="Freeform 35"/>
          <p:cNvSpPr/>
          <p:nvPr/>
        </p:nvSpPr>
        <p:spPr>
          <a:xfrm>
            <a:off x="571500" y="4171950"/>
            <a:ext cx="5238750" cy="495300"/>
          </a:xfrm>
          <a:custGeom>
            <a:avLst/>
            <a:gdLst/>
            <a:ahLst/>
            <a:cxnLst/>
            <a:rect l="l" t="t" r="r" b="b"/>
            <a:pathLst>
              <a:path w="5238750" h="49530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38150"/>
                </a:lnTo>
                <a:cubicBezTo>
                  <a:pt x="5238750" y="469713"/>
                  <a:pt x="5213163" y="495300"/>
                  <a:pt x="51816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571500" y="4171950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476250"/>
                </a:lnTo>
                <a:cubicBezTo>
                  <a:pt x="38100" y="486771"/>
                  <a:pt x="29571" y="495300"/>
                  <a:pt x="190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6760" y="4232910"/>
            <a:ext cx="19627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④ 偏好召回（SSP）仍弱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8665" y="4439602"/>
            <a:ext cx="43052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Low 配置 SSP 80%，落后 Honcho 10pp，偏好类查询需专项优化</a:t>
            </a:r>
          </a:p>
        </p:txBody>
      </p:sp>
      <p:sp>
        <p:nvSpPr>
          <p:cNvPr id="39" name="Freeform 39"/>
          <p:cNvSpPr/>
          <p:nvPr/>
        </p:nvSpPr>
        <p:spPr>
          <a:xfrm>
            <a:off x="6191250" y="1285875"/>
            <a:ext cx="5619750" cy="3714750"/>
          </a:xfrm>
          <a:custGeom>
            <a:avLst/>
            <a:gdLst/>
            <a:ahLst/>
            <a:cxnLst/>
            <a:rect l="l" t="t" r="r" b="b"/>
            <a:pathLst>
              <a:path w="5619750" h="3714750">
                <a:moveTo>
                  <a:pt x="95250" y="0"/>
                </a:moveTo>
                <a:lnTo>
                  <a:pt x="5524500" y="0"/>
                </a:lnTo>
                <a:cubicBezTo>
                  <a:pt x="5577105" y="0"/>
                  <a:pt x="5619750" y="42645"/>
                  <a:pt x="5619750" y="95250"/>
                </a:cubicBezTo>
                <a:lnTo>
                  <a:pt x="5619750" y="3619500"/>
                </a:lnTo>
                <a:cubicBezTo>
                  <a:pt x="5619750" y="3672105"/>
                  <a:pt x="5577105" y="3714750"/>
                  <a:pt x="5524500" y="3714750"/>
                </a:cubicBezTo>
                <a:lnTo>
                  <a:pt x="95250" y="3714750"/>
                </a:lnTo>
                <a:cubicBezTo>
                  <a:pt x="42645" y="3714750"/>
                  <a:pt x="0" y="3672105"/>
                  <a:pt x="0" y="3619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6191250" y="1285875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95250" y="0"/>
                </a:moveTo>
                <a:lnTo>
                  <a:pt x="5524500" y="0"/>
                </a:lnTo>
                <a:cubicBezTo>
                  <a:pt x="5577105" y="0"/>
                  <a:pt x="5619750" y="42645"/>
                  <a:pt x="5619750" y="95250"/>
                </a:cubicBezTo>
                <a:lnTo>
                  <a:pt x="5619750" y="361950"/>
                </a:lnTo>
                <a:cubicBezTo>
                  <a:pt x="5619750" y="414555"/>
                  <a:pt x="5577105" y="457200"/>
                  <a:pt x="552450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6191250" y="1524000"/>
            <a:ext cx="5619750" cy="219075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grpSp>
        <p:nvGrpSpPr>
          <p:cNvPr id="45" name="Group 45"/>
          <p:cNvGrpSpPr/>
          <p:nvPr/>
        </p:nvGrpSpPr>
        <p:grpSpPr>
          <a:xfrm>
            <a:off x="6380939" y="1435111"/>
            <a:ext cx="192114" cy="165051"/>
            <a:chOff x="6380939" y="1435111"/>
            <a:chExt cx="192114" cy="165051"/>
          </a:xfrm>
        </p:grpSpPr>
        <p:sp>
          <p:nvSpPr>
            <p:cNvPr id="42" name="Freeform 42"/>
            <p:cNvSpPr/>
            <p:nvPr/>
          </p:nvSpPr>
          <p:spPr>
            <a:xfrm>
              <a:off x="6477000" y="1495425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380939" y="1435111"/>
              <a:ext cx="192114" cy="165051"/>
            </a:xfrm>
            <a:custGeom>
              <a:avLst/>
              <a:gdLst/>
              <a:ahLst/>
              <a:cxnLst/>
              <a:rect l="l" t="t" r="r" b="b"/>
              <a:pathLst>
                <a:path w="192114" h="165051">
                  <a:moveTo>
                    <a:pt x="80468" y="8794"/>
                  </a:moveTo>
                  <a:lnTo>
                    <a:pt x="3259" y="137705"/>
                  </a:lnTo>
                  <a:cubicBezTo>
                    <a:pt x="20" y="143314"/>
                    <a:pt x="0" y="150220"/>
                    <a:pt x="3207" y="155848"/>
                  </a:cubicBezTo>
                  <a:cubicBezTo>
                    <a:pt x="6413" y="161475"/>
                    <a:pt x="12365" y="164979"/>
                    <a:pt x="18842" y="165051"/>
                  </a:cubicBezTo>
                  <a:lnTo>
                    <a:pt x="173280" y="165051"/>
                  </a:lnTo>
                  <a:cubicBezTo>
                    <a:pt x="179753" y="164977"/>
                    <a:pt x="185702" y="161474"/>
                    <a:pt x="188908" y="155850"/>
                  </a:cubicBezTo>
                  <a:cubicBezTo>
                    <a:pt x="192114" y="150226"/>
                    <a:pt x="192097" y="143323"/>
                    <a:pt x="188863" y="137715"/>
                  </a:cubicBezTo>
                  <a:lnTo>
                    <a:pt x="111653" y="8784"/>
                  </a:lnTo>
                  <a:cubicBezTo>
                    <a:pt x="108349" y="3331"/>
                    <a:pt x="102437" y="0"/>
                    <a:pt x="96061" y="0"/>
                  </a:cubicBezTo>
                  <a:cubicBezTo>
                    <a:pt x="89685" y="0"/>
                    <a:pt x="83772" y="3331"/>
                    <a:pt x="80468" y="8784"/>
                  </a:cubicBez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477000" y="15621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5" y="0"/>
                  </a:lnTo>
                </a:path>
              </a:pathLst>
            </a:custGeom>
            <a:noFill/>
            <a:ln w="9525">
              <a:solidFill>
                <a:srgbClr val="E87722"/>
              </a:solidFill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6745605" y="1444942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认知建模框架局限性</a:t>
            </a:r>
          </a:p>
        </p:txBody>
      </p:sp>
      <p:sp>
        <p:nvSpPr>
          <p:cNvPr id="47" name="Freeform 47"/>
          <p:cNvSpPr/>
          <p:nvPr/>
        </p:nvSpPr>
        <p:spPr>
          <a:xfrm>
            <a:off x="10858500" y="140970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190500"/>
                </a:lnTo>
                <a:cubicBezTo>
                  <a:pt x="762000" y="211542"/>
                  <a:pt x="744942" y="228600"/>
                  <a:pt x="7239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66CC">
              <a:alpha val="30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0919174" y="1464945"/>
            <a:ext cx="6406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preprints</a:t>
            </a:r>
          </a:p>
        </p:txBody>
      </p:sp>
      <p:sp>
        <p:nvSpPr>
          <p:cNvPr id="49" name="Freeform 49"/>
          <p:cNvSpPr/>
          <p:nvPr/>
        </p:nvSpPr>
        <p:spPr>
          <a:xfrm>
            <a:off x="6381750" y="1885950"/>
            <a:ext cx="5238750" cy="647700"/>
          </a:xfrm>
          <a:custGeom>
            <a:avLst/>
            <a:gdLst/>
            <a:ahLst/>
            <a:cxnLst/>
            <a:rect l="l" t="t" r="r" b="b"/>
            <a:pathLst>
              <a:path w="5238750" h="64770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590550"/>
                </a:lnTo>
                <a:cubicBezTo>
                  <a:pt x="5238750" y="622113"/>
                  <a:pt x="5213163" y="647700"/>
                  <a:pt x="5181600" y="647700"/>
                </a:cubicBezTo>
                <a:lnTo>
                  <a:pt x="57150" y="647700"/>
                </a:lnTo>
                <a:cubicBezTo>
                  <a:pt x="25587" y="647700"/>
                  <a:pt x="0" y="622113"/>
                  <a:pt x="0" y="590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6381750" y="18859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28650"/>
                </a:lnTo>
                <a:cubicBezTo>
                  <a:pt x="38100" y="639171"/>
                  <a:pt x="29571" y="647700"/>
                  <a:pt x="19050" y="647700"/>
                </a:cubicBezTo>
                <a:lnTo>
                  <a:pt x="19050" y="647700"/>
                </a:lnTo>
                <a:cubicBezTo>
                  <a:pt x="8529" y="647700"/>
                  <a:pt x="0" y="639171"/>
                  <a:pt x="0" y="628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57010" y="1965960"/>
            <a:ext cx="16590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① 记忆容量超参敏感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58915" y="2191702"/>
            <a:ext cx="31780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性能对K值非线性，工程部署中超参调优成本高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59868" y="2352199"/>
            <a:ext cx="33141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需要任务自适应容量策略，避免"过大引入噪声"陷阱</a:t>
            </a:r>
          </a:p>
        </p:txBody>
      </p:sp>
      <p:sp>
        <p:nvSpPr>
          <p:cNvPr id="54" name="Freeform 54"/>
          <p:cNvSpPr/>
          <p:nvPr/>
        </p:nvSpPr>
        <p:spPr>
          <a:xfrm>
            <a:off x="6381750" y="2647950"/>
            <a:ext cx="5238750" cy="647700"/>
          </a:xfrm>
          <a:custGeom>
            <a:avLst/>
            <a:gdLst/>
            <a:ahLst/>
            <a:cxnLst/>
            <a:rect l="l" t="t" r="r" b="b"/>
            <a:pathLst>
              <a:path w="5238750" h="64770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590550"/>
                </a:lnTo>
                <a:cubicBezTo>
                  <a:pt x="5238750" y="622113"/>
                  <a:pt x="5213163" y="647700"/>
                  <a:pt x="5181600" y="647700"/>
                </a:cubicBezTo>
                <a:lnTo>
                  <a:pt x="57150" y="647700"/>
                </a:lnTo>
                <a:cubicBezTo>
                  <a:pt x="25587" y="647700"/>
                  <a:pt x="0" y="622113"/>
                  <a:pt x="0" y="590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6381750" y="26479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28650"/>
                </a:lnTo>
                <a:cubicBezTo>
                  <a:pt x="38100" y="639171"/>
                  <a:pt x="29571" y="647700"/>
                  <a:pt x="19050" y="647700"/>
                </a:cubicBezTo>
                <a:lnTo>
                  <a:pt x="19050" y="647700"/>
                </a:lnTo>
                <a:cubicBezTo>
                  <a:pt x="8529" y="647700"/>
                  <a:pt x="0" y="639171"/>
                  <a:pt x="0" y="628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57010" y="2727960"/>
            <a:ext cx="20271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② 注意力机制可解释性低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58915" y="2953702"/>
            <a:ext cx="37071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记忆检索过程基于注意力权重，内部机制难以直接解读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59868" y="311419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对安全敏感场景的可审计性构成挑战</a:t>
            </a:r>
          </a:p>
        </p:txBody>
      </p:sp>
      <p:sp>
        <p:nvSpPr>
          <p:cNvPr id="59" name="Freeform 59"/>
          <p:cNvSpPr/>
          <p:nvPr/>
        </p:nvSpPr>
        <p:spPr>
          <a:xfrm>
            <a:off x="6381750" y="3409950"/>
            <a:ext cx="5238750" cy="647700"/>
          </a:xfrm>
          <a:custGeom>
            <a:avLst/>
            <a:gdLst/>
            <a:ahLst/>
            <a:cxnLst/>
            <a:rect l="l" t="t" r="r" b="b"/>
            <a:pathLst>
              <a:path w="5238750" h="64770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590550"/>
                </a:lnTo>
                <a:cubicBezTo>
                  <a:pt x="5238750" y="622113"/>
                  <a:pt x="5213163" y="647700"/>
                  <a:pt x="5181600" y="647700"/>
                </a:cubicBezTo>
                <a:lnTo>
                  <a:pt x="57150" y="647700"/>
                </a:lnTo>
                <a:cubicBezTo>
                  <a:pt x="25587" y="647700"/>
                  <a:pt x="0" y="622113"/>
                  <a:pt x="0" y="590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6381750" y="34099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28650"/>
                </a:lnTo>
                <a:cubicBezTo>
                  <a:pt x="38100" y="639171"/>
                  <a:pt x="29571" y="647700"/>
                  <a:pt x="19050" y="647700"/>
                </a:cubicBezTo>
                <a:lnTo>
                  <a:pt x="19050" y="647700"/>
                </a:lnTo>
                <a:cubicBezTo>
                  <a:pt x="8529" y="647700"/>
                  <a:pt x="0" y="639171"/>
                  <a:pt x="0" y="628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57010" y="3489960"/>
            <a:ext cx="1291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③ 评测范围受限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58915" y="3715702"/>
            <a:ext cx="35001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仅在 WebShop 单一数据集验证，跨领域泛化未评估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59868" y="3876199"/>
            <a:ext cx="34423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需在开放世界交互、多领域长期规划场景中进一步验证</a:t>
            </a:r>
          </a:p>
        </p:txBody>
      </p:sp>
      <p:sp>
        <p:nvSpPr>
          <p:cNvPr id="64" name="Freeform 64"/>
          <p:cNvSpPr/>
          <p:nvPr/>
        </p:nvSpPr>
        <p:spPr>
          <a:xfrm>
            <a:off x="6381750" y="4171950"/>
            <a:ext cx="5238750" cy="495300"/>
          </a:xfrm>
          <a:custGeom>
            <a:avLst/>
            <a:gdLst/>
            <a:ahLst/>
            <a:cxnLst/>
            <a:rect l="l" t="t" r="r" b="b"/>
            <a:pathLst>
              <a:path w="5238750" h="495300">
                <a:moveTo>
                  <a:pt x="57150" y="0"/>
                </a:moveTo>
                <a:lnTo>
                  <a:pt x="5181600" y="0"/>
                </a:lnTo>
                <a:cubicBezTo>
                  <a:pt x="5213163" y="0"/>
                  <a:pt x="5238750" y="25587"/>
                  <a:pt x="5238750" y="57150"/>
                </a:cubicBezTo>
                <a:lnTo>
                  <a:pt x="5238750" y="438150"/>
                </a:lnTo>
                <a:cubicBezTo>
                  <a:pt x="5238750" y="469713"/>
                  <a:pt x="5213163" y="495300"/>
                  <a:pt x="51816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5" name="Freeform 65"/>
          <p:cNvSpPr/>
          <p:nvPr/>
        </p:nvSpPr>
        <p:spPr>
          <a:xfrm>
            <a:off x="6381750" y="4171950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476250"/>
                </a:lnTo>
                <a:cubicBezTo>
                  <a:pt x="38100" y="486771"/>
                  <a:pt x="29571" y="495300"/>
                  <a:pt x="190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57010" y="4232910"/>
            <a:ext cx="17602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④ 缺乏安全/资源约束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58915" y="4439602"/>
            <a:ext cx="32470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实际部署的安全限制与资源约束未在框架中建模</a:t>
            </a:r>
          </a:p>
        </p:txBody>
      </p:sp>
      <p:sp>
        <p:nvSpPr>
          <p:cNvPr id="68" name="Freeform 68"/>
          <p:cNvSpPr/>
          <p:nvPr/>
        </p:nvSpPr>
        <p:spPr>
          <a:xfrm>
            <a:off x="381000" y="5143500"/>
            <a:ext cx="11430000" cy="952500"/>
          </a:xfrm>
          <a:custGeom>
            <a:avLst/>
            <a:gdLst/>
            <a:ahLst/>
            <a:cxnLst/>
            <a:rect l="l" t="t" r="r" b="b"/>
            <a:pathLst>
              <a:path w="11430000" h="9525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876300"/>
                </a:lnTo>
                <a:cubicBezTo>
                  <a:pt x="11430000" y="918384"/>
                  <a:pt x="11395884" y="952500"/>
                  <a:pt x="11353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>
              <a:alpha val="5000"/>
            </a:srgbClr>
          </a:solidFill>
          <a:ln w="9525">
            <a:solidFill>
              <a:srgbClr val="003366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5102185" y="5272564"/>
            <a:ext cx="19876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两框架共同面临的挑战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5505450"/>
            <a:ext cx="11049000" cy="9525"/>
          </a:xfrm>
          <a:prstGeom prst="rect">
            <a:avLst/>
          </a:prstGeom>
          <a:solidFill>
            <a:srgbClr val="D0D7E0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57212" y="5593556"/>
            <a:ext cx="57300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■ 记忆精确性 vs 检索效率的根本权衡 ■ 长期运行中记忆的老化与主动更新策略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57212" y="5822156"/>
            <a:ext cx="62557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■ 多用户/多 Agent 场景下的共享记忆架构扩展 ■ 连续学习环境中的安全可控记忆管理</a:t>
            </a:r>
          </a:p>
        </p:txBody>
      </p:sp>
      <p:sp>
        <p:nvSpPr>
          <p:cNvPr id="73" name="Line 7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369570" y="6522720"/>
            <a:ext cx="34667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来源：Chronos §5 Limitations | 认知建模 §V Conclusions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局限性与挑战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398948" y="6506528"/>
            <a:ext cx="4253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11 / 12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95250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106594" y="406718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LLM 长期记忆综述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7866" y="1373505"/>
            <a:ext cx="671626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感谢聆听，欢迎交流与指正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69769" y="2076450"/>
            <a:ext cx="44524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结构化时序 × 认知闭环，双路径逼近持续智能</a:t>
            </a:r>
          </a:p>
        </p:txBody>
      </p:sp>
      <p:sp>
        <p:nvSpPr>
          <p:cNvPr id="8" name="Line 8"/>
          <p:cNvSpPr/>
          <p:nvPr/>
        </p:nvSpPr>
        <p:spPr>
          <a:xfrm>
            <a:off x="3810000" y="24574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2409825"/>
            <a:ext cx="95250" cy="9525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381000" y="2647950"/>
            <a:ext cx="3524250" cy="3333750"/>
          </a:xfrm>
          <a:custGeom>
            <a:avLst/>
            <a:gdLst/>
            <a:ahLst/>
            <a:cxnLst/>
            <a:rect l="l" t="t" r="r" b="b"/>
            <a:pathLst>
              <a:path w="3524250" h="3333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3238500"/>
                </a:lnTo>
                <a:cubicBezTo>
                  <a:pt x="3524250" y="3291105"/>
                  <a:pt x="3481605" y="3333750"/>
                  <a:pt x="3429000" y="3333750"/>
                </a:cubicBezTo>
                <a:lnTo>
                  <a:pt x="95250" y="3333750"/>
                </a:lnTo>
                <a:cubicBezTo>
                  <a:pt x="42645" y="3333750"/>
                  <a:pt x="0" y="3291105"/>
                  <a:pt x="0" y="3238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3366">
              <a:alpha val="4000"/>
            </a:srgbClr>
          </a:solidFill>
          <a:ln w="14288">
            <a:solidFill>
              <a:srgbClr val="003366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381000" y="2647950"/>
            <a:ext cx="3524250" cy="76200"/>
          </a:xfrm>
          <a:custGeom>
            <a:avLst/>
            <a:gdLst/>
            <a:ahLst/>
            <a:cxnLst/>
            <a:rect l="l" t="t" r="r" b="b"/>
            <a:pathLst>
              <a:path w="3524250" h="76200">
                <a:moveTo>
                  <a:pt x="47625" y="0"/>
                </a:moveTo>
                <a:lnTo>
                  <a:pt x="3476625" y="0"/>
                </a:lnTo>
                <a:cubicBezTo>
                  <a:pt x="3502928" y="0"/>
                  <a:pt x="3524250" y="17058"/>
                  <a:pt x="3524250" y="38100"/>
                </a:cubicBezTo>
                <a:lnTo>
                  <a:pt x="3524250" y="38100"/>
                </a:lnTo>
                <a:cubicBezTo>
                  <a:pt x="3524250" y="59142"/>
                  <a:pt x="3502928" y="76200"/>
                  <a:pt x="347662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381000" y="2647950"/>
            <a:ext cx="76200" cy="3333750"/>
          </a:xfrm>
          <a:custGeom>
            <a:avLst/>
            <a:gdLst/>
            <a:ahLst/>
            <a:cxnLst/>
            <a:rect l="l" t="t" r="r" b="b"/>
            <a:pathLst>
              <a:path w="76200" h="333375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21322"/>
                  <a:pt x="76200" y="47625"/>
                </a:cubicBezTo>
                <a:lnTo>
                  <a:pt x="76200" y="3286125"/>
                </a:lnTo>
                <a:cubicBezTo>
                  <a:pt x="76200" y="3312428"/>
                  <a:pt x="59142" y="3333750"/>
                  <a:pt x="38100" y="3333750"/>
                </a:cubicBezTo>
                <a:lnTo>
                  <a:pt x="38100" y="3333750"/>
                </a:lnTo>
                <a:cubicBezTo>
                  <a:pt x="17058" y="3333750"/>
                  <a:pt x="0" y="3312428"/>
                  <a:pt x="0" y="3286125"/>
                </a:cubicBezTo>
                <a:lnTo>
                  <a:pt x="0" y="47625"/>
                </a:lnTo>
                <a:cubicBezTo>
                  <a:pt x="0" y="21322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16916" y="2883218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① 核心贡献共识</a:t>
            </a:r>
          </a:p>
        </p:txBody>
      </p:sp>
      <p:sp>
        <p:nvSpPr>
          <p:cNvPr id="14" name="Freeform 14"/>
          <p:cNvSpPr/>
          <p:nvPr/>
        </p:nvSpPr>
        <p:spPr>
          <a:xfrm>
            <a:off x="857250" y="3105150"/>
            <a:ext cx="2571750" cy="19050"/>
          </a:xfrm>
          <a:custGeom>
            <a:avLst/>
            <a:gdLst/>
            <a:ahLst/>
            <a:cxnLst/>
            <a:rect l="l" t="t" r="r" b="b"/>
            <a:pathLst>
              <a:path w="2571750" h="19050">
                <a:moveTo>
                  <a:pt x="9525" y="0"/>
                </a:moveTo>
                <a:lnTo>
                  <a:pt x="2562225" y="0"/>
                </a:lnTo>
                <a:cubicBezTo>
                  <a:pt x="2567486" y="0"/>
                  <a:pt x="2571750" y="4264"/>
                  <a:pt x="2571750" y="9525"/>
                </a:cubicBezTo>
                <a:lnTo>
                  <a:pt x="2571750" y="9525"/>
                </a:lnTo>
                <a:cubicBezTo>
                  <a:pt x="2571750" y="14786"/>
                  <a:pt x="2567486" y="19050"/>
                  <a:pt x="2562225" y="19050"/>
                </a:cubicBezTo>
                <a:lnTo>
                  <a:pt x="9525" y="19050"/>
                </a:lnTo>
                <a:cubicBezTo>
                  <a:pt x="4264" y="19050"/>
                  <a:pt x="0" y="14786"/>
                  <a:pt x="0" y="9525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003366">
              <a:alpha val="2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57212" y="325993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结构化记忆比纯向量检索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7212" y="34790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具有本质性能优势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165" y="386810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Chronos 在对话记忆达 SOTA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8165" y="4096702"/>
            <a:ext cx="23116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（95.60%，+3.02% over prior）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8165" y="4382452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认知建模在长程决策达 SOTA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8165" y="4611052"/>
            <a:ext cx="18362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（SR 93.2%，MRU 80.1%）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8165" y="493490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两篇论文互相独立验证了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8165" y="5144452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同一核心原则的有效性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5448300"/>
            <a:ext cx="2952750" cy="438150"/>
          </a:xfrm>
          <a:custGeom>
            <a:avLst/>
            <a:gdLst/>
            <a:ahLst/>
            <a:cxnLst/>
            <a:rect l="l" t="t" r="r" b="b"/>
            <a:pathLst>
              <a:path w="2952750" h="438150">
                <a:moveTo>
                  <a:pt x="57150" y="0"/>
                </a:moveTo>
                <a:lnTo>
                  <a:pt x="2895600" y="0"/>
                </a:lnTo>
                <a:cubicBezTo>
                  <a:pt x="2927163" y="0"/>
                  <a:pt x="2952750" y="25587"/>
                  <a:pt x="2952750" y="57150"/>
                </a:cubicBezTo>
                <a:lnTo>
                  <a:pt x="2952750" y="381000"/>
                </a:lnTo>
                <a:cubicBezTo>
                  <a:pt x="2952750" y="412563"/>
                  <a:pt x="2927163" y="438150"/>
                  <a:pt x="2895600" y="438150"/>
                </a:cubicBezTo>
                <a:lnTo>
                  <a:pt x="57150" y="438150"/>
                </a:lnTo>
                <a:cubicBezTo>
                  <a:pt x="25587" y="438150"/>
                  <a:pt x="0" y="412563"/>
                  <a:pt x="0" y="3810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3366">
              <a:alpha val="8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38070" y="560165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记忆结构 → 推理质量 → 最终性能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33875" y="2647950"/>
            <a:ext cx="3524250" cy="3333750"/>
          </a:xfrm>
          <a:custGeom>
            <a:avLst/>
            <a:gdLst/>
            <a:ahLst/>
            <a:cxnLst/>
            <a:rect l="l" t="t" r="r" b="b"/>
            <a:pathLst>
              <a:path w="3524250" h="3333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3238500"/>
                </a:lnTo>
                <a:cubicBezTo>
                  <a:pt x="3524250" y="3291105"/>
                  <a:pt x="3481605" y="3333750"/>
                  <a:pt x="3429000" y="3333750"/>
                </a:cubicBezTo>
                <a:lnTo>
                  <a:pt x="95250" y="3333750"/>
                </a:lnTo>
                <a:cubicBezTo>
                  <a:pt x="42645" y="3333750"/>
                  <a:pt x="0" y="3291105"/>
                  <a:pt x="0" y="3238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66CC">
              <a:alpha val="4000"/>
            </a:srgbClr>
          </a:solidFill>
          <a:ln w="14288">
            <a:solidFill>
              <a:srgbClr val="0066CC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4333875" y="2647950"/>
            <a:ext cx="3524250" cy="76200"/>
          </a:xfrm>
          <a:custGeom>
            <a:avLst/>
            <a:gdLst/>
            <a:ahLst/>
            <a:cxnLst/>
            <a:rect l="l" t="t" r="r" b="b"/>
            <a:pathLst>
              <a:path w="3524250" h="76200">
                <a:moveTo>
                  <a:pt x="47625" y="0"/>
                </a:moveTo>
                <a:lnTo>
                  <a:pt x="3476625" y="0"/>
                </a:lnTo>
                <a:cubicBezTo>
                  <a:pt x="3502928" y="0"/>
                  <a:pt x="3524250" y="17058"/>
                  <a:pt x="3524250" y="38100"/>
                </a:cubicBezTo>
                <a:lnTo>
                  <a:pt x="3524250" y="38100"/>
                </a:lnTo>
                <a:cubicBezTo>
                  <a:pt x="3524250" y="59142"/>
                  <a:pt x="3502928" y="76200"/>
                  <a:pt x="347662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4333875" y="2647950"/>
            <a:ext cx="76200" cy="3333750"/>
          </a:xfrm>
          <a:custGeom>
            <a:avLst/>
            <a:gdLst/>
            <a:ahLst/>
            <a:cxnLst/>
            <a:rect l="l" t="t" r="r" b="b"/>
            <a:pathLst>
              <a:path w="76200" h="333375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21322"/>
                  <a:pt x="76200" y="47625"/>
                </a:cubicBezTo>
                <a:lnTo>
                  <a:pt x="76200" y="3286125"/>
                </a:lnTo>
                <a:cubicBezTo>
                  <a:pt x="76200" y="3312428"/>
                  <a:pt x="59142" y="3333750"/>
                  <a:pt x="38100" y="3333750"/>
                </a:cubicBezTo>
                <a:lnTo>
                  <a:pt x="38100" y="3333750"/>
                </a:lnTo>
                <a:cubicBezTo>
                  <a:pt x="17058" y="3333750"/>
                  <a:pt x="0" y="3312428"/>
                  <a:pt x="0" y="3286125"/>
                </a:cubicBezTo>
                <a:lnTo>
                  <a:pt x="0" y="47625"/>
                </a:lnTo>
                <a:cubicBezTo>
                  <a:pt x="0" y="21322"/>
                  <a:pt x="17058" y="0"/>
                  <a:pt x="381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473304" y="2883218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② 方法论互补</a:t>
            </a:r>
          </a:p>
        </p:txBody>
      </p:sp>
      <p:sp>
        <p:nvSpPr>
          <p:cNvPr id="29" name="Freeform 29"/>
          <p:cNvSpPr/>
          <p:nvPr/>
        </p:nvSpPr>
        <p:spPr>
          <a:xfrm>
            <a:off x="4810125" y="3105150"/>
            <a:ext cx="2571750" cy="19050"/>
          </a:xfrm>
          <a:custGeom>
            <a:avLst/>
            <a:gdLst/>
            <a:ahLst/>
            <a:cxnLst/>
            <a:rect l="l" t="t" r="r" b="b"/>
            <a:pathLst>
              <a:path w="2571750" h="19050">
                <a:moveTo>
                  <a:pt x="9525" y="0"/>
                </a:moveTo>
                <a:lnTo>
                  <a:pt x="2562225" y="0"/>
                </a:lnTo>
                <a:cubicBezTo>
                  <a:pt x="2567486" y="0"/>
                  <a:pt x="2571750" y="4264"/>
                  <a:pt x="2571750" y="9525"/>
                </a:cubicBezTo>
                <a:lnTo>
                  <a:pt x="2571750" y="9525"/>
                </a:lnTo>
                <a:cubicBezTo>
                  <a:pt x="2571750" y="14786"/>
                  <a:pt x="2567486" y="19050"/>
                  <a:pt x="2562225" y="19050"/>
                </a:cubicBezTo>
                <a:lnTo>
                  <a:pt x="9525" y="19050"/>
                </a:lnTo>
                <a:cubicBezTo>
                  <a:pt x="4264" y="19050"/>
                  <a:pt x="0" y="14786"/>
                  <a:pt x="0" y="9525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10088" y="325993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对话侧强调时序精度与动态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10088" y="34790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检索；决策侧强调认知闭环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11040" y="386810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Chronos：事件历法 + 工具调用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11040" y="4096702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→ 时序精确召回为核心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11040" y="43824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认知框架：注意力检索 + 策略生成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11040" y="46110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→ 长程决策一致性为目标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11040" y="493490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两者共同指向核心命题：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11040" y="5144452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记忆与推理的深度耦合</a:t>
            </a:r>
          </a:p>
        </p:txBody>
      </p:sp>
      <p:sp>
        <p:nvSpPr>
          <p:cNvPr id="38" name="Freeform 38"/>
          <p:cNvSpPr/>
          <p:nvPr/>
        </p:nvSpPr>
        <p:spPr>
          <a:xfrm>
            <a:off x="4524375" y="5448300"/>
            <a:ext cx="2952750" cy="438150"/>
          </a:xfrm>
          <a:custGeom>
            <a:avLst/>
            <a:gdLst/>
            <a:ahLst/>
            <a:cxnLst/>
            <a:rect l="l" t="t" r="r" b="b"/>
            <a:pathLst>
              <a:path w="2952750" h="438150">
                <a:moveTo>
                  <a:pt x="57150" y="0"/>
                </a:moveTo>
                <a:lnTo>
                  <a:pt x="2895600" y="0"/>
                </a:lnTo>
                <a:cubicBezTo>
                  <a:pt x="2927163" y="0"/>
                  <a:pt x="2952750" y="25587"/>
                  <a:pt x="2952750" y="57150"/>
                </a:cubicBezTo>
                <a:lnTo>
                  <a:pt x="2952750" y="381000"/>
                </a:lnTo>
                <a:cubicBezTo>
                  <a:pt x="2952750" y="412563"/>
                  <a:pt x="2927163" y="438150"/>
                  <a:pt x="2895600" y="438150"/>
                </a:cubicBezTo>
                <a:lnTo>
                  <a:pt x="57150" y="438150"/>
                </a:lnTo>
                <a:cubicBezTo>
                  <a:pt x="25587" y="438150"/>
                  <a:pt x="0" y="412563"/>
                  <a:pt x="0" y="3810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66CC">
              <a:alpha val="8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990624" y="56016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可探索跨场景迁移与融合路径</a:t>
            </a:r>
          </a:p>
        </p:txBody>
      </p:sp>
      <p:sp>
        <p:nvSpPr>
          <p:cNvPr id="40" name="Freeform 40"/>
          <p:cNvSpPr/>
          <p:nvPr/>
        </p:nvSpPr>
        <p:spPr>
          <a:xfrm>
            <a:off x="8286750" y="2647950"/>
            <a:ext cx="3524250" cy="3333750"/>
          </a:xfrm>
          <a:custGeom>
            <a:avLst/>
            <a:gdLst/>
            <a:ahLst/>
            <a:cxnLst/>
            <a:rect l="l" t="t" r="r" b="b"/>
            <a:pathLst>
              <a:path w="3524250" h="3333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3238500"/>
                </a:lnTo>
                <a:cubicBezTo>
                  <a:pt x="3524250" y="3291105"/>
                  <a:pt x="3481605" y="3333750"/>
                  <a:pt x="3429000" y="3333750"/>
                </a:cubicBezTo>
                <a:lnTo>
                  <a:pt x="95250" y="3333750"/>
                </a:lnTo>
                <a:cubicBezTo>
                  <a:pt x="42645" y="3333750"/>
                  <a:pt x="0" y="3291105"/>
                  <a:pt x="0" y="3238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7722">
              <a:alpha val="4000"/>
            </a:srgbClr>
          </a:solidFill>
          <a:ln w="14288">
            <a:solidFill>
              <a:srgbClr val="E87722"/>
            </a:solidFill>
          </a:ln>
        </p:spPr>
      </p:sp>
      <p:sp>
        <p:nvSpPr>
          <p:cNvPr id="41" name="Freeform 41"/>
          <p:cNvSpPr/>
          <p:nvPr/>
        </p:nvSpPr>
        <p:spPr>
          <a:xfrm>
            <a:off x="8286750" y="2647950"/>
            <a:ext cx="3524250" cy="76200"/>
          </a:xfrm>
          <a:custGeom>
            <a:avLst/>
            <a:gdLst/>
            <a:ahLst/>
            <a:cxnLst/>
            <a:rect l="l" t="t" r="r" b="b"/>
            <a:pathLst>
              <a:path w="3524250" h="76200">
                <a:moveTo>
                  <a:pt x="47625" y="0"/>
                </a:moveTo>
                <a:lnTo>
                  <a:pt x="3476625" y="0"/>
                </a:lnTo>
                <a:cubicBezTo>
                  <a:pt x="3502928" y="0"/>
                  <a:pt x="3524250" y="17058"/>
                  <a:pt x="3524250" y="38100"/>
                </a:cubicBezTo>
                <a:lnTo>
                  <a:pt x="3524250" y="38100"/>
                </a:lnTo>
                <a:cubicBezTo>
                  <a:pt x="3524250" y="59142"/>
                  <a:pt x="3502928" y="76200"/>
                  <a:pt x="3476625" y="76200"/>
                </a:cubicBezTo>
                <a:lnTo>
                  <a:pt x="47625" y="76200"/>
                </a:lnTo>
                <a:cubicBezTo>
                  <a:pt x="21322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21322" y="0"/>
                  <a:pt x="4762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42" name="Freeform 42"/>
          <p:cNvSpPr/>
          <p:nvPr/>
        </p:nvSpPr>
        <p:spPr>
          <a:xfrm>
            <a:off x="8286750" y="2647950"/>
            <a:ext cx="76200" cy="3333750"/>
          </a:xfrm>
          <a:custGeom>
            <a:avLst/>
            <a:gdLst/>
            <a:ahLst/>
            <a:cxnLst/>
            <a:rect l="l" t="t" r="r" b="b"/>
            <a:pathLst>
              <a:path w="76200" h="333375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21322"/>
                  <a:pt x="76200" y="47625"/>
                </a:cubicBezTo>
                <a:lnTo>
                  <a:pt x="76200" y="3286125"/>
                </a:lnTo>
                <a:cubicBezTo>
                  <a:pt x="76200" y="3312428"/>
                  <a:pt x="59142" y="3333750"/>
                  <a:pt x="38100" y="3333750"/>
                </a:cubicBezTo>
                <a:lnTo>
                  <a:pt x="38100" y="3333750"/>
                </a:lnTo>
                <a:cubicBezTo>
                  <a:pt x="17058" y="3333750"/>
                  <a:pt x="0" y="3312428"/>
                  <a:pt x="0" y="3286125"/>
                </a:cubicBezTo>
                <a:lnTo>
                  <a:pt x="0" y="47625"/>
                </a:lnTo>
                <a:cubicBezTo>
                  <a:pt x="0" y="21322"/>
                  <a:pt x="17058" y="0"/>
                  <a:pt x="3810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22666" y="2883218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③ 未来研究方向</a:t>
            </a:r>
          </a:p>
        </p:txBody>
      </p:sp>
      <p:sp>
        <p:nvSpPr>
          <p:cNvPr id="44" name="Freeform 44"/>
          <p:cNvSpPr/>
          <p:nvPr/>
        </p:nvSpPr>
        <p:spPr>
          <a:xfrm>
            <a:off x="8763000" y="3105150"/>
            <a:ext cx="2571750" cy="19050"/>
          </a:xfrm>
          <a:custGeom>
            <a:avLst/>
            <a:gdLst/>
            <a:ahLst/>
            <a:cxnLst/>
            <a:rect l="l" t="t" r="r" b="b"/>
            <a:pathLst>
              <a:path w="2571750" h="19050">
                <a:moveTo>
                  <a:pt x="9525" y="0"/>
                </a:moveTo>
                <a:lnTo>
                  <a:pt x="2562225" y="0"/>
                </a:lnTo>
                <a:cubicBezTo>
                  <a:pt x="2567486" y="0"/>
                  <a:pt x="2571750" y="4264"/>
                  <a:pt x="2571750" y="9525"/>
                </a:cubicBezTo>
                <a:lnTo>
                  <a:pt x="2571750" y="9525"/>
                </a:lnTo>
                <a:cubicBezTo>
                  <a:pt x="2571750" y="14786"/>
                  <a:pt x="2567486" y="19050"/>
                  <a:pt x="2562225" y="19050"/>
                </a:cubicBezTo>
                <a:lnTo>
                  <a:pt x="9525" y="19050"/>
                </a:lnTo>
                <a:cubicBezTo>
                  <a:pt x="4264" y="19050"/>
                  <a:pt x="0" y="14786"/>
                  <a:pt x="0" y="9525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E87722">
              <a:alpha val="3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462962" y="3259931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多个开放问题值得深入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62962" y="347900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探索与持续研究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63915" y="384905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连续学习中的记忆老化策略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63915" y="4077652"/>
            <a:ext cx="17442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多 Agent 共享记忆架构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63915" y="430625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认知建模向 LLM 对话场景迁移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63915" y="453485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微软雅黑"/>
                <a:ea typeface="Microsoft YaHei"/>
                <a:cs typeface="微软雅黑"/>
              </a:rPr>
              <a:t>• 高效记忆操作（减少检索噪声）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63915" y="4820602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从事件积累中学习、更新模型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63915" y="5030152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权重是最前沿方向之一</a:t>
            </a:r>
          </a:p>
        </p:txBody>
      </p:sp>
      <p:sp>
        <p:nvSpPr>
          <p:cNvPr id="53" name="Freeform 53"/>
          <p:cNvSpPr/>
          <p:nvPr/>
        </p:nvSpPr>
        <p:spPr>
          <a:xfrm>
            <a:off x="8477250" y="5448300"/>
            <a:ext cx="2952750" cy="438150"/>
          </a:xfrm>
          <a:custGeom>
            <a:avLst/>
            <a:gdLst/>
            <a:ahLst/>
            <a:cxnLst/>
            <a:rect l="l" t="t" r="r" b="b"/>
            <a:pathLst>
              <a:path w="2952750" h="438150">
                <a:moveTo>
                  <a:pt x="57150" y="0"/>
                </a:moveTo>
                <a:lnTo>
                  <a:pt x="2895600" y="0"/>
                </a:lnTo>
                <a:cubicBezTo>
                  <a:pt x="2927163" y="0"/>
                  <a:pt x="2952750" y="25587"/>
                  <a:pt x="2952750" y="57150"/>
                </a:cubicBezTo>
                <a:lnTo>
                  <a:pt x="2952750" y="381000"/>
                </a:lnTo>
                <a:cubicBezTo>
                  <a:pt x="2952750" y="412563"/>
                  <a:pt x="2927163" y="438150"/>
                  <a:pt x="2895600" y="438150"/>
                </a:cubicBezTo>
                <a:lnTo>
                  <a:pt x="57150" y="438150"/>
                </a:lnTo>
                <a:cubicBezTo>
                  <a:pt x="25587" y="438150"/>
                  <a:pt x="0" y="412563"/>
                  <a:pt x="0" y="3810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7722">
              <a:alpha val="10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9096851" y="56016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7722"/>
                </a:solidFill>
                <a:latin typeface="微软雅黑"/>
                <a:ea typeface="Microsoft YaHei"/>
                <a:cs typeface="微软雅黑"/>
              </a:rPr>
              <a:t>持续演化的智能记忆系统</a:t>
            </a:r>
          </a:p>
        </p:txBody>
      </p:sp>
      <p:sp>
        <p:nvSpPr>
          <p:cNvPr id="55" name="Rectangle 55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2904565" y="6486049"/>
            <a:ext cx="6382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arXiv:2603.16862 (Chronos, Lumer et al., 2026) | preprints202602.1990 (Yang et al., 2026)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24952" y="64941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12 / 12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