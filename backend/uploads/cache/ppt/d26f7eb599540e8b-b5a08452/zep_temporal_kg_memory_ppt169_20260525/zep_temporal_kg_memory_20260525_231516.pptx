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大家好，今天我要给大家介绍的是来自 Zep AI 团队的一篇论文，题目叫做《ZEP：面向智能体记忆的时序知识图谱架构》，发表于 2025 年 1 月，arxiv 编号 2501.13956。这篇工作的核心贡献是设计了一套叫 Zep 的记忆层服务，专门解决 AI 智能体在长期交互中面临的记忆难题。接下来我会带大家从动机、架构、检索机制到实验结果，系统梳理这篇论文的主要内容。</a:t>
            </a:r>
          </a:p>
          <a:p>
            <a:endParaRPr lang="zh-CN" dirty="0"/>
          </a:p>
          <a:p>
            <a:r>
              <a:rPr lang="zh-CN" dirty="0"/>
              <a:t>要点：① 论文作者与机构 ② 核心研究问题 ③ 今日汇报结构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在正式进入技术细节之前，先带大家看一眼今天汇报的整体结构。</a:t>
            </a:r>
          </a:p>
          <a:p>
            <a:endParaRPr lang="zh-CN" dirty="0"/>
          </a:p>
          <a:p>
            <a:r>
              <a:rPr lang="zh-CN" dirty="0"/>
              <a:t>本次汇报分为六个部分：首先是研究背景，讲清楚为什么需要 Zep 这样的系统；第二部分介绍知识图谱的构建方法，包括三层架构；第三部分讲双时态模型和实体关系提取；第四部分是记忆检索的三阶段管道；第五部分是两套基准测试的实验结果；最后是核心贡献的总结。整个汇报大约需要 20 分钟，欢迎随时提问。</a:t>
            </a:r>
          </a:p>
          <a:p>
            <a:endParaRPr lang="zh-CN" dirty="0"/>
          </a:p>
          <a:p>
            <a:r>
              <a:rPr lang="zh-CN" dirty="0"/>
              <a:t>要点：① 六大章节结构 ② 先动机后技术再实验的逻辑主线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我们先来看看，这篇论文究竟要解决什么问题。</a:t>
            </a:r>
          </a:p>
          <a:p>
            <a:endParaRPr lang="zh-CN" dirty="0"/>
          </a:p>
          <a:p>
            <a:r>
              <a:rPr lang="zh-CN" dirty="0"/>
              <a:t>当前 AI 智能体面临三个核心挑战。第一，LLM 的上下文窗口是有限的，企业真实场景里的对话历史平均长达 11.5 万 token，根本放不进去。第二，现有的 RAG 方案只能检索静态文档，没法追踪关系的演化——比如"Alice 上周换了工作"这类动态事实。第三，缺乏结构化记忆会导致 LLM 幻觉和跨会话信息断裂。[停顿] Zep 的解法是引入 Graphiti——一个能动态摄入对话和业务数据、维护事实时效性、同时兼顾延迟和扩展性的时序知识图谱引擎。</a:t>
            </a:r>
          </a:p>
          <a:p>
            <a:endParaRPr lang="zh-CN" dirty="0"/>
          </a:p>
          <a:p>
            <a:r>
              <a:rPr lang="zh-CN" dirty="0"/>
              <a:t>要点：① 三大挑战（窗口限制/静态RAG/幻觉） ② Zep解法 ③ 核心成果预览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明白了动机，我们来看 Zep 的知识图谱是怎么组织的。</a:t>
            </a:r>
          </a:p>
          <a:p>
            <a:endParaRPr lang="zh-CN" dirty="0"/>
          </a:p>
          <a:p>
            <a:r>
              <a:rPr lang="zh-CN" dirty="0"/>
              <a:t>Zep 的知识图谱 G 由三层子图构成，就像人类记忆的层次结构一样。最底层是情节子图，存储原始的消息、文本和 JSON 数据，就像我们记住具体发生过什么事；中间层是语义实体子图，把情节里的实体和关系抽取出来，构建成知识网络，对应我们对概念和关联的理解；最顶层是社区子图，把语义上强连通的实体聚类成社区节点，附上摘要，支持全局域级别的理解。这三层的设计参考了心理学上的情节记忆和语义记忆模型，也借鉴了 GraphRAG 和 AriGraph 的思路。</a:t>
            </a:r>
          </a:p>
          <a:p>
            <a:endParaRPr lang="zh-CN" dirty="0"/>
          </a:p>
          <a:p>
            <a:r>
              <a:rPr lang="zh-CN" dirty="0"/>
              <a:t>要点：① 三层子图定义 ② 每层存储内容 ③ 类比人类记忆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知道了整体架构，我们来看 Zep 里最关键的时序特性——双时态建模。</a:t>
            </a:r>
          </a:p>
          <a:p>
            <a:endParaRPr lang="zh-CN" dirty="0"/>
          </a:p>
          <a:p>
            <a:r>
              <a:rPr lang="zh-CN" dirty="0"/>
              <a:t>Zep 引入了两条时间轴。T 轴表示现实世界的事件时序，用 t_valid 到 t_invalid 标记一个事实在现实中成立的时间区间；T' 轴是系统的事务时间，记录数据是什么时候被录入或失效的，主要用于审计。[停顿] 这套双时态模型有个非常实用的功能——当新信息和旧事实产生语义矛盾时，系统会自动让旧边失效。比如"Alice 是 Zep 的 CTO"这条信息录入后，如果之后又来了"Alice 离开了 Zep"，系统就会把前一条边设为失效。底部的三步提取流程，从 NER 实体识别到事实三元组提取，再到 Neo4j 写入，整个链路设计得非常稳健。</a:t>
            </a:r>
          </a:p>
          <a:p>
            <a:endParaRPr lang="zh-CN" dirty="0"/>
          </a:p>
          <a:p>
            <a:r>
              <a:rPr lang="zh-CN" dirty="0"/>
              <a:t>要点：① T轴与T'轴区别 ② 边失效机制 ③ 三步提取流程</a:t>
            </a:r>
          </a:p>
          <a:p>
            <a:r>
              <a:rPr lang="zh-CN" dirty="0"/>
              <a:t>时长：2.5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我们刚才说到知识图谱的三层结构，现在来深入看看最顶层的社区子图是怎么动态维护的。</a:t>
            </a:r>
          </a:p>
          <a:p>
            <a:endParaRPr lang="zh-CN" dirty="0"/>
          </a:p>
          <a:p>
            <a:r>
              <a:rPr lang="zh-CN" dirty="0"/>
              <a:t>Zep 和 GraphRAG 都有社区节点，但构建方式不同。GraphRAG 使用 Leiden 算法，每次有新数据都需要全量重跑，代价很高。Zep 改用标签传播算法的动态扩展版本——每次有新实体节点加入时，只更新它的邻居社区，把计算量降到最小。右侧展示的是完整的图构建流程，从摄入 Episode 到最终写入 Neo4j，一共五个步骤，整个流程支持流式数据持续摄入，非常适合企业级实时对话场景。</a:t>
            </a:r>
          </a:p>
          <a:p>
            <a:endParaRPr lang="zh-CN" dirty="0"/>
          </a:p>
          <a:p>
            <a:r>
              <a:rPr lang="zh-CN" dirty="0"/>
              <a:t>要点：① Leiden vs 标签传播 ② 动态单步扩展原理 ③ 完整五步构建流程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图构建完了，用户提问的时候 Zep 怎么从图里把最相关的信息找出来呢？这就是检索管道的工作。</a:t>
            </a:r>
          </a:p>
          <a:p>
            <a:endParaRPr lang="zh-CN" dirty="0"/>
          </a:p>
          <a:p>
            <a:r>
              <a:rPr lang="zh-CN" dirty="0"/>
              <a:t>Zep 的检索函数 f(α) = χ(ρ(φ(α)))，由三个阶段组成。第一阶段 φ 是搜索，同时运行三种互补的搜索方式：余弦语义搜索捕捉向量空间里的语义相似性；BM25 全文搜索捕捉词汇相似性，擅长精确匹配专有名词；广度优先搜索从图结构维度出发，找出在对话上下文中距离近的节点。第二阶段 ρ 是重排，把三路召回的结果进行精排，支持 RRF、MMR、频率重排等多种策略，还有基于交叉编码器的 LLM 精排。最后 χ 构造阶段把结果格式化成 FACTS + ENTITIES 字符串，直接给 LLM 用。</a:t>
            </a:r>
          </a:p>
          <a:p>
            <a:endParaRPr lang="zh-CN" dirty="0"/>
          </a:p>
          <a:p>
            <a:r>
              <a:rPr lang="zh-CN" dirty="0"/>
              <a:t>要点：① 三步公式 f=χ(ρ(φ)) ② 三种搜索的互补性 ③ 重排策略</a:t>
            </a:r>
          </a:p>
          <a:p>
            <a:r>
              <a:rPr lang="zh-CN" dirty="0"/>
              <a:t>时长：2.5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接下来我们看论文的实验部分，先了解一下他们用了哪两套评测基准。</a:t>
            </a:r>
          </a:p>
          <a:p>
            <a:endParaRPr lang="zh-CN" dirty="0"/>
          </a:p>
          <a:p>
            <a:r>
              <a:rPr lang="zh-CN" dirty="0"/>
              <a:t>第一套是 MemGPT 团队提出的 DMR（深度记忆检索）基准，500 条多会话对话，每条 5 个会话，每会话最多 12 条消息，评测方式是单轮事实问答。第二套是 LongMemEval，这套基准更接近企业真实场景，对话平均长达 11.5 万 token，涵盖单会话、跨会话、时序推理等 6 种问题类型。模型配置方面，嵌入和重排用 BAAI 的 BGE-m3，图构建用 gpt-4o-mini，问答生成用 gpt-4o-mini 和 gpt-4o 两组。需要注意的是，Zep 服务部署在 AWS 上，测试机器在波士顿，网络延迟被算进了 Zep 的响应时间，对 Zep 的延迟测量其实是不利的。</a:t>
            </a:r>
          </a:p>
          <a:p>
            <a:endParaRPr lang="zh-CN" dirty="0"/>
          </a:p>
          <a:p>
            <a:r>
              <a:rPr lang="zh-CN" dirty="0"/>
              <a:t>要点：① 两套基准的难度差异 ② 模型配置 ③ 测试环境说明（网络延迟注意事项）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先看 DMR 的结果。</a:t>
            </a:r>
          </a:p>
          <a:p>
            <a:endParaRPr lang="zh-CN" dirty="0"/>
          </a:p>
          <a:p>
            <a:r>
              <a:rPr lang="zh-CN" dirty="0"/>
              <a:t>在 gpt-4-turbo 下，Zep 达到 94.8%，超过了 MemGPT 的 93.4%。切换到 gpt-4o-mini 后，Zep 进一步提升到 98.2%，优于同模型下的全上下文基线 98.0%。这个结果确实超越了当前 SOTA。不过论文作者也很坦诚地指出了 DMR 的局限性：60 条消息完全可以放进 LLM 的上下文窗口，所以简单的全上下文方法也能达到 94.4% 的高分，说明这个基准本身就不太难。而且 DMR 只考察单轮事实问答，不涉及复杂的时序推理，不够代表真实企业场景。这也是为什么他们专门在 LongMemEval 上做了评测。</a:t>
            </a:r>
          </a:p>
          <a:p>
            <a:endParaRPr lang="zh-CN" dirty="0"/>
          </a:p>
          <a:p>
            <a:r>
              <a:rPr lang="zh-CN" dirty="0"/>
              <a:t>要点：① Zep超越MemGPT（94.8% vs 93.4%） ② DMR的局限性分析 ③ 引出LongMemEval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LongMemEval 才是这篇论文真正有说服力的实验结果。</a:t>
            </a:r>
          </a:p>
          <a:p>
            <a:endParaRPr lang="zh-CN" dirty="0"/>
          </a:p>
          <a:p>
            <a:r>
              <a:rPr lang="zh-CN" dirty="0"/>
              <a:t>用 gpt-4o-mini 时，Zep 的准确率从基线的 55.4% 提升到 63.8%，提升了 15.2%；用 gpt-4o 时，提升幅度更大，达到 18.5%。更令人印象深刻的是延迟表现：基线方案因为要把 11.5 万 token 全部送入模型，平均响应需要 31.3 秒；Zep 只把最相关的约 1600 个 token 送给模型，响应时间降到了 3.2 秒，降低了 90%。上下文 token 从 11.5 万压缩到 1600，节省幅度高达 99%，这意味着企业在 API 成本上也能大幅降低。[停顿] 这三个数字——准确率更高、延迟更低、成本更小，共同说明 Zep 在企业真实场景中的实用价值。</a:t>
            </a:r>
          </a:p>
          <a:p>
            <a:endParaRPr lang="zh-CN" dirty="0"/>
          </a:p>
          <a:p>
            <a:r>
              <a:rPr lang="zh-CN" dirty="0"/>
              <a:t>要点：① 准确率提升15.2–18.5% ② 延迟降低90% ③ Token压缩99%的成本价值</a:t>
            </a:r>
          </a:p>
          <a:p>
            <a:r>
              <a:rPr lang="zh-CN" dirty="0"/>
              <a:t>时长：2.5 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总结一下这篇论文的三大核心技术贡献。</a:t>
            </a:r>
          </a:p>
          <a:p>
            <a:endParaRPr lang="zh-CN" dirty="0"/>
          </a:p>
          <a:p>
            <a:r>
              <a:rPr lang="zh-CN" dirty="0"/>
              <a:t>第一是 Graphiti 时序知识图谱引擎，用双时态建模精准追踪事实有效期，新事实能自动失效矛盾的旧边，原始数据非无损保存支持溯源。第二是三层分级记忆架构，情节—语义—社区三层类比人类记忆结构，从细节到全局都能覆盖，且社区子图支持动态增量更新。第三是混合检索加重排的组合管道，三路搜索并行召回，多策略精排提升准确率。底部的四个数字概括了论文的量化成果：LongMemEval 准确率提升 18.5%，响应延迟降低 90%，上下文压缩 99%，DMR 准确率 94.8%。这套方案已经是生产可用的系统，开源在 GitHub，非常适合企业 AI Agent 的记忆层建设。</a:t>
            </a:r>
          </a:p>
          <a:p>
            <a:endParaRPr lang="zh-CN" dirty="0"/>
          </a:p>
          <a:p>
            <a:r>
              <a:rPr lang="zh-CN" dirty="0"/>
              <a:t>要点：① 三大技术贡献 ② 四个核心量化指标 ③ 开源与生产可用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以上就是今天的全部内容，感谢大家的耐心聆听。</a:t>
            </a:r>
          </a:p>
          <a:p>
            <a:endParaRPr lang="zh-CN" dirty="0"/>
          </a:p>
          <a:p>
            <a:r>
              <a:rPr lang="zh-CN" dirty="0"/>
              <a:t>这篇论文的核心洞察在于，不是所有信息都值得放进 LLM 的上下文窗口——通过知识图谱的结构化记忆，Zep 既提升了准确率，又大幅降低了延迟和成本，三者同时改善。如果大家在做 AI Agent 相关研究，或者对知识图谱在 RAG 中的应用感兴趣，这篇论文值得深读。论文地址是 arXiv:2501.13956，代码开源在 getzep.com。[停顿] 我的汇报到此结束，欢迎大家提问，也欢迎课后继续交流。</a:t>
            </a:r>
          </a:p>
          <a:p>
            <a:endParaRPr lang="zh-CN" dirty="0"/>
          </a:p>
          <a:p>
            <a:r>
              <a:rPr lang="zh-CN" dirty="0"/>
              <a:t>要点：① 核心洞察总结 ② 论文地址与代码链接 ③ 开放提问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055AA"/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1047750"/>
          </a:xfrm>
          <a:prstGeom prst="rect">
            <a:avLst/>
          </a:prstGeom>
          <a:solidFill>
            <a:srgbClr val="F07C00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10096500" y="266700"/>
            <a:ext cx="1714500" cy="514350"/>
            <a:chOff x="10096500" y="266700"/>
            <a:chExt cx="1714500" cy="514350"/>
          </a:xfrm>
        </p:grpSpPr>
        <p:sp>
          <p:nvSpPr>
            <p:cNvPr id="5" name="Freeform 5"/>
            <p:cNvSpPr/>
            <p:nvPr/>
          </p:nvSpPr>
          <p:spPr>
            <a:xfrm>
              <a:off x="10096500" y="266700"/>
              <a:ext cx="1714500" cy="514350"/>
            </a:xfrm>
            <a:custGeom>
              <a:avLst/>
              <a:gdLst/>
              <a:ahLst/>
              <a:cxnLst/>
              <a:rect l="l" t="t" r="r" b="b"/>
              <a:pathLst>
                <a:path w="1714500" h="514350">
                  <a:moveTo>
                    <a:pt x="38100" y="0"/>
                  </a:moveTo>
                  <a:lnTo>
                    <a:pt x="1676400" y="0"/>
                  </a:lnTo>
                  <a:cubicBezTo>
                    <a:pt x="1697442" y="0"/>
                    <a:pt x="1714500" y="17058"/>
                    <a:pt x="1714500" y="38100"/>
                  </a:cubicBezTo>
                  <a:lnTo>
                    <a:pt x="1714500" y="476250"/>
                  </a:lnTo>
                  <a:cubicBezTo>
                    <a:pt x="1714500" y="497292"/>
                    <a:pt x="1697442" y="514350"/>
                    <a:pt x="1676400" y="514350"/>
                  </a:cubicBezTo>
                  <a:lnTo>
                    <a:pt x="38100" y="514350"/>
                  </a:lnTo>
                  <a:cubicBezTo>
                    <a:pt x="17058" y="514350"/>
                    <a:pt x="0" y="497292"/>
                    <a:pt x="0" y="4762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680878" y="461010"/>
              <a:ext cx="5457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ZEP AI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65760" y="480060"/>
            <a:ext cx="15902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 val="80000"/>
                  </a:srgbClr>
                </a:solidFill>
                <a:latin typeface="Arial"/>
                <a:ea typeface="Microsoft YaHei"/>
                <a:cs typeface="Arial"/>
              </a:rPr>
              <a:t>论文汇报 | 论文精读</a:t>
            </a:r>
          </a:p>
        </p:txBody>
      </p:sp>
      <p:sp>
        <p:nvSpPr>
          <p:cNvPr id="9" name="Ellipse 9"/>
          <p:cNvSpPr/>
          <p:nvPr/>
        </p:nvSpPr>
        <p:spPr>
          <a:xfrm>
            <a:off x="8858250" y="2190750"/>
            <a:ext cx="4191000" cy="4191000"/>
          </a:xfrm>
          <a:prstGeom prst="ellipse">
            <a:avLst/>
          </a:prstGeom>
          <a:solidFill>
            <a:srgbClr val="003366">
              <a:alpha val="4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525000" y="2857500"/>
            <a:ext cx="2857500" cy="2857500"/>
          </a:xfrm>
          <a:prstGeom prst="ellipse">
            <a:avLst/>
          </a:prstGeom>
          <a:solidFill>
            <a:srgbClr val="0066CC">
              <a:alpha val="5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-381000" y="4762500"/>
            <a:ext cx="2286000" cy="2286000"/>
          </a:xfrm>
          <a:prstGeom prst="ellipse">
            <a:avLst/>
          </a:prstGeom>
          <a:solidFill>
            <a:srgbClr val="E8F4FC">
              <a:alpha val="60000"/>
            </a:srgbClr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1551457" y="2231708"/>
            <a:ext cx="9089086" cy="1116330"/>
            <a:chOff x="1551457" y="2231708"/>
            <a:chExt cx="9089086" cy="1116330"/>
          </a:xfrm>
        </p:grpSpPr>
        <p:sp>
          <p:nvSpPr>
            <p:cNvPr id="12" name="TextBox 12"/>
            <p:cNvSpPr txBox="1"/>
            <p:nvPr/>
          </p:nvSpPr>
          <p:spPr>
            <a:xfrm>
              <a:off x="1551457" y="2231708"/>
              <a:ext cx="908908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ZEP：面向智能体记忆的时序知识图谱架构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67521" y="3012758"/>
              <a:ext cx="76569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ZEP: A Temporal Knowledge Graph Architecture for Agent Memory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00425" y="3524250"/>
            <a:ext cx="5391150" cy="95250"/>
            <a:chOff x="3400425" y="3524250"/>
            <a:chExt cx="5391150" cy="95250"/>
          </a:xfrm>
        </p:grpSpPr>
        <p:sp>
          <p:nvSpPr>
            <p:cNvPr id="15" name="Line 15"/>
            <p:cNvSpPr/>
            <p:nvPr/>
          </p:nvSpPr>
          <p:spPr>
            <a:xfrm>
              <a:off x="3429000" y="3571875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rgbClr val="0066CC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048375" y="3524250"/>
              <a:ext cx="95250" cy="95250"/>
            </a:xfrm>
            <a:prstGeom prst="ellipse">
              <a:avLst/>
            </a:prstGeom>
            <a:solidFill>
              <a:srgbClr val="F07C00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400425" y="3543300"/>
              <a:ext cx="57150" cy="571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734425" y="3543300"/>
              <a:ext cx="57150" cy="571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4107180" y="390239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Zep AI团队 | arXiv:2501.13956v1 | 2025年1月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3619500" y="4381500"/>
            <a:ext cx="4953000" cy="1047750"/>
            <a:chOff x="3619500" y="4381500"/>
            <a:chExt cx="4953000" cy="1047750"/>
          </a:xfrm>
        </p:grpSpPr>
        <p:sp>
          <p:nvSpPr>
            <p:cNvPr id="21" name="Freeform 21"/>
            <p:cNvSpPr/>
            <p:nvPr/>
          </p:nvSpPr>
          <p:spPr>
            <a:xfrm>
              <a:off x="3619500" y="4381500"/>
              <a:ext cx="4953000" cy="1047750"/>
            </a:xfrm>
            <a:custGeom>
              <a:avLst/>
              <a:gdLst/>
              <a:ahLst/>
              <a:cxnLst/>
              <a:rect l="l" t="t" r="r" b="b"/>
              <a:pathLst>
                <a:path w="4953000" h="1047750">
                  <a:moveTo>
                    <a:pt x="76200" y="0"/>
                  </a:moveTo>
                  <a:lnTo>
                    <a:pt x="4876800" y="0"/>
                  </a:lnTo>
                  <a:cubicBezTo>
                    <a:pt x="4918884" y="0"/>
                    <a:pt x="4953000" y="34116"/>
                    <a:pt x="4953000" y="76200"/>
                  </a:cubicBezTo>
                  <a:lnTo>
                    <a:pt x="4953000" y="971550"/>
                  </a:lnTo>
                  <a:cubicBezTo>
                    <a:pt x="4953000" y="1013634"/>
                    <a:pt x="4918884" y="1047750"/>
                    <a:pt x="4876800" y="1047750"/>
                  </a:cubicBezTo>
                  <a:lnTo>
                    <a:pt x="76200" y="1047750"/>
                  </a:lnTo>
                  <a:cubicBezTo>
                    <a:pt x="34116" y="1047750"/>
                    <a:pt x="0" y="1013634"/>
                    <a:pt x="0" y="97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  <a:effectLst>
              <a:outerShdw blurRad="190500" dist="47625" dir="10799312" algn="t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2" name="Freeform 22"/>
            <p:cNvSpPr/>
            <p:nvPr/>
          </p:nvSpPr>
          <p:spPr>
            <a:xfrm>
              <a:off x="3619500" y="4381500"/>
              <a:ext cx="57150" cy="1047750"/>
            </a:xfrm>
            <a:custGeom>
              <a:avLst/>
              <a:gdLst/>
              <a:ahLst/>
              <a:cxnLst/>
              <a:rect l="l" t="t" r="r" b="b"/>
              <a:pathLst>
                <a:path w="57150" h="1047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019175"/>
                  </a:lnTo>
                  <a:cubicBezTo>
                    <a:pt x="57150" y="1034957"/>
                    <a:pt x="44357" y="1047750"/>
                    <a:pt x="28575" y="1047750"/>
                  </a:cubicBezTo>
                  <a:lnTo>
                    <a:pt x="28575" y="1047750"/>
                  </a:lnTo>
                  <a:cubicBezTo>
                    <a:pt x="12793" y="1047750"/>
                    <a:pt x="0" y="1034957"/>
                    <a:pt x="0" y="1019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81743" y="4597718"/>
              <a:ext cx="18285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汇报人：[学生姓名]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95697" y="4918710"/>
              <a:ext cx="1800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指导教师：[教师姓名]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8935" y="5193506"/>
              <a:ext cx="16141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[所在高校/研究机构]</a:t>
              </a:r>
            </a:p>
          </p:txBody>
        </p:sp>
      </p:grpSp>
      <p:sp>
        <p:nvSpPr>
          <p:cNvPr id="27" name="Rectangle 27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254145" y="6543199"/>
            <a:ext cx="16837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2026年5月 | 学术论文汇报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F07C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940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 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89996" y="308610"/>
            <a:ext cx="5457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ZEP AI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62000" y="904875"/>
            <a:ext cx="5143500" cy="838200"/>
            <a:chOff x="762000" y="904875"/>
            <a:chExt cx="5143500" cy="838200"/>
          </a:xfrm>
        </p:grpSpPr>
        <p:sp>
          <p:nvSpPr>
            <p:cNvPr id="7" name="Freeform 7"/>
            <p:cNvSpPr/>
            <p:nvPr/>
          </p:nvSpPr>
          <p:spPr>
            <a:xfrm>
              <a:off x="762000" y="904875"/>
              <a:ext cx="5143500" cy="838200"/>
            </a:xfrm>
            <a:custGeom>
              <a:avLst/>
              <a:gdLst/>
              <a:ahLst/>
              <a:cxnLst/>
              <a:rect l="l" t="t" r="r" b="b"/>
              <a:pathLst>
                <a:path w="5143500" h="838200">
                  <a:moveTo>
                    <a:pt x="76200" y="0"/>
                  </a:moveTo>
                  <a:lnTo>
                    <a:pt x="5067300" y="0"/>
                  </a:lnTo>
                  <a:cubicBezTo>
                    <a:pt x="5109384" y="0"/>
                    <a:pt x="5143500" y="34116"/>
                    <a:pt x="5143500" y="76200"/>
                  </a:cubicBezTo>
                  <a:lnTo>
                    <a:pt x="5143500" y="762000"/>
                  </a:lnTo>
                  <a:cubicBezTo>
                    <a:pt x="5143500" y="804084"/>
                    <a:pt x="5109384" y="838200"/>
                    <a:pt x="5067300" y="838200"/>
                  </a:cubicBezTo>
                  <a:lnTo>
                    <a:pt x="76200" y="838200"/>
                  </a:lnTo>
                  <a:cubicBezTo>
                    <a:pt x="34116" y="838200"/>
                    <a:pt x="0" y="804084"/>
                    <a:pt x="0" y="762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762000" y="904875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809625"/>
                  </a:lnTo>
                  <a:cubicBezTo>
                    <a:pt x="57150" y="825407"/>
                    <a:pt x="44357" y="838200"/>
                    <a:pt x="28575" y="838200"/>
                  </a:cubicBezTo>
                  <a:lnTo>
                    <a:pt x="28575" y="838200"/>
                  </a:lnTo>
                  <a:cubicBezTo>
                    <a:pt x="12793" y="838200"/>
                    <a:pt x="0" y="825407"/>
                    <a:pt x="0" y="8096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12520" y="1102995"/>
              <a:ext cx="37379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76400" y="114300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研究背景与动机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0618" y="1466374"/>
              <a:ext cx="2822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LLM 上下文限制、静态 RAG 局限与 Zep 动机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86500" y="904875"/>
            <a:ext cx="5143500" cy="838200"/>
            <a:chOff x="6286500" y="904875"/>
            <a:chExt cx="5143500" cy="838200"/>
          </a:xfrm>
        </p:grpSpPr>
        <p:sp>
          <p:nvSpPr>
            <p:cNvPr id="13" name="Freeform 13"/>
            <p:cNvSpPr/>
            <p:nvPr/>
          </p:nvSpPr>
          <p:spPr>
            <a:xfrm>
              <a:off x="6286500" y="904875"/>
              <a:ext cx="5143500" cy="838200"/>
            </a:xfrm>
            <a:custGeom>
              <a:avLst/>
              <a:gdLst/>
              <a:ahLst/>
              <a:cxnLst/>
              <a:rect l="l" t="t" r="r" b="b"/>
              <a:pathLst>
                <a:path w="5143500" h="838200">
                  <a:moveTo>
                    <a:pt x="76200" y="0"/>
                  </a:moveTo>
                  <a:lnTo>
                    <a:pt x="5067300" y="0"/>
                  </a:lnTo>
                  <a:cubicBezTo>
                    <a:pt x="5109384" y="0"/>
                    <a:pt x="5143500" y="34116"/>
                    <a:pt x="5143500" y="76200"/>
                  </a:cubicBezTo>
                  <a:lnTo>
                    <a:pt x="5143500" y="762000"/>
                  </a:lnTo>
                  <a:cubicBezTo>
                    <a:pt x="5143500" y="804084"/>
                    <a:pt x="5109384" y="838200"/>
                    <a:pt x="5067300" y="838200"/>
                  </a:cubicBezTo>
                  <a:lnTo>
                    <a:pt x="76200" y="838200"/>
                  </a:lnTo>
                  <a:cubicBezTo>
                    <a:pt x="34116" y="838200"/>
                    <a:pt x="0" y="804084"/>
                    <a:pt x="0" y="762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6286500" y="904875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809625"/>
                  </a:lnTo>
                  <a:cubicBezTo>
                    <a:pt x="57150" y="825407"/>
                    <a:pt x="44357" y="838200"/>
                    <a:pt x="28575" y="838200"/>
                  </a:cubicBezTo>
                  <a:lnTo>
                    <a:pt x="28575" y="838200"/>
                  </a:lnTo>
                  <a:cubicBezTo>
                    <a:pt x="12793" y="838200"/>
                    <a:pt x="0" y="825407"/>
                    <a:pt x="0" y="8096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020" y="1102995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00900" y="114300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知识图谱构建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5118" y="1466374"/>
              <a:ext cx="27303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三层分级架构：情节、语义实体、社区子图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2000250"/>
            <a:ext cx="5143500" cy="838200"/>
            <a:chOff x="762000" y="2000250"/>
            <a:chExt cx="5143500" cy="838200"/>
          </a:xfrm>
        </p:grpSpPr>
        <p:sp>
          <p:nvSpPr>
            <p:cNvPr id="19" name="Freeform 19"/>
            <p:cNvSpPr/>
            <p:nvPr/>
          </p:nvSpPr>
          <p:spPr>
            <a:xfrm>
              <a:off x="762000" y="2000250"/>
              <a:ext cx="5143500" cy="838200"/>
            </a:xfrm>
            <a:custGeom>
              <a:avLst/>
              <a:gdLst/>
              <a:ahLst/>
              <a:cxnLst/>
              <a:rect l="l" t="t" r="r" b="b"/>
              <a:pathLst>
                <a:path w="5143500" h="838200">
                  <a:moveTo>
                    <a:pt x="76200" y="0"/>
                  </a:moveTo>
                  <a:lnTo>
                    <a:pt x="5067300" y="0"/>
                  </a:lnTo>
                  <a:cubicBezTo>
                    <a:pt x="5109384" y="0"/>
                    <a:pt x="5143500" y="34116"/>
                    <a:pt x="5143500" y="76200"/>
                  </a:cubicBezTo>
                  <a:lnTo>
                    <a:pt x="5143500" y="762000"/>
                  </a:lnTo>
                  <a:cubicBezTo>
                    <a:pt x="5143500" y="804084"/>
                    <a:pt x="5109384" y="838200"/>
                    <a:pt x="5067300" y="838200"/>
                  </a:cubicBezTo>
                  <a:lnTo>
                    <a:pt x="76200" y="838200"/>
                  </a:lnTo>
                  <a:cubicBezTo>
                    <a:pt x="34116" y="838200"/>
                    <a:pt x="0" y="804084"/>
                    <a:pt x="0" y="762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762000" y="2000250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809625"/>
                  </a:lnTo>
                  <a:cubicBezTo>
                    <a:pt x="57150" y="825407"/>
                    <a:pt x="44357" y="838200"/>
                    <a:pt x="28575" y="838200"/>
                  </a:cubicBezTo>
                  <a:lnTo>
                    <a:pt x="28575" y="838200"/>
                  </a:lnTo>
                  <a:cubicBezTo>
                    <a:pt x="12793" y="838200"/>
                    <a:pt x="0" y="825407"/>
                    <a:pt x="0" y="8096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12520" y="2198370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76400" y="2238375"/>
              <a:ext cx="23383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双时态模型与实体关系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0618" y="2561749"/>
              <a:ext cx="27303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双时态建模、实体提取、事实关系与边失效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2000250"/>
            <a:ext cx="5143500" cy="838200"/>
            <a:chOff x="6286500" y="2000250"/>
            <a:chExt cx="5143500" cy="838200"/>
          </a:xfrm>
        </p:grpSpPr>
        <p:sp>
          <p:nvSpPr>
            <p:cNvPr id="25" name="Freeform 25"/>
            <p:cNvSpPr/>
            <p:nvPr/>
          </p:nvSpPr>
          <p:spPr>
            <a:xfrm>
              <a:off x="6286500" y="2000250"/>
              <a:ext cx="5143500" cy="838200"/>
            </a:xfrm>
            <a:custGeom>
              <a:avLst/>
              <a:gdLst/>
              <a:ahLst/>
              <a:cxnLst/>
              <a:rect l="l" t="t" r="r" b="b"/>
              <a:pathLst>
                <a:path w="5143500" h="838200">
                  <a:moveTo>
                    <a:pt x="76200" y="0"/>
                  </a:moveTo>
                  <a:lnTo>
                    <a:pt x="5067300" y="0"/>
                  </a:lnTo>
                  <a:cubicBezTo>
                    <a:pt x="5109384" y="0"/>
                    <a:pt x="5143500" y="34116"/>
                    <a:pt x="5143500" y="76200"/>
                  </a:cubicBezTo>
                  <a:lnTo>
                    <a:pt x="5143500" y="762000"/>
                  </a:lnTo>
                  <a:cubicBezTo>
                    <a:pt x="5143500" y="804084"/>
                    <a:pt x="5109384" y="838200"/>
                    <a:pt x="5067300" y="838200"/>
                  </a:cubicBezTo>
                  <a:lnTo>
                    <a:pt x="76200" y="838200"/>
                  </a:lnTo>
                  <a:cubicBezTo>
                    <a:pt x="34116" y="838200"/>
                    <a:pt x="0" y="804084"/>
                    <a:pt x="0" y="762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6286500" y="2000250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809625"/>
                  </a:lnTo>
                  <a:cubicBezTo>
                    <a:pt x="57150" y="825407"/>
                    <a:pt x="44357" y="838200"/>
                    <a:pt x="28575" y="838200"/>
                  </a:cubicBezTo>
                  <a:lnTo>
                    <a:pt x="28575" y="838200"/>
                  </a:lnTo>
                  <a:cubicBezTo>
                    <a:pt x="12793" y="838200"/>
                    <a:pt x="0" y="825407"/>
                    <a:pt x="0" y="8096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37020" y="2198370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00900" y="22383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记忆检索系统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5118" y="2561749"/>
              <a:ext cx="20325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搜索-重排-构造三阶段检索管道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3095625"/>
            <a:ext cx="5143500" cy="838200"/>
            <a:chOff x="762000" y="3095625"/>
            <a:chExt cx="5143500" cy="838200"/>
          </a:xfrm>
        </p:grpSpPr>
        <p:sp>
          <p:nvSpPr>
            <p:cNvPr id="31" name="Freeform 31"/>
            <p:cNvSpPr/>
            <p:nvPr/>
          </p:nvSpPr>
          <p:spPr>
            <a:xfrm>
              <a:off x="762000" y="3095625"/>
              <a:ext cx="5143500" cy="838200"/>
            </a:xfrm>
            <a:custGeom>
              <a:avLst/>
              <a:gdLst/>
              <a:ahLst/>
              <a:cxnLst/>
              <a:rect l="l" t="t" r="r" b="b"/>
              <a:pathLst>
                <a:path w="5143500" h="838200">
                  <a:moveTo>
                    <a:pt x="76200" y="0"/>
                  </a:moveTo>
                  <a:lnTo>
                    <a:pt x="5067300" y="0"/>
                  </a:lnTo>
                  <a:cubicBezTo>
                    <a:pt x="5109384" y="0"/>
                    <a:pt x="5143500" y="34116"/>
                    <a:pt x="5143500" y="76200"/>
                  </a:cubicBezTo>
                  <a:lnTo>
                    <a:pt x="5143500" y="762000"/>
                  </a:lnTo>
                  <a:cubicBezTo>
                    <a:pt x="5143500" y="804084"/>
                    <a:pt x="5109384" y="838200"/>
                    <a:pt x="5067300" y="838200"/>
                  </a:cubicBezTo>
                  <a:lnTo>
                    <a:pt x="76200" y="838200"/>
                  </a:lnTo>
                  <a:cubicBezTo>
                    <a:pt x="34116" y="838200"/>
                    <a:pt x="0" y="804084"/>
                    <a:pt x="0" y="762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62000" y="3095625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809625"/>
                  </a:lnTo>
                  <a:cubicBezTo>
                    <a:pt x="57150" y="825407"/>
                    <a:pt x="44357" y="838200"/>
                    <a:pt x="28575" y="838200"/>
                  </a:cubicBezTo>
                  <a:lnTo>
                    <a:pt x="28575" y="838200"/>
                  </a:lnTo>
                  <a:cubicBezTo>
                    <a:pt x="12793" y="838200"/>
                    <a:pt x="0" y="825407"/>
                    <a:pt x="0" y="8096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12520" y="3293745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76400" y="33337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实验结果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30618" y="3657124"/>
              <a:ext cx="2296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DMR 与 LongMemEval 两大基准评测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86500" y="3095625"/>
            <a:ext cx="5143500" cy="838200"/>
            <a:chOff x="6286500" y="3095625"/>
            <a:chExt cx="5143500" cy="838200"/>
          </a:xfrm>
        </p:grpSpPr>
        <p:sp>
          <p:nvSpPr>
            <p:cNvPr id="37" name="Freeform 37"/>
            <p:cNvSpPr/>
            <p:nvPr/>
          </p:nvSpPr>
          <p:spPr>
            <a:xfrm>
              <a:off x="6286500" y="3095625"/>
              <a:ext cx="5143500" cy="838200"/>
            </a:xfrm>
            <a:custGeom>
              <a:avLst/>
              <a:gdLst/>
              <a:ahLst/>
              <a:cxnLst/>
              <a:rect l="l" t="t" r="r" b="b"/>
              <a:pathLst>
                <a:path w="5143500" h="838200">
                  <a:moveTo>
                    <a:pt x="76200" y="0"/>
                  </a:moveTo>
                  <a:lnTo>
                    <a:pt x="5067300" y="0"/>
                  </a:lnTo>
                  <a:cubicBezTo>
                    <a:pt x="5109384" y="0"/>
                    <a:pt x="5143500" y="34116"/>
                    <a:pt x="5143500" y="76200"/>
                  </a:cubicBezTo>
                  <a:lnTo>
                    <a:pt x="5143500" y="762000"/>
                  </a:lnTo>
                  <a:cubicBezTo>
                    <a:pt x="5143500" y="804084"/>
                    <a:pt x="5109384" y="838200"/>
                    <a:pt x="5067300" y="838200"/>
                  </a:cubicBezTo>
                  <a:lnTo>
                    <a:pt x="76200" y="838200"/>
                  </a:lnTo>
                  <a:cubicBezTo>
                    <a:pt x="34116" y="838200"/>
                    <a:pt x="0" y="804084"/>
                    <a:pt x="0" y="762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286500" y="3095625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809625"/>
                  </a:lnTo>
                  <a:cubicBezTo>
                    <a:pt x="57150" y="825407"/>
                    <a:pt x="44357" y="838200"/>
                    <a:pt x="28575" y="838200"/>
                  </a:cubicBezTo>
                  <a:lnTo>
                    <a:pt x="28575" y="838200"/>
                  </a:lnTo>
                  <a:cubicBezTo>
                    <a:pt x="12793" y="838200"/>
                    <a:pt x="0" y="825407"/>
                    <a:pt x="0" y="8096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37020" y="3293745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00900" y="3333750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结论与贡献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55118" y="365712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三大技术贡献与核心量化成果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4286250"/>
            <a:ext cx="10668000" cy="481012"/>
            <a:chOff x="762000" y="4286250"/>
            <a:chExt cx="10668000" cy="481012"/>
          </a:xfrm>
        </p:grpSpPr>
        <p:sp>
          <p:nvSpPr>
            <p:cNvPr id="43" name="Rectangle 43"/>
            <p:cNvSpPr/>
            <p:nvPr/>
          </p:nvSpPr>
          <p:spPr>
            <a:xfrm>
              <a:off x="762000" y="4286250"/>
              <a:ext cx="10668000" cy="1905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510802" y="4553902"/>
              <a:ext cx="31703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AAAAA"/>
                  </a:solidFill>
                  <a:latin typeface="Arial"/>
                  <a:ea typeface="Microsoft YaHei"/>
                  <a:cs typeface="Arial"/>
                </a:rPr>
                <a:t>arXiv:2501.13956v1 · Zep AI团队 · 2025年1月</a:t>
              </a:r>
            </a:p>
          </p:txBody>
        </p:sp>
      </p:grpSp>
      <p:sp>
        <p:nvSpPr>
          <p:cNvPr id="46" name="Line 4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713238" y="6522720"/>
            <a:ext cx="7655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ZEP论文汇报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245001" y="6514624"/>
            <a:ext cx="387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 / 12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F07C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248668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研究背景与动机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77778" y="32480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ZEP AI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5760" y="842010"/>
            <a:ext cx="80048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LLM 上下文窗口有限，传统 RAG 无法处理动态演化的企业数据 → Zep 以时序知识图谱解决这一根本局限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507682" y="1462564"/>
            <a:ext cx="4397693" cy="4252436"/>
            <a:chOff x="507682" y="1462564"/>
            <a:chExt cx="4397693" cy="4252436"/>
          </a:xfrm>
        </p:grpSpPr>
        <p:sp>
          <p:nvSpPr>
            <p:cNvPr id="10" name="TextBox 10"/>
            <p:cNvSpPr txBox="1"/>
            <p:nvPr/>
          </p:nvSpPr>
          <p:spPr>
            <a:xfrm>
              <a:off x="507682" y="14625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三大核心挑战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23875" y="1657350"/>
              <a:ext cx="2238375" cy="9525"/>
            </a:xfrm>
            <a:custGeom>
              <a:avLst/>
              <a:gdLst/>
              <a:ahLst/>
              <a:cxnLst/>
              <a:rect l="l" t="t" r="r" b="b"/>
              <a:pathLst>
                <a:path w="2238375" h="9525">
                  <a:moveTo>
                    <a:pt x="0" y="0"/>
                  </a:moveTo>
                  <a:lnTo>
                    <a:pt x="2238375" y="0"/>
                  </a:lnTo>
                </a:path>
              </a:pathLst>
            </a:custGeom>
            <a:noFill/>
            <a:ln w="19050">
              <a:solidFill>
                <a:srgbClr val="F07C00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23875" y="1762125"/>
              <a:ext cx="4381500" cy="1238250"/>
              <a:chOff x="523875" y="1762125"/>
              <a:chExt cx="4381500" cy="123825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23875" y="1762125"/>
                <a:ext cx="4381500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1238250">
                    <a:moveTo>
                      <a:pt x="76200" y="0"/>
                    </a:moveTo>
                    <a:lnTo>
                      <a:pt x="4305300" y="0"/>
                    </a:lnTo>
                    <a:cubicBezTo>
                      <a:pt x="4347384" y="0"/>
                      <a:pt x="4381500" y="34116"/>
                      <a:pt x="4381500" y="76200"/>
                    </a:cubicBezTo>
                    <a:lnTo>
                      <a:pt x="4381500" y="1162050"/>
                    </a:lnTo>
                    <a:cubicBezTo>
                      <a:pt x="4381500" y="1204134"/>
                      <a:pt x="4347384" y="1238250"/>
                      <a:pt x="4305300" y="1238250"/>
                    </a:cubicBezTo>
                    <a:lnTo>
                      <a:pt x="76200" y="1238250"/>
                    </a:lnTo>
                    <a:cubicBezTo>
                      <a:pt x="34116" y="1238250"/>
                      <a:pt x="0" y="1204134"/>
                      <a:pt x="0" y="1162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D0D7E0"/>
                </a:solidFill>
              </a:ln>
              <a:effectLst>
                <a:outerShdw blurRad="152400" dist="38100" dir="10799140" algn="t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23875" y="1762125"/>
                <a:ext cx="57150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238250">
                    <a:moveTo>
                      <a:pt x="28575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1209675"/>
                    </a:lnTo>
                    <a:cubicBezTo>
                      <a:pt x="57150" y="1225457"/>
                      <a:pt x="44357" y="1238250"/>
                      <a:pt x="28575" y="1238250"/>
                    </a:cubicBezTo>
                    <a:lnTo>
                      <a:pt x="28575" y="1238250"/>
                    </a:lnTo>
                    <a:cubicBezTo>
                      <a:pt x="12793" y="1238250"/>
                      <a:pt x="0" y="1225457"/>
                      <a:pt x="0" y="12096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F07C00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742950" y="1943100"/>
                <a:ext cx="228600" cy="228600"/>
                <a:chOff x="742950" y="1943100"/>
                <a:chExt cx="228600" cy="22860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857250" y="2070100"/>
                  <a:ext cx="889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1600">
                      <a:moveTo>
                        <a:pt x="44450" y="0"/>
                      </a:moveTo>
                      <a:cubicBezTo>
                        <a:pt x="19901" y="0"/>
                        <a:pt x="0" y="19901"/>
                        <a:pt x="0" y="44450"/>
                      </a:cubicBezTo>
                      <a:lnTo>
                        <a:pt x="0" y="57150"/>
                      </a:lnTo>
                      <a:cubicBezTo>
                        <a:pt x="0" y="81699"/>
                        <a:pt x="19901" y="101600"/>
                        <a:pt x="44450" y="101600"/>
                      </a:cubicBezTo>
                      <a:cubicBezTo>
                        <a:pt x="68999" y="101600"/>
                        <a:pt x="88900" y="81699"/>
                        <a:pt x="88900" y="57150"/>
                      </a:cubicBezTo>
                      <a:lnTo>
                        <a:pt x="88900" y="34290"/>
                      </a:ln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768350" y="2070100"/>
                  <a:ext cx="889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1600">
                      <a:moveTo>
                        <a:pt x="44450" y="0"/>
                      </a:move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57150"/>
                      </a:lnTo>
                      <a:cubicBezTo>
                        <a:pt x="88900" y="81699"/>
                        <a:pt x="68999" y="101600"/>
                        <a:pt x="44450" y="101600"/>
                      </a:cubicBezTo>
                      <a:cubicBezTo>
                        <a:pt x="19901" y="101600"/>
                        <a:pt x="0" y="81699"/>
                        <a:pt x="0" y="57150"/>
                      </a:cubicBezTo>
                      <a:lnTo>
                        <a:pt x="0" y="34290"/>
                      </a:ln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20750" y="2019300"/>
                  <a:ext cx="50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88900">
                      <a:moveTo>
                        <a:pt x="6350" y="88900"/>
                      </a:moveTo>
                      <a:cubicBezTo>
                        <a:pt x="30899" y="88900"/>
                        <a:pt x="50800" y="68999"/>
                        <a:pt x="50800" y="44450"/>
                      </a:cubicBezTo>
                      <a:cubicBezTo>
                        <a:pt x="50800" y="19901"/>
                        <a:pt x="30899" y="0"/>
                        <a:pt x="635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857250" y="1943100"/>
                  <a:ext cx="88900" cy="80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0010">
                      <a:moveTo>
                        <a:pt x="88900" y="80010"/>
                      </a:moveTo>
                      <a:lnTo>
                        <a:pt x="88900" y="44450"/>
                      </a:ln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742950" y="2019300"/>
                  <a:ext cx="50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88900">
                      <a:moveTo>
                        <a:pt x="44450" y="88900"/>
                      </a:moveTo>
                      <a:cubicBezTo>
                        <a:pt x="19901" y="88900"/>
                        <a:pt x="0" y="68999"/>
                        <a:pt x="0" y="44450"/>
                      </a:cubicBez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50800" y="0"/>
                      </a:ln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768350" y="1943100"/>
                  <a:ext cx="889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71450">
                      <a:moveTo>
                        <a:pt x="0" y="80010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171450"/>
                      </a:ln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089660" y="1985010"/>
                <a:ext cx="13186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上下文窗口限制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1515" y="2229802"/>
                <a:ext cx="285602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完整对话历史无法放入 LLM 上下文（企业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91515" y="2420302"/>
                <a:ext cx="23652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场景对话平均达 115,000 tokens）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92468" y="2666524"/>
                <a:ext cx="25665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99999"/>
                    </a:solidFill>
                    <a:latin typeface="Arial"/>
                    <a:ea typeface="Microsoft YaHei"/>
                    <a:cs typeface="Arial"/>
                  </a:rPr>
                  <a:t>→ 需要外部记忆机制压缩并检索历史信息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23875" y="3124200"/>
              <a:ext cx="4381500" cy="1238250"/>
              <a:chOff x="523875" y="3124200"/>
              <a:chExt cx="4381500" cy="12382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23875" y="3124200"/>
                <a:ext cx="4381500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1238250">
                    <a:moveTo>
                      <a:pt x="76200" y="0"/>
                    </a:moveTo>
                    <a:lnTo>
                      <a:pt x="4305300" y="0"/>
                    </a:lnTo>
                    <a:cubicBezTo>
                      <a:pt x="4347384" y="0"/>
                      <a:pt x="4381500" y="34116"/>
                      <a:pt x="4381500" y="76200"/>
                    </a:cubicBezTo>
                    <a:lnTo>
                      <a:pt x="4381500" y="1162050"/>
                    </a:lnTo>
                    <a:cubicBezTo>
                      <a:pt x="4381500" y="1204134"/>
                      <a:pt x="4347384" y="1238250"/>
                      <a:pt x="4305300" y="1238250"/>
                    </a:cubicBezTo>
                    <a:lnTo>
                      <a:pt x="76200" y="1238250"/>
                    </a:lnTo>
                    <a:cubicBezTo>
                      <a:pt x="34116" y="1238250"/>
                      <a:pt x="0" y="1204134"/>
                      <a:pt x="0" y="1162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D0D7E0"/>
                </a:solidFill>
              </a:ln>
              <a:effectLst>
                <a:outerShdw blurRad="152400" dist="38100" dir="10799140" algn="t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23875" y="3124200"/>
                <a:ext cx="57150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238250">
                    <a:moveTo>
                      <a:pt x="28575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1209675"/>
                    </a:lnTo>
                    <a:cubicBezTo>
                      <a:pt x="57150" y="1225457"/>
                      <a:pt x="44357" y="1238250"/>
                      <a:pt x="28575" y="1238250"/>
                    </a:cubicBezTo>
                    <a:lnTo>
                      <a:pt x="28575" y="1238250"/>
                    </a:lnTo>
                    <a:cubicBezTo>
                      <a:pt x="12793" y="1238250"/>
                      <a:pt x="0" y="1225457"/>
                      <a:pt x="0" y="12096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755650" y="3305175"/>
                <a:ext cx="203200" cy="228600"/>
                <a:chOff x="755650" y="3305175"/>
                <a:chExt cx="203200" cy="22860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755650" y="3305175"/>
                  <a:ext cx="203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76200">
                      <a:moveTo>
                        <a:pt x="0" y="38100"/>
                      </a:moveTo>
                      <a:cubicBezTo>
                        <a:pt x="0" y="59142"/>
                        <a:pt x="45488" y="76200"/>
                        <a:pt x="101600" y="76200"/>
                      </a:cubicBezTo>
                      <a:cubicBezTo>
                        <a:pt x="157712" y="76200"/>
                        <a:pt x="203200" y="59142"/>
                        <a:pt x="203200" y="38100"/>
                      </a:cubicBezTo>
                      <a:cubicBezTo>
                        <a:pt x="203200" y="17058"/>
                        <a:pt x="157712" y="0"/>
                        <a:pt x="101600" y="0"/>
                      </a:cubicBezTo>
                      <a:cubicBezTo>
                        <a:pt x="4548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755650" y="3343275"/>
                  <a:ext cx="2032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200" y="97242"/>
                        <a:pt x="203200" y="76200"/>
                      </a:cubicBezTo>
                      <a:lnTo>
                        <a:pt x="203200" y="0"/>
                      </a:ln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755650" y="3419475"/>
                  <a:ext cx="2032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200" y="97242"/>
                        <a:pt x="203200" y="76200"/>
                      </a:cubicBezTo>
                      <a:lnTo>
                        <a:pt x="203200" y="0"/>
                      </a:ln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089660" y="3347085"/>
                <a:ext cx="11806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静态 RAG 局限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91515" y="3601402"/>
                <a:ext cx="267200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现有 RAG 只能检索静态文档，无法追踪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91515" y="3791902"/>
                <a:ext cx="26259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关系演化（如 "Alice 上周换了工作"）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92468" y="4038124"/>
                <a:ext cx="21393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99999"/>
                    </a:solidFill>
                    <a:latin typeface="Arial"/>
                    <a:ea typeface="Microsoft YaHei"/>
                    <a:cs typeface="Arial"/>
                  </a:rPr>
                  <a:t>→ 需要动态知识集成与时效性管理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523875" y="4476750"/>
              <a:ext cx="4381500" cy="1238250"/>
              <a:chOff x="523875" y="4476750"/>
              <a:chExt cx="4381500" cy="12382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23875" y="4476750"/>
                <a:ext cx="4381500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1238250">
                    <a:moveTo>
                      <a:pt x="76200" y="0"/>
                    </a:moveTo>
                    <a:lnTo>
                      <a:pt x="4305300" y="0"/>
                    </a:lnTo>
                    <a:cubicBezTo>
                      <a:pt x="4347384" y="0"/>
                      <a:pt x="4381500" y="34116"/>
                      <a:pt x="4381500" y="76200"/>
                    </a:cubicBezTo>
                    <a:lnTo>
                      <a:pt x="4381500" y="1162050"/>
                    </a:lnTo>
                    <a:cubicBezTo>
                      <a:pt x="4381500" y="1204134"/>
                      <a:pt x="4347384" y="1238250"/>
                      <a:pt x="4305300" y="1238250"/>
                    </a:cubicBezTo>
                    <a:lnTo>
                      <a:pt x="76200" y="1238250"/>
                    </a:lnTo>
                    <a:cubicBezTo>
                      <a:pt x="34116" y="1238250"/>
                      <a:pt x="0" y="1204134"/>
                      <a:pt x="0" y="1162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D0D7E0"/>
                </a:solidFill>
              </a:ln>
              <a:effectLst>
                <a:outerShdw blurRad="152400" dist="38100" dir="10799140" algn="t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23875" y="4476750"/>
                <a:ext cx="57150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238250">
                    <a:moveTo>
                      <a:pt x="28575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1209675"/>
                    </a:lnTo>
                    <a:cubicBezTo>
                      <a:pt x="57150" y="1225457"/>
                      <a:pt x="44357" y="1238250"/>
                      <a:pt x="28575" y="1238250"/>
                    </a:cubicBezTo>
                    <a:lnTo>
                      <a:pt x="28575" y="1238250"/>
                    </a:lnTo>
                    <a:cubicBezTo>
                      <a:pt x="12793" y="1238250"/>
                      <a:pt x="0" y="1225457"/>
                      <a:pt x="0" y="12096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749300" y="4670425"/>
                <a:ext cx="215900" cy="196850"/>
                <a:chOff x="749300" y="4670425"/>
                <a:chExt cx="215900" cy="196850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844550" y="47847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81050" y="47847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908050" y="47847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844550" y="46704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876300" y="472757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812800" y="472757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876300" y="484187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812800" y="484187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749300" y="484187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939800" y="484187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9525">
                  <a:solidFill>
                    <a:srgbClr val="003366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1089660" y="4699635"/>
                <a:ext cx="15026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幻觉与记忆不一致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91515" y="4953952"/>
                <a:ext cx="285602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缺乏结构化记忆导致 LLM 生成过时或错误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91515" y="5144452"/>
                <a:ext cx="21736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事实，跨会话信息无法有效融合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92468" y="5390674"/>
                <a:ext cx="21393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99999"/>
                    </a:solidFill>
                    <a:latin typeface="Arial"/>
                    <a:ea typeface="Microsoft YaHei"/>
                    <a:cs typeface="Arial"/>
                  </a:rPr>
                  <a:t>→ 需要可溯源、可验证的事实管理</a:t>
                </a: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5317808" y="1462564"/>
            <a:ext cx="6493192" cy="4300061"/>
            <a:chOff x="5317808" y="1462564"/>
            <a:chExt cx="6493192" cy="4300061"/>
          </a:xfrm>
        </p:grpSpPr>
        <p:sp>
          <p:nvSpPr>
            <p:cNvPr id="56" name="TextBox 56"/>
            <p:cNvSpPr txBox="1"/>
            <p:nvPr/>
          </p:nvSpPr>
          <p:spPr>
            <a:xfrm>
              <a:off x="5317808" y="1462564"/>
              <a:ext cx="11957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Zep 解决方案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5334000" y="16573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0066CC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5334000" y="1762125"/>
              <a:ext cx="6477000" cy="4000500"/>
            </a:xfrm>
            <a:custGeom>
              <a:avLst/>
              <a:gdLst/>
              <a:ahLst/>
              <a:cxnLst/>
              <a:rect l="l" t="t" r="r" b="b"/>
              <a:pathLst>
                <a:path w="6477000" h="4000500">
                  <a:moveTo>
                    <a:pt x="76200" y="0"/>
                  </a:moveTo>
                  <a:lnTo>
                    <a:pt x="6400800" y="0"/>
                  </a:lnTo>
                  <a:cubicBezTo>
                    <a:pt x="6442884" y="0"/>
                    <a:pt x="6477000" y="34116"/>
                    <a:pt x="6477000" y="76200"/>
                  </a:cubicBezTo>
                  <a:lnTo>
                    <a:pt x="6477000" y="3924300"/>
                  </a:lnTo>
                  <a:cubicBezTo>
                    <a:pt x="6477000" y="3966384"/>
                    <a:pt x="6442884" y="4000500"/>
                    <a:pt x="6400800" y="4000500"/>
                  </a:cubicBezTo>
                  <a:lnTo>
                    <a:pt x="76200" y="4000500"/>
                  </a:lnTo>
                  <a:cubicBezTo>
                    <a:pt x="34116" y="4000500"/>
                    <a:pt x="0" y="3966384"/>
                    <a:pt x="0" y="3924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66CC"/>
              </a:solidFill>
            </a:ln>
            <a:effectLst>
              <a:outerShdw blurRad="152400" dist="38100" dir="10799140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9" name="Freeform 59"/>
            <p:cNvSpPr/>
            <p:nvPr/>
          </p:nvSpPr>
          <p:spPr>
            <a:xfrm>
              <a:off x="5334000" y="1762125"/>
              <a:ext cx="6477000" cy="666750"/>
            </a:xfrm>
            <a:custGeom>
              <a:avLst/>
              <a:gdLst/>
              <a:ahLst/>
              <a:cxnLst/>
              <a:rect l="l" t="t" r="r" b="b"/>
              <a:pathLst>
                <a:path w="6477000" h="666750">
                  <a:moveTo>
                    <a:pt x="76200" y="0"/>
                  </a:moveTo>
                  <a:lnTo>
                    <a:pt x="6400800" y="0"/>
                  </a:lnTo>
                  <a:cubicBezTo>
                    <a:pt x="6442884" y="0"/>
                    <a:pt x="6477000" y="34116"/>
                    <a:pt x="6477000" y="76200"/>
                  </a:cubicBezTo>
                  <a:lnTo>
                    <a:pt x="6477000" y="590550"/>
                  </a:lnTo>
                  <a:cubicBezTo>
                    <a:pt x="6477000" y="632634"/>
                    <a:pt x="6442884" y="666750"/>
                    <a:pt x="64008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34000" y="2143125"/>
              <a:ext cx="6477000" cy="285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02661" y="2025968"/>
              <a:ext cx="31396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Zep = Graphiti 时序知识图谱引擎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902958" y="2248852"/>
              <a:ext cx="33390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ACCEE"/>
                  </a:solidFill>
                  <a:latin typeface="Arial"/>
                  <a:ea typeface="Microsoft YaHei"/>
                  <a:cs typeface="Arial"/>
                </a:rPr>
                <a:t>Temporal Knowledge Graph for Agent Memory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5505450" y="2851785"/>
              <a:ext cx="3253883" cy="429577"/>
              <a:chOff x="5505450" y="2851785"/>
              <a:chExt cx="3253883" cy="429577"/>
            </a:xfrm>
          </p:grpSpPr>
          <p:sp>
            <p:nvSpPr>
              <p:cNvPr id="63" name="Ellipse 63"/>
              <p:cNvSpPr/>
              <p:nvPr/>
            </p:nvSpPr>
            <p:spPr>
              <a:xfrm>
                <a:off x="5505450" y="2857500"/>
                <a:ext cx="342900" cy="342900"/>
              </a:xfrm>
              <a:prstGeom prst="ellipse">
                <a:avLst/>
              </a:prstGeom>
              <a:solidFill>
                <a:srgbClr val="F07C00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5636734" y="2964656"/>
                <a:ext cx="803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5947410" y="285178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动态知识摄入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5949315" y="3068002"/>
                <a:ext cx="28100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同时处理非结构化对话 + 结构化业务数据</a:t>
                </a:r>
              </a:p>
            </p:txBody>
          </p:sp>
        </p:grpSp>
        <p:sp>
          <p:nvSpPr>
            <p:cNvPr id="68" name="Line 68"/>
            <p:cNvSpPr/>
            <p:nvPr/>
          </p:nvSpPr>
          <p:spPr>
            <a:xfrm>
              <a:off x="5676900" y="328612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4288">
              <a:solidFill>
                <a:srgbClr val="D0D7E0"/>
              </a:solidFill>
              <a:custDash>
                <a:ds d="266666" sp="200000"/>
              </a:custDash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5505450" y="3585210"/>
              <a:ext cx="2924175" cy="429578"/>
              <a:chOff x="5505450" y="3585210"/>
              <a:chExt cx="2924175" cy="429578"/>
            </a:xfrm>
          </p:grpSpPr>
          <p:sp>
            <p:nvSpPr>
              <p:cNvPr id="69" name="Ellipse 69"/>
              <p:cNvSpPr/>
              <p:nvPr/>
            </p:nvSpPr>
            <p:spPr>
              <a:xfrm>
                <a:off x="5505450" y="3590925"/>
                <a:ext cx="342900" cy="342900"/>
              </a:xfrm>
              <a:prstGeom prst="ellipse">
                <a:avLst/>
              </a:pr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5615169" y="3698081"/>
                <a:ext cx="1234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5947410" y="35852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时序事实维护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5949315" y="3801428"/>
                <a:ext cx="24803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追踪事实有效期，自动失效过时信息</a:t>
                </a:r>
              </a:p>
            </p:txBody>
          </p:sp>
        </p:grpSp>
        <p:sp>
          <p:nvSpPr>
            <p:cNvPr id="74" name="Line 74"/>
            <p:cNvSpPr/>
            <p:nvPr/>
          </p:nvSpPr>
          <p:spPr>
            <a:xfrm>
              <a:off x="5676900" y="4019550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4288">
              <a:solidFill>
                <a:srgbClr val="D0D7E0"/>
              </a:solidFill>
              <a:custDash>
                <a:ds d="266666" sp="200000"/>
              </a:custDash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5505450" y="4318635"/>
              <a:ext cx="2770823" cy="429577"/>
              <a:chOff x="5505450" y="4318635"/>
              <a:chExt cx="2770823" cy="429577"/>
            </a:xfrm>
          </p:grpSpPr>
          <p:sp>
            <p:nvSpPr>
              <p:cNvPr id="75" name="Ellipse 75"/>
              <p:cNvSpPr/>
              <p:nvPr/>
            </p:nvSpPr>
            <p:spPr>
              <a:xfrm>
                <a:off x="5505450" y="4324350"/>
                <a:ext cx="342900" cy="342900"/>
              </a:xfrm>
              <a:prstGeom prst="ellipse">
                <a:avLst/>
              </a:prstGeom>
              <a:solidFill>
                <a:srgbClr val="003366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5615169" y="4431506"/>
                <a:ext cx="1234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5947410" y="4318635"/>
                <a:ext cx="9505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生产级性能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5949315" y="4534852"/>
                <a:ext cx="23269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准确率、延迟、可扩展性三维兼顾</a:t>
                </a:r>
              </a:p>
            </p:txBody>
          </p:sp>
        </p:grpSp>
        <p:sp>
          <p:nvSpPr>
            <p:cNvPr id="80" name="Freeform 80"/>
            <p:cNvSpPr/>
            <p:nvPr/>
          </p:nvSpPr>
          <p:spPr>
            <a:xfrm>
              <a:off x="5476875" y="4914900"/>
              <a:ext cx="6191250" cy="647700"/>
            </a:xfrm>
            <a:custGeom>
              <a:avLst/>
              <a:gdLst/>
              <a:ahLst/>
              <a:cxnLst/>
              <a:rect l="l" t="t" r="r" b="b"/>
              <a:pathLst>
                <a:path w="6191250" h="647700">
                  <a:moveTo>
                    <a:pt x="57150" y="0"/>
                  </a:moveTo>
                  <a:lnTo>
                    <a:pt x="6134100" y="0"/>
                  </a:lnTo>
                  <a:cubicBezTo>
                    <a:pt x="6165663" y="0"/>
                    <a:pt x="6191250" y="25587"/>
                    <a:pt x="6191250" y="57150"/>
                  </a:cubicBezTo>
                  <a:lnTo>
                    <a:pt x="6191250" y="590550"/>
                  </a:lnTo>
                  <a:cubicBezTo>
                    <a:pt x="6191250" y="622113"/>
                    <a:pt x="6165663" y="647700"/>
                    <a:pt x="6134100" y="647700"/>
                  </a:cubicBezTo>
                  <a:lnTo>
                    <a:pt x="57150" y="647700"/>
                  </a:lnTo>
                  <a:cubicBezTo>
                    <a:pt x="25587" y="647700"/>
                    <a:pt x="0" y="622113"/>
                    <a:pt x="0" y="590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5476875" y="4914900"/>
              <a:ext cx="38100" cy="647700"/>
            </a:xfrm>
            <a:prstGeom prst="rect">
              <a:avLst/>
            </a:prstGeom>
            <a:solidFill>
              <a:srgbClr val="F07C00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663565" y="50396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核心成果预览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664518" y="5238274"/>
              <a:ext cx="276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DMR 94.8% 准确率（超越 MemGPT 93.4%）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664518" y="5390674"/>
              <a:ext cx="29083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LongMemEval 精度提升 18.5%，延迟降低 90%</a:t>
              </a:r>
            </a:p>
          </p:txBody>
        </p:sp>
      </p:grpSp>
      <p:sp>
        <p:nvSpPr>
          <p:cNvPr id="86" name="Line 8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369570" y="6522720"/>
            <a:ext cx="1587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来源：arXiv:2501.13956v1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624512" y="652272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研究背景与动机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245001" y="6514624"/>
            <a:ext cx="387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3 / 12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F07C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286048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知识图谱三层架构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77778" y="32480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ZEP AI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5760" y="842010"/>
            <a:ext cx="6865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从原始对话到高层社区摘要，三层子图实现从细节到全局的记忆组织，类比人类记忆结构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523875" y="1381125"/>
            <a:ext cx="3524250" cy="4667250"/>
            <a:chOff x="523875" y="1381125"/>
            <a:chExt cx="3524250" cy="4667250"/>
          </a:xfrm>
        </p:grpSpPr>
        <p:sp>
          <p:nvSpPr>
            <p:cNvPr id="10" name="Freeform 10"/>
            <p:cNvSpPr/>
            <p:nvPr/>
          </p:nvSpPr>
          <p:spPr>
            <a:xfrm>
              <a:off x="523875" y="1381125"/>
              <a:ext cx="3524250" cy="4667250"/>
            </a:xfrm>
            <a:custGeom>
              <a:avLst/>
              <a:gdLst/>
              <a:ahLst/>
              <a:cxnLst/>
              <a:rect l="l" t="t" r="r" b="b"/>
              <a:pathLst>
                <a:path w="3524250" h="4667250">
                  <a:moveTo>
                    <a:pt x="95250" y="0"/>
                  </a:move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4572000"/>
                  </a:lnTo>
                  <a:cubicBezTo>
                    <a:pt x="3524250" y="4624605"/>
                    <a:pt x="3481605" y="4667250"/>
                    <a:pt x="3429000" y="4667250"/>
                  </a:cubicBezTo>
                  <a:lnTo>
                    <a:pt x="95250" y="4667250"/>
                  </a:lnTo>
                  <a:cubicBezTo>
                    <a:pt x="42645" y="4667250"/>
                    <a:pt x="0" y="4624605"/>
                    <a:pt x="0" y="4572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52400" dist="38100" dir="10799140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1" name="Freeform 11"/>
            <p:cNvSpPr/>
            <p:nvPr/>
          </p:nvSpPr>
          <p:spPr>
            <a:xfrm>
              <a:off x="523875" y="1381125"/>
              <a:ext cx="3524250" cy="647700"/>
            </a:xfrm>
            <a:custGeom>
              <a:avLst/>
              <a:gdLst/>
              <a:ahLst/>
              <a:cxnLst/>
              <a:rect l="l" t="t" r="r" b="b"/>
              <a:pathLst>
                <a:path w="3524250" h="647700">
                  <a:moveTo>
                    <a:pt x="95250" y="0"/>
                  </a:move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552450"/>
                  </a:lnTo>
                  <a:cubicBezTo>
                    <a:pt x="3524250" y="605055"/>
                    <a:pt x="3481605" y="647700"/>
                    <a:pt x="3429000" y="647700"/>
                  </a:cubicBezTo>
                  <a:lnTo>
                    <a:pt x="95250" y="647700"/>
                  </a:lnTo>
                  <a:cubicBezTo>
                    <a:pt x="42645" y="647700"/>
                    <a:pt x="0" y="605055"/>
                    <a:pt x="0" y="552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23875" y="1743075"/>
              <a:ext cx="3524250" cy="2857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66750" y="1533525"/>
              <a:ext cx="381000" cy="381000"/>
            </a:xfrm>
            <a:prstGeom prst="ellipse">
              <a:avLst/>
            </a:prstGeom>
            <a:solidFill>
              <a:srgbClr val="F07C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3800" y="1651635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22058" y="1510189"/>
              <a:ext cx="108821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情节子图 Gₑ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25868" y="1752124"/>
              <a:ext cx="12066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ACCEE"/>
                  </a:solidFill>
                  <a:latin typeface="Arial"/>
                  <a:ea typeface="Microsoft YaHei"/>
                  <a:cs typeface="Arial"/>
                </a:rPr>
                <a:t>Episode Subgraph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19150" y="2214562"/>
              <a:ext cx="228600" cy="257176"/>
              <a:chOff x="819150" y="2214562"/>
              <a:chExt cx="228600" cy="25717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19150" y="221456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9150" y="225742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9150" y="234315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223962" y="222170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原始数据存储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1040" y="2534602"/>
              <a:ext cx="22656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存储原始输入单元（Episode）：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1040" y="2725102"/>
              <a:ext cx="12611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消息（Message）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1040" y="2915602"/>
              <a:ext cx="9774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文本（Text）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1040" y="3106102"/>
              <a:ext cx="900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结构化 JSON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14375" y="3381375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14288">
              <a:solidFill>
                <a:srgbClr val="E8F4F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1040" y="3506152"/>
              <a:ext cx="24343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每条 Episode 携带参考时间戳 tᵣₑf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1040" y="3696652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支持相对日期解析（"下周四"等）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14375" y="3981450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14288">
              <a:solidFill>
                <a:srgbClr val="E8F4FC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14375" y="4095750"/>
              <a:ext cx="952500" cy="247650"/>
            </a:xfrm>
            <a:custGeom>
              <a:avLst/>
              <a:gdLst/>
              <a:ahLst/>
              <a:cxnLst/>
              <a:rect l="l" t="t" r="r" b="b"/>
              <a:pathLst>
                <a:path w="952500" h="247650">
                  <a:moveTo>
                    <a:pt x="38100" y="0"/>
                  </a:moveTo>
                  <a:lnTo>
                    <a:pt x="914400" y="0"/>
                  </a:lnTo>
                  <a:cubicBezTo>
                    <a:pt x="935442" y="0"/>
                    <a:pt x="952500" y="17058"/>
                    <a:pt x="952500" y="38100"/>
                  </a:cubicBezTo>
                  <a:lnTo>
                    <a:pt x="952500" y="209550"/>
                  </a:lnTo>
                  <a:cubicBezTo>
                    <a:pt x="952500" y="230592"/>
                    <a:pt x="935442" y="247650"/>
                    <a:pt x="91440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4446" y="416194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非无损存储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1762125" y="4095750"/>
              <a:ext cx="1047750" cy="247650"/>
            </a:xfrm>
            <a:custGeom>
              <a:avLst/>
              <a:gdLst/>
              <a:ahLst/>
              <a:cxnLst/>
              <a:rect l="l" t="t" r="r" b="b"/>
              <a:pathLst>
                <a:path w="1047750" h="247650">
                  <a:moveTo>
                    <a:pt x="38100" y="0"/>
                  </a:moveTo>
                  <a:lnTo>
                    <a:pt x="1009650" y="0"/>
                  </a:lnTo>
                  <a:cubicBezTo>
                    <a:pt x="1030692" y="0"/>
                    <a:pt x="1047750" y="17058"/>
                    <a:pt x="1047750" y="38100"/>
                  </a:cubicBezTo>
                  <a:lnTo>
                    <a:pt x="1047750" y="209550"/>
                  </a:lnTo>
                  <a:cubicBezTo>
                    <a:pt x="1047750" y="230592"/>
                    <a:pt x="1030692" y="247650"/>
                    <a:pt x="100965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825061" y="41619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支持溯源引用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714375" y="4552950"/>
              <a:ext cx="3048000" cy="381000"/>
            </a:xfrm>
            <a:custGeom>
              <a:avLst/>
              <a:gdLst/>
              <a:ahLst/>
              <a:cxnLst/>
              <a:rect l="l" t="t" r="r" b="b"/>
              <a:pathLst>
                <a:path w="3048000" h="381000">
                  <a:moveTo>
                    <a:pt x="57150" y="0"/>
                  </a:moveTo>
                  <a:lnTo>
                    <a:pt x="2990850" y="0"/>
                  </a:lnTo>
                  <a:cubicBezTo>
                    <a:pt x="3022413" y="0"/>
                    <a:pt x="3048000" y="25587"/>
                    <a:pt x="3048000" y="57150"/>
                  </a:cubicBezTo>
                  <a:lnTo>
                    <a:pt x="3048000" y="323850"/>
                  </a:lnTo>
                  <a:cubicBezTo>
                    <a:pt x="3048000" y="355413"/>
                    <a:pt x="3022413" y="381000"/>
                    <a:pt x="2990850" y="381000"/>
                  </a:cubicBezTo>
                  <a:lnTo>
                    <a:pt x="57150" y="381000"/>
                  </a:lnTo>
                  <a:cubicBezTo>
                    <a:pt x="25587" y="381000"/>
                    <a:pt x="0" y="355413"/>
                    <a:pt x="0" y="323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5E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62560" y="4695349"/>
              <a:ext cx="25516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类比：情节记忆（Episodic Memory）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333875" y="1381125"/>
            <a:ext cx="3524250" cy="4667250"/>
            <a:chOff x="4333875" y="1381125"/>
            <a:chExt cx="3524250" cy="4667250"/>
          </a:xfrm>
        </p:grpSpPr>
        <p:sp>
          <p:nvSpPr>
            <p:cNvPr id="37" name="Freeform 37"/>
            <p:cNvSpPr/>
            <p:nvPr/>
          </p:nvSpPr>
          <p:spPr>
            <a:xfrm>
              <a:off x="4333875" y="1381125"/>
              <a:ext cx="3524250" cy="4667250"/>
            </a:xfrm>
            <a:custGeom>
              <a:avLst/>
              <a:gdLst/>
              <a:ahLst/>
              <a:cxnLst/>
              <a:rect l="l" t="t" r="r" b="b"/>
              <a:pathLst>
                <a:path w="3524250" h="4667250">
                  <a:moveTo>
                    <a:pt x="95250" y="0"/>
                  </a:move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4572000"/>
                  </a:lnTo>
                  <a:cubicBezTo>
                    <a:pt x="3524250" y="4624605"/>
                    <a:pt x="3481605" y="4667250"/>
                    <a:pt x="3429000" y="4667250"/>
                  </a:cubicBezTo>
                  <a:lnTo>
                    <a:pt x="95250" y="4667250"/>
                  </a:lnTo>
                  <a:cubicBezTo>
                    <a:pt x="42645" y="4667250"/>
                    <a:pt x="0" y="4624605"/>
                    <a:pt x="0" y="4572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52400" dist="38100" dir="10799140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8" name="Freeform 38"/>
            <p:cNvSpPr/>
            <p:nvPr/>
          </p:nvSpPr>
          <p:spPr>
            <a:xfrm>
              <a:off x="4333875" y="1381125"/>
              <a:ext cx="3524250" cy="647700"/>
            </a:xfrm>
            <a:custGeom>
              <a:avLst/>
              <a:gdLst/>
              <a:ahLst/>
              <a:cxnLst/>
              <a:rect l="l" t="t" r="r" b="b"/>
              <a:pathLst>
                <a:path w="3524250" h="647700">
                  <a:moveTo>
                    <a:pt x="95250" y="0"/>
                  </a:move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552450"/>
                  </a:lnTo>
                  <a:cubicBezTo>
                    <a:pt x="3524250" y="605055"/>
                    <a:pt x="3481605" y="647700"/>
                    <a:pt x="3429000" y="647700"/>
                  </a:cubicBezTo>
                  <a:lnTo>
                    <a:pt x="95250" y="647700"/>
                  </a:lnTo>
                  <a:cubicBezTo>
                    <a:pt x="42645" y="647700"/>
                    <a:pt x="0" y="605055"/>
                    <a:pt x="0" y="552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333875" y="1743075"/>
              <a:ext cx="3524250" cy="2857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4476750" y="1533525"/>
              <a:ext cx="381000" cy="38100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50797" y="1651635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32058" y="1510189"/>
              <a:ext cx="147926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语义实体子图 Gₛ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35868" y="1752124"/>
              <a:ext cx="17905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CE5FF"/>
                  </a:solidFill>
                  <a:latin typeface="Arial"/>
                  <a:ea typeface="Microsoft YaHei"/>
                  <a:cs typeface="Arial"/>
                </a:rPr>
                <a:t>Semantic Entity Subgraph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4600575" y="2210133"/>
              <a:ext cx="285750" cy="275892"/>
              <a:chOff x="4600575" y="2210133"/>
              <a:chExt cx="285750" cy="27589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614862" y="245745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772025" y="245745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714875" y="24288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743450" y="2400300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4600575" y="2210133"/>
                <a:ext cx="285750" cy="190224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224">
                    <a:moveTo>
                      <a:pt x="85725" y="190224"/>
                    </a:moveTo>
                    <a:lnTo>
                      <a:pt x="66537" y="190224"/>
                    </a:lnTo>
                    <a:cubicBezTo>
                      <a:pt x="29789" y="190167"/>
                      <a:pt x="0" y="161492"/>
                      <a:pt x="0" y="126116"/>
                    </a:cubicBezTo>
                    <a:cubicBezTo>
                      <a:pt x="0" y="90754"/>
                      <a:pt x="29789" y="62079"/>
                      <a:pt x="66537" y="62079"/>
                    </a:cubicBezTo>
                    <a:cubicBezTo>
                      <a:pt x="72152" y="36905"/>
                      <a:pt x="92169" y="16359"/>
                      <a:pt x="119043" y="8172"/>
                    </a:cubicBezTo>
                    <a:cubicBezTo>
                      <a:pt x="145904" y="0"/>
                      <a:pt x="175565" y="5415"/>
                      <a:pt x="196825" y="22460"/>
                    </a:cubicBezTo>
                    <a:cubicBezTo>
                      <a:pt x="218084" y="39462"/>
                      <a:pt x="227714" y="65422"/>
                      <a:pt x="222113" y="90597"/>
                    </a:cubicBezTo>
                    <a:lnTo>
                      <a:pt x="236258" y="90597"/>
                    </a:lnTo>
                    <a:cubicBezTo>
                      <a:pt x="263590" y="90597"/>
                      <a:pt x="285750" y="112886"/>
                      <a:pt x="285750" y="140403"/>
                    </a:cubicBezTo>
                    <a:cubicBezTo>
                      <a:pt x="285750" y="167935"/>
                      <a:pt x="263590" y="190224"/>
                      <a:pt x="236244" y="190224"/>
                    </a:cubicBezTo>
                    <a:lnTo>
                      <a:pt x="200025" y="190224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5033962" y="222170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实体与关系提取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11040" y="25346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从情节提取命名实体（节点）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511040" y="27251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提取三元组关系事实（边）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511040" y="2915602"/>
              <a:ext cx="2188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1024维向量嵌入 + 混合搜索去重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4524375" y="3190875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14288">
              <a:solidFill>
                <a:srgbClr val="E8F4F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511040" y="329660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支持超边（同一事实涉及多实体）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11040" y="3487102"/>
              <a:ext cx="1981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Reflexion 反思机制减少幻觉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11040" y="3677602"/>
              <a:ext cx="20815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Cypher 预定义查询写入 Neo4j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4524375" y="3952875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14288">
              <a:solidFill>
                <a:srgbClr val="E8F4FC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4524375" y="4076700"/>
              <a:ext cx="838200" cy="247650"/>
            </a:xfrm>
            <a:custGeom>
              <a:avLst/>
              <a:gdLst/>
              <a:ahLst/>
              <a:cxnLst/>
              <a:rect l="l" t="t" r="r" b="b"/>
              <a:pathLst>
                <a:path w="838200" h="247650">
                  <a:moveTo>
                    <a:pt x="38100" y="0"/>
                  </a:moveTo>
                  <a:lnTo>
                    <a:pt x="800100" y="0"/>
                  </a:lnTo>
                  <a:cubicBezTo>
                    <a:pt x="821142" y="0"/>
                    <a:pt x="838200" y="17058"/>
                    <a:pt x="838200" y="38100"/>
                  </a:cubicBezTo>
                  <a:lnTo>
                    <a:pt x="838200" y="209550"/>
                  </a:lnTo>
                  <a:cubicBezTo>
                    <a:pt x="838200" y="230592"/>
                    <a:pt x="821142" y="247650"/>
                    <a:pt x="80010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632055" y="41428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向量检索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5457825" y="4076700"/>
              <a:ext cx="838200" cy="247650"/>
            </a:xfrm>
            <a:custGeom>
              <a:avLst/>
              <a:gdLst/>
              <a:ahLst/>
              <a:cxnLst/>
              <a:rect l="l" t="t" r="r" b="b"/>
              <a:pathLst>
                <a:path w="838200" h="247650">
                  <a:moveTo>
                    <a:pt x="38100" y="0"/>
                  </a:moveTo>
                  <a:lnTo>
                    <a:pt x="800100" y="0"/>
                  </a:lnTo>
                  <a:cubicBezTo>
                    <a:pt x="821142" y="0"/>
                    <a:pt x="838200" y="17058"/>
                    <a:pt x="838200" y="38100"/>
                  </a:cubicBezTo>
                  <a:lnTo>
                    <a:pt x="838200" y="209550"/>
                  </a:lnTo>
                  <a:cubicBezTo>
                    <a:pt x="838200" y="230592"/>
                    <a:pt x="821142" y="247650"/>
                    <a:pt x="80010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565505" y="41428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全文检索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6391275" y="4076700"/>
              <a:ext cx="838200" cy="247650"/>
            </a:xfrm>
            <a:custGeom>
              <a:avLst/>
              <a:gdLst/>
              <a:ahLst/>
              <a:cxnLst/>
              <a:rect l="l" t="t" r="r" b="b"/>
              <a:pathLst>
                <a:path w="838200" h="247650">
                  <a:moveTo>
                    <a:pt x="38100" y="0"/>
                  </a:moveTo>
                  <a:lnTo>
                    <a:pt x="800100" y="0"/>
                  </a:lnTo>
                  <a:cubicBezTo>
                    <a:pt x="821142" y="0"/>
                    <a:pt x="838200" y="17058"/>
                    <a:pt x="838200" y="38100"/>
                  </a:cubicBezTo>
                  <a:lnTo>
                    <a:pt x="838200" y="209550"/>
                  </a:lnTo>
                  <a:cubicBezTo>
                    <a:pt x="838200" y="230592"/>
                    <a:pt x="821142" y="247650"/>
                    <a:pt x="80010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98955" y="41428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去重解析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4524375" y="4552950"/>
              <a:ext cx="3048000" cy="381000"/>
            </a:xfrm>
            <a:custGeom>
              <a:avLst/>
              <a:gdLst/>
              <a:ahLst/>
              <a:cxnLst/>
              <a:rect l="l" t="t" r="r" b="b"/>
              <a:pathLst>
                <a:path w="3048000" h="381000">
                  <a:moveTo>
                    <a:pt x="57150" y="0"/>
                  </a:moveTo>
                  <a:lnTo>
                    <a:pt x="2990850" y="0"/>
                  </a:lnTo>
                  <a:cubicBezTo>
                    <a:pt x="3022413" y="0"/>
                    <a:pt x="3048000" y="25587"/>
                    <a:pt x="3048000" y="57150"/>
                  </a:cubicBezTo>
                  <a:lnTo>
                    <a:pt x="3048000" y="323850"/>
                  </a:lnTo>
                  <a:cubicBezTo>
                    <a:pt x="3048000" y="355413"/>
                    <a:pt x="3022413" y="381000"/>
                    <a:pt x="2990850" y="381000"/>
                  </a:cubicBezTo>
                  <a:lnTo>
                    <a:pt x="57150" y="381000"/>
                  </a:lnTo>
                  <a:cubicBezTo>
                    <a:pt x="25587" y="381000"/>
                    <a:pt x="0" y="355413"/>
                    <a:pt x="0" y="323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EF5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738918" y="4695349"/>
              <a:ext cx="2618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类比：语义记忆（Semantic Memory）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8143875" y="1381125"/>
            <a:ext cx="3524250" cy="4667250"/>
            <a:chOff x="8143875" y="1381125"/>
            <a:chExt cx="3524250" cy="4667250"/>
          </a:xfrm>
        </p:grpSpPr>
        <p:sp>
          <p:nvSpPr>
            <p:cNvPr id="68" name="Freeform 68"/>
            <p:cNvSpPr/>
            <p:nvPr/>
          </p:nvSpPr>
          <p:spPr>
            <a:xfrm>
              <a:off x="8143875" y="1381125"/>
              <a:ext cx="3524250" cy="4667250"/>
            </a:xfrm>
            <a:custGeom>
              <a:avLst/>
              <a:gdLst/>
              <a:ahLst/>
              <a:cxnLst/>
              <a:rect l="l" t="t" r="r" b="b"/>
              <a:pathLst>
                <a:path w="3524250" h="4667250">
                  <a:moveTo>
                    <a:pt x="95250" y="0"/>
                  </a:move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4572000"/>
                  </a:lnTo>
                  <a:cubicBezTo>
                    <a:pt x="3524250" y="4624605"/>
                    <a:pt x="3481605" y="4667250"/>
                    <a:pt x="3429000" y="4667250"/>
                  </a:cubicBezTo>
                  <a:lnTo>
                    <a:pt x="95250" y="4667250"/>
                  </a:lnTo>
                  <a:cubicBezTo>
                    <a:pt x="42645" y="4667250"/>
                    <a:pt x="0" y="4624605"/>
                    <a:pt x="0" y="4572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52400" dist="38100" dir="10799140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69" name="Freeform 69"/>
            <p:cNvSpPr/>
            <p:nvPr/>
          </p:nvSpPr>
          <p:spPr>
            <a:xfrm>
              <a:off x="8143875" y="1381125"/>
              <a:ext cx="3524250" cy="647700"/>
            </a:xfrm>
            <a:custGeom>
              <a:avLst/>
              <a:gdLst/>
              <a:ahLst/>
              <a:cxnLst/>
              <a:rect l="l" t="t" r="r" b="b"/>
              <a:pathLst>
                <a:path w="3524250" h="647700">
                  <a:moveTo>
                    <a:pt x="95250" y="0"/>
                  </a:move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552450"/>
                  </a:lnTo>
                  <a:cubicBezTo>
                    <a:pt x="3524250" y="605055"/>
                    <a:pt x="3481605" y="647700"/>
                    <a:pt x="3429000" y="647700"/>
                  </a:cubicBezTo>
                  <a:lnTo>
                    <a:pt x="95250" y="647700"/>
                  </a:lnTo>
                  <a:cubicBezTo>
                    <a:pt x="42645" y="647700"/>
                    <a:pt x="0" y="605055"/>
                    <a:pt x="0" y="552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B5E20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43875" y="1743075"/>
              <a:ext cx="3524250" cy="285750"/>
            </a:xfrm>
            <a:prstGeom prst="rect">
              <a:avLst/>
            </a:prstGeom>
            <a:solidFill>
              <a:srgbClr val="1B5E20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8286750" y="1533525"/>
              <a:ext cx="381000" cy="381000"/>
            </a:xfrm>
            <a:prstGeom prst="ellipse">
              <a:avLst/>
            </a:prstGeom>
            <a:solidFill>
              <a:srgbClr val="28A745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360797" y="1651635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842058" y="1510189"/>
              <a:ext cx="108821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社区子图 G꜀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45868" y="1752124"/>
              <a:ext cx="14202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AEEBB"/>
                  </a:solidFill>
                  <a:latin typeface="Arial"/>
                  <a:ea typeface="Microsoft YaHei"/>
                  <a:cs typeface="Arial"/>
                </a:rPr>
                <a:t>Community Subgraph</a:t>
              </a:r>
            </a:p>
          </p:txBody>
        </p:sp>
        <p:grpSp>
          <p:nvGrpSpPr>
            <p:cNvPr id="79" name="Group 79"/>
            <p:cNvGrpSpPr/>
            <p:nvPr/>
          </p:nvGrpSpPr>
          <p:grpSpPr>
            <a:xfrm>
              <a:off x="8424862" y="2228850"/>
              <a:ext cx="257175" cy="238125"/>
              <a:chOff x="8424862" y="2228850"/>
              <a:chExt cx="257175" cy="2381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8424862" y="2343150"/>
                <a:ext cx="85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143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100012"/>
                    </a:lnTo>
                    <a:cubicBezTo>
                      <a:pt x="85725" y="107903"/>
                      <a:pt x="79328" y="114300"/>
                      <a:pt x="71438" y="114300"/>
                    </a:cubicBezTo>
                    <a:lnTo>
                      <a:pt x="14288" y="114300"/>
                    </a:lnTo>
                    <a:cubicBezTo>
                      <a:pt x="6397" y="114300"/>
                      <a:pt x="0" y="107903"/>
                      <a:pt x="0" y="1000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9525">
                <a:solidFill>
                  <a:srgbClr val="28A745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596312" y="2286000"/>
                <a:ext cx="857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7145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157162"/>
                    </a:lnTo>
                    <a:cubicBezTo>
                      <a:pt x="85725" y="165053"/>
                      <a:pt x="79328" y="171450"/>
                      <a:pt x="71438" y="171450"/>
                    </a:cubicBezTo>
                    <a:lnTo>
                      <a:pt x="14288" y="171450"/>
                    </a:lnTo>
                    <a:cubicBezTo>
                      <a:pt x="6397" y="171450"/>
                      <a:pt x="0" y="165053"/>
                      <a:pt x="0" y="15716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9525">
                <a:solidFill>
                  <a:srgbClr val="28A745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510588" y="2228850"/>
                <a:ext cx="857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2286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214312"/>
                    </a:lnTo>
                    <a:cubicBezTo>
                      <a:pt x="85725" y="222203"/>
                      <a:pt x="79328" y="228600"/>
                      <a:pt x="71438" y="228600"/>
                    </a:cubicBezTo>
                    <a:lnTo>
                      <a:pt x="14288" y="228600"/>
                    </a:lnTo>
                    <a:cubicBezTo>
                      <a:pt x="6397" y="228600"/>
                      <a:pt x="0" y="222203"/>
                      <a:pt x="0" y="2143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9525">
                <a:solidFill>
                  <a:srgbClr val="28A745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439150" y="2457450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9525">
                <a:solidFill>
                  <a:srgbClr val="28A745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8843962" y="222170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高层聚类与摘要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21040" y="25346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基于标签传播算法聚类实体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321040" y="2725102"/>
              <a:ext cx="22579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每个社区节点含摘要+关键词嵌入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321040" y="29156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支持余弦相似度全局检索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8334375" y="3190875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14288">
              <a:solidFill>
                <a:srgbClr val="E8F4FC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321040" y="32966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动态单步扩展，延迟完整刷新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321040" y="348710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受 GraphRAG 启发，但检索方式不同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321040" y="3677602"/>
              <a:ext cx="22196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同时支持 Map-Reduce 迭代摘要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8334375" y="3952875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14288">
              <a:solidFill>
                <a:srgbClr val="E8F4FC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8334375" y="4076700"/>
              <a:ext cx="838200" cy="247650"/>
            </a:xfrm>
            <a:custGeom>
              <a:avLst/>
              <a:gdLst/>
              <a:ahLst/>
              <a:cxnLst/>
              <a:rect l="l" t="t" r="r" b="b"/>
              <a:pathLst>
                <a:path w="838200" h="247650">
                  <a:moveTo>
                    <a:pt x="38100" y="0"/>
                  </a:moveTo>
                  <a:lnTo>
                    <a:pt x="800100" y="0"/>
                  </a:lnTo>
                  <a:cubicBezTo>
                    <a:pt x="821142" y="0"/>
                    <a:pt x="838200" y="17058"/>
                    <a:pt x="838200" y="38100"/>
                  </a:cubicBezTo>
                  <a:lnTo>
                    <a:pt x="838200" y="209550"/>
                  </a:lnTo>
                  <a:cubicBezTo>
                    <a:pt x="838200" y="230592"/>
                    <a:pt x="821142" y="247650"/>
                    <a:pt x="80010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FFF2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442055" y="41428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全局理解</a:t>
              </a:r>
            </a:p>
          </p:txBody>
        </p:sp>
        <p:sp>
          <p:nvSpPr>
            <p:cNvPr id="91" name="Freeform 91"/>
            <p:cNvSpPr/>
            <p:nvPr/>
          </p:nvSpPr>
          <p:spPr>
            <a:xfrm>
              <a:off x="9267825" y="4076700"/>
              <a:ext cx="838200" cy="247650"/>
            </a:xfrm>
            <a:custGeom>
              <a:avLst/>
              <a:gdLst/>
              <a:ahLst/>
              <a:cxnLst/>
              <a:rect l="l" t="t" r="r" b="b"/>
              <a:pathLst>
                <a:path w="838200" h="247650">
                  <a:moveTo>
                    <a:pt x="38100" y="0"/>
                  </a:moveTo>
                  <a:lnTo>
                    <a:pt x="800100" y="0"/>
                  </a:lnTo>
                  <a:cubicBezTo>
                    <a:pt x="821142" y="0"/>
                    <a:pt x="838200" y="17058"/>
                    <a:pt x="838200" y="38100"/>
                  </a:cubicBezTo>
                  <a:lnTo>
                    <a:pt x="838200" y="209550"/>
                  </a:lnTo>
                  <a:cubicBezTo>
                    <a:pt x="838200" y="230592"/>
                    <a:pt x="821142" y="247650"/>
                    <a:pt x="80010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FFF2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9375505" y="41428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动态更新</a:t>
              </a:r>
            </a:p>
          </p:txBody>
        </p:sp>
        <p:sp>
          <p:nvSpPr>
            <p:cNvPr id="93" name="Freeform 93"/>
            <p:cNvSpPr/>
            <p:nvPr/>
          </p:nvSpPr>
          <p:spPr>
            <a:xfrm>
              <a:off x="10201275" y="4076700"/>
              <a:ext cx="838200" cy="247650"/>
            </a:xfrm>
            <a:custGeom>
              <a:avLst/>
              <a:gdLst/>
              <a:ahLst/>
              <a:cxnLst/>
              <a:rect l="l" t="t" r="r" b="b"/>
              <a:pathLst>
                <a:path w="838200" h="247650">
                  <a:moveTo>
                    <a:pt x="38100" y="0"/>
                  </a:moveTo>
                  <a:lnTo>
                    <a:pt x="800100" y="0"/>
                  </a:lnTo>
                  <a:cubicBezTo>
                    <a:pt x="821142" y="0"/>
                    <a:pt x="838200" y="17058"/>
                    <a:pt x="838200" y="38100"/>
                  </a:cubicBezTo>
                  <a:lnTo>
                    <a:pt x="838200" y="209550"/>
                  </a:lnTo>
                  <a:cubicBezTo>
                    <a:pt x="838200" y="230592"/>
                    <a:pt x="821142" y="247650"/>
                    <a:pt x="80010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FFF2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234196" y="41428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低成本维护</a:t>
              </a:r>
            </a:p>
          </p:txBody>
        </p:sp>
        <p:sp>
          <p:nvSpPr>
            <p:cNvPr id="95" name="Freeform 95"/>
            <p:cNvSpPr/>
            <p:nvPr/>
          </p:nvSpPr>
          <p:spPr>
            <a:xfrm>
              <a:off x="8334375" y="4552950"/>
              <a:ext cx="3048000" cy="381000"/>
            </a:xfrm>
            <a:custGeom>
              <a:avLst/>
              <a:gdLst/>
              <a:ahLst/>
              <a:cxnLst/>
              <a:rect l="l" t="t" r="r" b="b"/>
              <a:pathLst>
                <a:path w="3048000" h="381000">
                  <a:moveTo>
                    <a:pt x="57150" y="0"/>
                  </a:moveTo>
                  <a:lnTo>
                    <a:pt x="2990850" y="0"/>
                  </a:lnTo>
                  <a:cubicBezTo>
                    <a:pt x="3022413" y="0"/>
                    <a:pt x="3048000" y="25587"/>
                    <a:pt x="3048000" y="57150"/>
                  </a:cubicBezTo>
                  <a:lnTo>
                    <a:pt x="3048000" y="323850"/>
                  </a:lnTo>
                  <a:cubicBezTo>
                    <a:pt x="3048000" y="355413"/>
                    <a:pt x="3022413" y="381000"/>
                    <a:pt x="2990850" y="381000"/>
                  </a:cubicBezTo>
                  <a:lnTo>
                    <a:pt x="57150" y="381000"/>
                  </a:lnTo>
                  <a:cubicBezTo>
                    <a:pt x="25587" y="381000"/>
                    <a:pt x="0" y="355413"/>
                    <a:pt x="0" y="323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FFF2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481634" y="4695349"/>
              <a:ext cx="27534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类比：概念社区（Concept Community）</a:t>
              </a:r>
            </a:p>
          </p:txBody>
        </p:sp>
      </p:grpSp>
      <p:sp>
        <p:nvSpPr>
          <p:cNvPr id="98" name="Line 98"/>
          <p:cNvSpPr/>
          <p:nvPr/>
        </p:nvSpPr>
        <p:spPr>
          <a:xfrm>
            <a:off x="4048125" y="3667125"/>
            <a:ext cx="266700" cy="9525"/>
          </a:xfrm>
          <a:custGeom>
            <a:avLst/>
            <a:gdLst/>
            <a:ahLst/>
            <a:cxnLst/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4288">
            <a:solidFill>
              <a:srgbClr val="D0D7E0"/>
            </a:solidFill>
            <a:custDash>
              <a:ds d="266666" sp="200000"/>
            </a:custDash>
          </a:ln>
        </p:spPr>
      </p:sp>
      <p:sp>
        <p:nvSpPr>
          <p:cNvPr id="99" name="Polygon 99"/>
          <p:cNvSpPr/>
          <p:nvPr/>
        </p:nvSpPr>
        <p:spPr>
          <a:xfrm>
            <a:off x="4314825" y="361950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100" name="Line 100"/>
          <p:cNvSpPr/>
          <p:nvPr/>
        </p:nvSpPr>
        <p:spPr>
          <a:xfrm>
            <a:off x="7858125" y="3667125"/>
            <a:ext cx="266700" cy="9525"/>
          </a:xfrm>
          <a:custGeom>
            <a:avLst/>
            <a:gdLst/>
            <a:ahLst/>
            <a:cxnLst/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4288">
            <a:solidFill>
              <a:srgbClr val="D0D7E0"/>
            </a:solidFill>
            <a:custDash>
              <a:ds d="266666" sp="200000"/>
            </a:custDash>
          </a:ln>
        </p:spPr>
      </p:sp>
      <p:sp>
        <p:nvSpPr>
          <p:cNvPr id="101" name="Polygon 101"/>
          <p:cNvSpPr/>
          <p:nvPr/>
        </p:nvSpPr>
        <p:spPr>
          <a:xfrm>
            <a:off x="8124825" y="361950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28A745"/>
          </a:solidFill>
          <a:ln>
            <a:noFill/>
          </a:ln>
        </p:spPr>
      </p:sp>
      <p:sp>
        <p:nvSpPr>
          <p:cNvPr id="102" name="Line 10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03" name="TextBox 103"/>
          <p:cNvSpPr txBox="1"/>
          <p:nvPr/>
        </p:nvSpPr>
        <p:spPr>
          <a:xfrm>
            <a:off x="369570" y="6522720"/>
            <a:ext cx="17710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来源：arXiv:2501.13956v1 §2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690235" y="65227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知识图谱构建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1245001" y="6514624"/>
            <a:ext cx="387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4 / 12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F07C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405663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双时态模型与实体事实提取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77778" y="32480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ZEP AI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5760" y="842010"/>
            <a:ext cx="77594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时间轴 T（事件顺序）+ 事务轴 T'（摄入顺序），四个时间戳管理事实生命周期，支持矛盾自动失效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8635" y="1394460"/>
            <a:ext cx="29288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双时态模型（Bi-temporal Model）</a:t>
            </a:r>
          </a:p>
        </p:txBody>
      </p:sp>
      <p:sp>
        <p:nvSpPr>
          <p:cNvPr id="11" name="Line 11"/>
          <p:cNvSpPr/>
          <p:nvPr/>
        </p:nvSpPr>
        <p:spPr>
          <a:xfrm>
            <a:off x="523875" y="1581150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</a:path>
            </a:pathLst>
          </a:custGeom>
          <a:noFill/>
          <a:ln w="19050">
            <a:solidFill>
              <a:srgbClr val="F07C00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523875" y="1676400"/>
            <a:ext cx="11144250" cy="1857375"/>
          </a:xfrm>
          <a:custGeom>
            <a:avLst/>
            <a:gdLst/>
            <a:ahLst/>
            <a:cxnLst/>
            <a:rect l="l" t="t" r="r" b="b"/>
            <a:pathLst>
              <a:path w="11144250" h="1857375">
                <a:moveTo>
                  <a:pt x="76200" y="0"/>
                </a:moveTo>
                <a:lnTo>
                  <a:pt x="11068050" y="0"/>
                </a:lnTo>
                <a:cubicBezTo>
                  <a:pt x="11110134" y="0"/>
                  <a:pt x="11144250" y="34116"/>
                  <a:pt x="11144250" y="76200"/>
                </a:cubicBezTo>
                <a:lnTo>
                  <a:pt x="11144250" y="1781175"/>
                </a:lnTo>
                <a:cubicBezTo>
                  <a:pt x="11144250" y="1823259"/>
                  <a:pt x="11110134" y="1857375"/>
                  <a:pt x="11068050" y="1857375"/>
                </a:cubicBezTo>
                <a:lnTo>
                  <a:pt x="76200" y="1857375"/>
                </a:lnTo>
                <a:cubicBezTo>
                  <a:pt x="34116" y="1857375"/>
                  <a:pt x="0" y="1823259"/>
                  <a:pt x="0" y="1781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  <a:effectLst>
            <a:outerShdw blurRad="133350" dist="28575" dir="10798854" algn="tl" rotWithShape="0">
              <a:srgbClr val="000000">
                <a:alpha val="10000"/>
              </a:srgbClr>
            </a:outerShdw>
          </a:effectLst>
        </p:spPr>
      </p:sp>
      <p:grpSp>
        <p:nvGrpSpPr>
          <p:cNvPr id="31" name="Group 31"/>
          <p:cNvGrpSpPr/>
          <p:nvPr/>
        </p:nvGrpSpPr>
        <p:grpSpPr>
          <a:xfrm>
            <a:off x="714375" y="1866900"/>
            <a:ext cx="5191125" cy="1493044"/>
            <a:chOff x="714375" y="1866900"/>
            <a:chExt cx="5191125" cy="1493044"/>
          </a:xfrm>
        </p:grpSpPr>
        <p:sp>
          <p:nvSpPr>
            <p:cNvPr id="13" name="Freeform 13"/>
            <p:cNvSpPr/>
            <p:nvPr/>
          </p:nvSpPr>
          <p:spPr>
            <a:xfrm>
              <a:off x="714375" y="1866900"/>
              <a:ext cx="5191125" cy="1476375"/>
            </a:xfrm>
            <a:custGeom>
              <a:avLst/>
              <a:gdLst/>
              <a:ahLst/>
              <a:cxnLst/>
              <a:rect l="l" t="t" r="r" b="b"/>
              <a:pathLst>
                <a:path w="5191125" h="1476375">
                  <a:moveTo>
                    <a:pt x="57150" y="0"/>
                  </a:moveTo>
                  <a:lnTo>
                    <a:pt x="5133975" y="0"/>
                  </a:lnTo>
                  <a:cubicBezTo>
                    <a:pt x="5165538" y="0"/>
                    <a:pt x="5191125" y="25587"/>
                    <a:pt x="5191125" y="57150"/>
                  </a:cubicBezTo>
                  <a:lnTo>
                    <a:pt x="5191125" y="1419225"/>
                  </a:lnTo>
                  <a:cubicBezTo>
                    <a:pt x="5191125" y="1450788"/>
                    <a:pt x="5165538" y="1476375"/>
                    <a:pt x="5133975" y="1476375"/>
                  </a:cubicBezTo>
                  <a:lnTo>
                    <a:pt x="57150" y="1476375"/>
                  </a:lnTo>
                  <a:cubicBezTo>
                    <a:pt x="25587" y="1476375"/>
                    <a:pt x="0" y="1450788"/>
                    <a:pt x="0" y="1419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14375" y="1866900"/>
              <a:ext cx="57150" cy="1476375"/>
            </a:xfrm>
            <a:custGeom>
              <a:avLst/>
              <a:gdLst/>
              <a:ahLst/>
              <a:cxnLst/>
              <a:rect l="l" t="t" r="r" b="b"/>
              <a:pathLst>
                <a:path w="57150" h="1476375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447800"/>
                  </a:lnTo>
                  <a:cubicBezTo>
                    <a:pt x="57150" y="1463582"/>
                    <a:pt x="44357" y="1476375"/>
                    <a:pt x="28575" y="1476375"/>
                  </a:cubicBezTo>
                  <a:lnTo>
                    <a:pt x="28575" y="1476375"/>
                  </a:lnTo>
                  <a:cubicBezTo>
                    <a:pt x="12793" y="1476375"/>
                    <a:pt x="0" y="1463582"/>
                    <a:pt x="0" y="144780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47738" y="2014538"/>
              <a:ext cx="200025" cy="200025"/>
              <a:chOff x="947738" y="2014538"/>
              <a:chExt cx="200025" cy="2000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947738" y="20145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9525">
                <a:solidFill>
                  <a:srgbClr val="003366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47750" y="2058988"/>
                <a:ext cx="3333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88900">
                    <a:moveTo>
                      <a:pt x="0" y="0"/>
                    </a:moveTo>
                    <a:lnTo>
                      <a:pt x="0" y="55563"/>
                    </a:lnTo>
                    <a:lnTo>
                      <a:pt x="33338" y="88900"/>
                    </a:lnTo>
                  </a:path>
                </a:pathLst>
              </a:custGeom>
              <a:noFill/>
              <a:ln w="9525">
                <a:solidFill>
                  <a:srgbClr val="003366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281112" y="2021681"/>
              <a:ext cx="27889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 轴 — 现实世界时间线（事件时序）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14400" y="2552700"/>
              <a:ext cx="4419600" cy="9525"/>
            </a:xfrm>
            <a:custGeom>
              <a:avLst/>
              <a:gdLst/>
              <a:ahLst/>
              <a:cxnLst/>
              <a:rect l="l" t="t" r="r" b="b"/>
              <a:pathLst>
                <a:path w="4419600" h="9525">
                  <a:moveTo>
                    <a:pt x="0" y="0"/>
                  </a:moveTo>
                  <a:lnTo>
                    <a:pt x="4419600" y="0"/>
                  </a:lnTo>
                </a:path>
              </a:pathLst>
            </a:custGeom>
            <a:noFill/>
            <a:ln w="19050">
              <a:solidFill>
                <a:srgbClr val="0066CC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5334000" y="250507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466850" y="2495550"/>
              <a:ext cx="114300" cy="1143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59538" y="2331720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tᵥₐₗᵢ_d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72540" y="26731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事实成立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3657600" y="2495550"/>
              <a:ext cx="114300" cy="114300"/>
            </a:xfrm>
            <a:prstGeom prst="ellipse">
              <a:avLst/>
            </a:prstGeom>
            <a:solidFill>
              <a:srgbClr val="F07C0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377994" y="2331720"/>
              <a:ext cx="6735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tᵢₙᵥₐₗᵢ_d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63290" y="26731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事实失效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581150" y="2457450"/>
              <a:ext cx="2076450" cy="190500"/>
            </a:xfrm>
            <a:prstGeom prst="rect">
              <a:avLst/>
            </a:prstGeom>
            <a:solidFill>
              <a:srgbClr val="0066CC">
                <a:alpha val="15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307669" y="231124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事实有效期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2018" y="2990374"/>
              <a:ext cx="3335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例：Alan Turing 于 1912年6月23日出生（绝对时间）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2018" y="3161824"/>
              <a:ext cx="37128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例："两周前我换了新工作"（相对时间，通过 tᵣₑf 解析）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0" y="1866900"/>
            <a:ext cx="5381625" cy="1493044"/>
            <a:chOff x="6096000" y="1866900"/>
            <a:chExt cx="5381625" cy="1493044"/>
          </a:xfrm>
        </p:grpSpPr>
        <p:sp>
          <p:nvSpPr>
            <p:cNvPr id="32" name="Freeform 32"/>
            <p:cNvSpPr/>
            <p:nvPr/>
          </p:nvSpPr>
          <p:spPr>
            <a:xfrm>
              <a:off x="6096000" y="1866900"/>
              <a:ext cx="5381625" cy="1476375"/>
            </a:xfrm>
            <a:custGeom>
              <a:avLst/>
              <a:gdLst/>
              <a:ahLst/>
              <a:cxnLst/>
              <a:rect l="l" t="t" r="r" b="b"/>
              <a:pathLst>
                <a:path w="5381625" h="1476375">
                  <a:moveTo>
                    <a:pt x="57150" y="0"/>
                  </a:moveTo>
                  <a:lnTo>
                    <a:pt x="5324475" y="0"/>
                  </a:lnTo>
                  <a:cubicBezTo>
                    <a:pt x="5356038" y="0"/>
                    <a:pt x="5381625" y="25587"/>
                    <a:pt x="5381625" y="57150"/>
                  </a:cubicBezTo>
                  <a:lnTo>
                    <a:pt x="5381625" y="1419225"/>
                  </a:lnTo>
                  <a:cubicBezTo>
                    <a:pt x="5381625" y="1450788"/>
                    <a:pt x="5356038" y="1476375"/>
                    <a:pt x="5324475" y="1476375"/>
                  </a:cubicBezTo>
                  <a:lnTo>
                    <a:pt x="57150" y="1476375"/>
                  </a:lnTo>
                  <a:cubicBezTo>
                    <a:pt x="25587" y="1476375"/>
                    <a:pt x="0" y="1450788"/>
                    <a:pt x="0" y="1419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5E8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096000" y="1866900"/>
              <a:ext cx="57150" cy="1476375"/>
            </a:xfrm>
            <a:custGeom>
              <a:avLst/>
              <a:gdLst/>
              <a:ahLst/>
              <a:cxnLst/>
              <a:rect l="l" t="t" r="r" b="b"/>
              <a:pathLst>
                <a:path w="57150" h="1476375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447800"/>
                  </a:lnTo>
                  <a:cubicBezTo>
                    <a:pt x="57150" y="1463582"/>
                    <a:pt x="44357" y="1476375"/>
                    <a:pt x="28575" y="1476375"/>
                  </a:cubicBezTo>
                  <a:lnTo>
                    <a:pt x="28575" y="1476375"/>
                  </a:lnTo>
                  <a:cubicBezTo>
                    <a:pt x="12793" y="1476375"/>
                    <a:pt x="0" y="1463582"/>
                    <a:pt x="0" y="144780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340475" y="2014538"/>
              <a:ext cx="177800" cy="200024"/>
              <a:chOff x="6340475" y="2014538"/>
              <a:chExt cx="177800" cy="20002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340475" y="2014538"/>
                <a:ext cx="1778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8" y="66675"/>
                      <a:pt x="177800" y="51749"/>
                      <a:pt x="177800" y="33338"/>
                    </a:cubicBezTo>
                    <a:cubicBezTo>
                      <a:pt x="177800" y="14926"/>
                      <a:pt x="137998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9525">
                <a:solidFill>
                  <a:srgbClr val="F07C0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340475" y="2047875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9525">
                <a:solidFill>
                  <a:srgbClr val="F07C0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340475" y="2114550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9525">
                <a:solidFill>
                  <a:srgbClr val="F07C00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662738" y="2021681"/>
              <a:ext cx="32288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T' 轴 — 系统事务时间线（数据摄入顺序）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296025" y="2552700"/>
              <a:ext cx="4752975" cy="9525"/>
            </a:xfrm>
            <a:custGeom>
              <a:avLst/>
              <a:gdLst/>
              <a:ahLst/>
              <a:cxnLst/>
              <a:rect l="l" t="t" r="r" b="b"/>
              <a:pathLst>
                <a:path w="4752975" h="9525">
                  <a:moveTo>
                    <a:pt x="0" y="0"/>
                  </a:moveTo>
                  <a:lnTo>
                    <a:pt x="4752975" y="0"/>
                  </a:lnTo>
                </a:path>
              </a:pathLst>
            </a:custGeom>
            <a:noFill/>
            <a:ln w="19050">
              <a:solidFill>
                <a:srgbClr val="F07C00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11049000" y="250507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086600" y="2495550"/>
              <a:ext cx="114300" cy="114300"/>
            </a:xfrm>
            <a:prstGeom prst="ellipse">
              <a:avLst/>
            </a:prstGeom>
            <a:solidFill>
              <a:srgbClr val="F07C0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70846" y="2331720"/>
              <a:ext cx="7458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t'ₓᵣₑₐₜₑ_d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92290" y="26731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录入时间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753600" y="2495550"/>
              <a:ext cx="114300" cy="11430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437846" y="2331720"/>
              <a:ext cx="7458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t'ₑₓₚᵢᵣₑ_d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9290" y="26731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系统失效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83642" y="299037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用于数据库审计（传统作用）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83642" y="3161824"/>
              <a:ext cx="31788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新事实自动失效语义矛盾的旧边（LLM 判断冲突）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508635" y="3680460"/>
            <a:ext cx="20547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实体与事实提取三步流程</a:t>
            </a:r>
          </a:p>
        </p:txBody>
      </p:sp>
      <p:sp>
        <p:nvSpPr>
          <p:cNvPr id="51" name="Line 51"/>
          <p:cNvSpPr/>
          <p:nvPr/>
        </p:nvSpPr>
        <p:spPr>
          <a:xfrm>
            <a:off x="523875" y="3867150"/>
            <a:ext cx="3000375" cy="9525"/>
          </a:xfrm>
          <a:custGeom>
            <a:avLst/>
            <a:gdLst/>
            <a:ahLst/>
            <a:cxnLst/>
            <a:rect l="l" t="t" r="r" b="b"/>
            <a:pathLst>
              <a:path w="3000375" h="9525">
                <a:moveTo>
                  <a:pt x="0" y="0"/>
                </a:moveTo>
                <a:lnTo>
                  <a:pt x="3000375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grpSp>
        <p:nvGrpSpPr>
          <p:cNvPr id="63" name="Group 63"/>
          <p:cNvGrpSpPr/>
          <p:nvPr/>
        </p:nvGrpSpPr>
        <p:grpSpPr>
          <a:xfrm>
            <a:off x="523875" y="3962400"/>
            <a:ext cx="3524250" cy="2000250"/>
            <a:chOff x="523875" y="3962400"/>
            <a:chExt cx="3524250" cy="2000250"/>
          </a:xfrm>
        </p:grpSpPr>
        <p:sp>
          <p:nvSpPr>
            <p:cNvPr id="52" name="Freeform 52"/>
            <p:cNvSpPr/>
            <p:nvPr/>
          </p:nvSpPr>
          <p:spPr>
            <a:xfrm>
              <a:off x="523875" y="3962400"/>
              <a:ext cx="3524250" cy="2000250"/>
            </a:xfrm>
            <a:custGeom>
              <a:avLst/>
              <a:gdLst/>
              <a:ahLst/>
              <a:cxnLst/>
              <a:rect l="l" t="t" r="r" b="b"/>
              <a:pathLst>
                <a:path w="3524250" h="2000250">
                  <a:moveTo>
                    <a:pt x="76200" y="0"/>
                  </a:moveTo>
                  <a:lnTo>
                    <a:pt x="3448050" y="0"/>
                  </a:lnTo>
                  <a:cubicBezTo>
                    <a:pt x="3490134" y="0"/>
                    <a:pt x="3524250" y="34116"/>
                    <a:pt x="3524250" y="76200"/>
                  </a:cubicBezTo>
                  <a:lnTo>
                    <a:pt x="3524250" y="1924050"/>
                  </a:lnTo>
                  <a:cubicBezTo>
                    <a:pt x="3524250" y="1966134"/>
                    <a:pt x="3490134" y="2000250"/>
                    <a:pt x="3448050" y="2000250"/>
                  </a:cubicBezTo>
                  <a:lnTo>
                    <a:pt x="76200" y="2000250"/>
                  </a:lnTo>
                  <a:cubicBezTo>
                    <a:pt x="34116" y="2000250"/>
                    <a:pt x="0" y="1966134"/>
                    <a:pt x="0" y="1924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33350" dist="28575" dir="10798854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3" name="Freeform 53"/>
            <p:cNvSpPr/>
            <p:nvPr/>
          </p:nvSpPr>
          <p:spPr>
            <a:xfrm>
              <a:off x="523875" y="3962400"/>
              <a:ext cx="57150" cy="2000250"/>
            </a:xfrm>
            <a:custGeom>
              <a:avLst/>
              <a:gdLst/>
              <a:ahLst/>
              <a:cxnLst/>
              <a:rect l="l" t="t" r="r" b="b"/>
              <a:pathLst>
                <a:path w="57150" h="20002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971675"/>
                  </a:lnTo>
                  <a:cubicBezTo>
                    <a:pt x="57150" y="1987457"/>
                    <a:pt x="44357" y="2000250"/>
                    <a:pt x="28575" y="2000250"/>
                  </a:cubicBezTo>
                  <a:lnTo>
                    <a:pt x="28575" y="2000250"/>
                  </a:lnTo>
                  <a:cubicBezTo>
                    <a:pt x="12793" y="2000250"/>
                    <a:pt x="0" y="1987457"/>
                    <a:pt x="0" y="19716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85800" y="4114800"/>
              <a:ext cx="342900" cy="34290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4407" y="421386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8712" y="4117181"/>
              <a:ext cx="12621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实体提取 &amp; 解析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1040" y="4420552"/>
              <a:ext cx="2165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NER 识别命名实体（含发言人）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1040" y="4630102"/>
              <a:ext cx="1981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Reflexion 反思机制减少幻觉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1040" y="483965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1024维向量嵌入（cosine搜索）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1040" y="504920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+ 全文搜索去重解析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714375" y="5372100"/>
              <a:ext cx="1524000" cy="247650"/>
            </a:xfrm>
            <a:custGeom>
              <a:avLst/>
              <a:gdLst/>
              <a:ahLst/>
              <a:cxnLst/>
              <a:rect l="l" t="t" r="r" b="b"/>
              <a:pathLst>
                <a:path w="1524000" h="24765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209550"/>
                  </a:lnTo>
                  <a:cubicBezTo>
                    <a:pt x="1524000" y="230592"/>
                    <a:pt x="1506942" y="247650"/>
                    <a:pt x="148590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85335" y="5446395"/>
              <a:ext cx="9820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n=4 上下文窗口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4333875" y="3962400"/>
            <a:ext cx="3524250" cy="2000250"/>
            <a:chOff x="4333875" y="3962400"/>
            <a:chExt cx="3524250" cy="2000250"/>
          </a:xfrm>
        </p:grpSpPr>
        <p:sp>
          <p:nvSpPr>
            <p:cNvPr id="64" name="Freeform 64"/>
            <p:cNvSpPr/>
            <p:nvPr/>
          </p:nvSpPr>
          <p:spPr>
            <a:xfrm>
              <a:off x="4333875" y="3962400"/>
              <a:ext cx="3524250" cy="2000250"/>
            </a:xfrm>
            <a:custGeom>
              <a:avLst/>
              <a:gdLst/>
              <a:ahLst/>
              <a:cxnLst/>
              <a:rect l="l" t="t" r="r" b="b"/>
              <a:pathLst>
                <a:path w="3524250" h="2000250">
                  <a:moveTo>
                    <a:pt x="76200" y="0"/>
                  </a:moveTo>
                  <a:lnTo>
                    <a:pt x="3448050" y="0"/>
                  </a:lnTo>
                  <a:cubicBezTo>
                    <a:pt x="3490134" y="0"/>
                    <a:pt x="3524250" y="34116"/>
                    <a:pt x="3524250" y="76200"/>
                  </a:cubicBezTo>
                  <a:lnTo>
                    <a:pt x="3524250" y="1924050"/>
                  </a:lnTo>
                  <a:cubicBezTo>
                    <a:pt x="3524250" y="1966134"/>
                    <a:pt x="3490134" y="2000250"/>
                    <a:pt x="3448050" y="2000250"/>
                  </a:cubicBezTo>
                  <a:lnTo>
                    <a:pt x="76200" y="2000250"/>
                  </a:lnTo>
                  <a:cubicBezTo>
                    <a:pt x="34116" y="2000250"/>
                    <a:pt x="0" y="1966134"/>
                    <a:pt x="0" y="1924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33350" dist="28575" dir="10798854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65" name="Freeform 65"/>
            <p:cNvSpPr/>
            <p:nvPr/>
          </p:nvSpPr>
          <p:spPr>
            <a:xfrm>
              <a:off x="4333875" y="3962400"/>
              <a:ext cx="57150" cy="2000250"/>
            </a:xfrm>
            <a:custGeom>
              <a:avLst/>
              <a:gdLst/>
              <a:ahLst/>
              <a:cxnLst/>
              <a:rect l="l" t="t" r="r" b="b"/>
              <a:pathLst>
                <a:path w="57150" h="20002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971675"/>
                  </a:lnTo>
                  <a:cubicBezTo>
                    <a:pt x="57150" y="1987457"/>
                    <a:pt x="44357" y="2000250"/>
                    <a:pt x="28575" y="2000250"/>
                  </a:cubicBezTo>
                  <a:lnTo>
                    <a:pt x="28575" y="2000250"/>
                  </a:lnTo>
                  <a:cubicBezTo>
                    <a:pt x="12793" y="2000250"/>
                    <a:pt x="0" y="1987457"/>
                    <a:pt x="0" y="19716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4495800" y="4114800"/>
              <a:ext cx="342900" cy="3429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601404" y="42138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938712" y="4117181"/>
              <a:ext cx="16071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事实提取 &amp; 时序标注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511040" y="4420552"/>
              <a:ext cx="2188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抽取三元组（主-谓-宾）事实边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511040" y="46301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支持超边（多实体同一事实）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511040" y="4839652"/>
              <a:ext cx="25646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提取 tᵥₐₗᵢ_d / tᵢₙᵥₐₗᵢ_d 时间信息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511040" y="504920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同实体对内去重（约束搜索空间）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4524375" y="5372100"/>
              <a:ext cx="1905000" cy="247650"/>
            </a:xfrm>
            <a:custGeom>
              <a:avLst/>
              <a:gdLst/>
              <a:ahLst/>
              <a:cxnLst/>
              <a:rect l="l" t="t" r="r" b="b"/>
              <a:pathLst>
                <a:path w="1905000" h="247650">
                  <a:moveTo>
                    <a:pt x="38100" y="0"/>
                  </a:moveTo>
                  <a:lnTo>
                    <a:pt x="1866900" y="0"/>
                  </a:lnTo>
                  <a:cubicBezTo>
                    <a:pt x="1887942" y="0"/>
                    <a:pt x="1905000" y="17058"/>
                    <a:pt x="1905000" y="38100"/>
                  </a:cubicBezTo>
                  <a:lnTo>
                    <a:pt x="1905000" y="209550"/>
                  </a:lnTo>
                  <a:cubicBezTo>
                    <a:pt x="1905000" y="230592"/>
                    <a:pt x="1887942" y="247650"/>
                    <a:pt x="186690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637342" y="5446395"/>
              <a:ext cx="16790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LLM判断语义矛盾 → 边失效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143875" y="3962400"/>
            <a:ext cx="3524250" cy="2000250"/>
            <a:chOff x="8143875" y="3962400"/>
            <a:chExt cx="3524250" cy="2000250"/>
          </a:xfrm>
        </p:grpSpPr>
        <p:sp>
          <p:nvSpPr>
            <p:cNvPr id="76" name="Freeform 76"/>
            <p:cNvSpPr/>
            <p:nvPr/>
          </p:nvSpPr>
          <p:spPr>
            <a:xfrm>
              <a:off x="8143875" y="3962400"/>
              <a:ext cx="3524250" cy="2000250"/>
            </a:xfrm>
            <a:custGeom>
              <a:avLst/>
              <a:gdLst/>
              <a:ahLst/>
              <a:cxnLst/>
              <a:rect l="l" t="t" r="r" b="b"/>
              <a:pathLst>
                <a:path w="3524250" h="2000250">
                  <a:moveTo>
                    <a:pt x="76200" y="0"/>
                  </a:moveTo>
                  <a:lnTo>
                    <a:pt x="3448050" y="0"/>
                  </a:lnTo>
                  <a:cubicBezTo>
                    <a:pt x="3490134" y="0"/>
                    <a:pt x="3524250" y="34116"/>
                    <a:pt x="3524250" y="76200"/>
                  </a:cubicBezTo>
                  <a:lnTo>
                    <a:pt x="3524250" y="1924050"/>
                  </a:lnTo>
                  <a:cubicBezTo>
                    <a:pt x="3524250" y="1966134"/>
                    <a:pt x="3490134" y="2000250"/>
                    <a:pt x="3448050" y="2000250"/>
                  </a:cubicBezTo>
                  <a:lnTo>
                    <a:pt x="76200" y="2000250"/>
                  </a:lnTo>
                  <a:cubicBezTo>
                    <a:pt x="34116" y="2000250"/>
                    <a:pt x="0" y="1966134"/>
                    <a:pt x="0" y="1924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33350" dist="28575" dir="10798854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77" name="Freeform 77"/>
            <p:cNvSpPr/>
            <p:nvPr/>
          </p:nvSpPr>
          <p:spPr>
            <a:xfrm>
              <a:off x="8143875" y="3962400"/>
              <a:ext cx="57150" cy="2000250"/>
            </a:xfrm>
            <a:custGeom>
              <a:avLst/>
              <a:gdLst/>
              <a:ahLst/>
              <a:cxnLst/>
              <a:rect l="l" t="t" r="r" b="b"/>
              <a:pathLst>
                <a:path w="57150" h="20002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971675"/>
                  </a:lnTo>
                  <a:cubicBezTo>
                    <a:pt x="57150" y="1987457"/>
                    <a:pt x="44357" y="2000250"/>
                    <a:pt x="28575" y="2000250"/>
                  </a:cubicBezTo>
                  <a:lnTo>
                    <a:pt x="28575" y="2000250"/>
                  </a:lnTo>
                  <a:cubicBezTo>
                    <a:pt x="12793" y="2000250"/>
                    <a:pt x="0" y="1987457"/>
                    <a:pt x="0" y="19716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8305800" y="4114800"/>
              <a:ext cx="342900" cy="342900"/>
            </a:xfrm>
            <a:prstGeom prst="ellipse">
              <a:avLst/>
            </a:prstGeom>
            <a:solidFill>
              <a:srgbClr val="F07C00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411404" y="42138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748712" y="4117181"/>
              <a:ext cx="1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Neo4j 图集成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21040" y="4420552"/>
              <a:ext cx="22656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Cypher 预定义查询写入图数据库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321040" y="4630102"/>
              <a:ext cx="22426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避免 LLM 生成查询的不一致风险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321040" y="4839652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双向索引：语义边 ↔ 源情节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321040" y="5049202"/>
              <a:ext cx="1728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确保 schema 格式一致性</a:t>
              </a:r>
            </a:p>
          </p:txBody>
        </p:sp>
        <p:sp>
          <p:nvSpPr>
            <p:cNvPr id="85" name="Freeform 85"/>
            <p:cNvSpPr/>
            <p:nvPr/>
          </p:nvSpPr>
          <p:spPr>
            <a:xfrm>
              <a:off x="8334375" y="5372100"/>
              <a:ext cx="1905000" cy="247650"/>
            </a:xfrm>
            <a:custGeom>
              <a:avLst/>
              <a:gdLst/>
              <a:ahLst/>
              <a:cxnLst/>
              <a:rect l="l" t="t" r="r" b="b"/>
              <a:pathLst>
                <a:path w="1905000" h="247650">
                  <a:moveTo>
                    <a:pt x="38100" y="0"/>
                  </a:moveTo>
                  <a:lnTo>
                    <a:pt x="1866900" y="0"/>
                  </a:lnTo>
                  <a:cubicBezTo>
                    <a:pt x="1887942" y="0"/>
                    <a:pt x="1905000" y="17058"/>
                    <a:pt x="1905000" y="38100"/>
                  </a:cubicBezTo>
                  <a:lnTo>
                    <a:pt x="1905000" y="209550"/>
                  </a:lnTo>
                  <a:cubicBezTo>
                    <a:pt x="1905000" y="230592"/>
                    <a:pt x="1887942" y="247650"/>
                    <a:pt x="1866900" y="247650"/>
                  </a:cubicBezTo>
                  <a:lnTo>
                    <a:pt x="38100" y="247650"/>
                  </a:lnTo>
                  <a:cubicBezTo>
                    <a:pt x="17058" y="247650"/>
                    <a:pt x="0" y="230592"/>
                    <a:pt x="0" y="2095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5E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547404" y="5446395"/>
              <a:ext cx="1478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支持前向/反向溯源查询</a:t>
              </a:r>
            </a:p>
          </p:txBody>
        </p:sp>
      </p:grpSp>
      <p:sp>
        <p:nvSpPr>
          <p:cNvPr id="88" name="Line 88"/>
          <p:cNvSpPr/>
          <p:nvPr/>
        </p:nvSpPr>
        <p:spPr>
          <a:xfrm>
            <a:off x="4048125" y="4953000"/>
            <a:ext cx="266700" cy="9525"/>
          </a:xfrm>
          <a:custGeom>
            <a:avLst/>
            <a:gdLst/>
            <a:ahLst/>
            <a:cxnLst/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4288">
            <a:solidFill>
              <a:srgbClr val="D0D7E0"/>
            </a:solidFill>
            <a:custDash>
              <a:ds d="266666" sp="200000"/>
            </a:custDash>
          </a:ln>
        </p:spPr>
      </p:sp>
      <p:sp>
        <p:nvSpPr>
          <p:cNvPr id="89" name="Polygon 89"/>
          <p:cNvSpPr/>
          <p:nvPr/>
        </p:nvSpPr>
        <p:spPr>
          <a:xfrm>
            <a:off x="4314825" y="4905375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90" name="Line 90"/>
          <p:cNvSpPr/>
          <p:nvPr/>
        </p:nvSpPr>
        <p:spPr>
          <a:xfrm>
            <a:off x="7858125" y="4953000"/>
            <a:ext cx="266700" cy="9525"/>
          </a:xfrm>
          <a:custGeom>
            <a:avLst/>
            <a:gdLst/>
            <a:ahLst/>
            <a:cxnLst/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4288">
            <a:solidFill>
              <a:srgbClr val="D0D7E0"/>
            </a:solidFill>
            <a:custDash>
              <a:ds d="266666" sp="200000"/>
            </a:custDash>
          </a:ln>
        </p:spPr>
      </p:sp>
      <p:sp>
        <p:nvSpPr>
          <p:cNvPr id="91" name="Polygon 91"/>
          <p:cNvSpPr/>
          <p:nvPr/>
        </p:nvSpPr>
        <p:spPr>
          <a:xfrm>
            <a:off x="8124825" y="4905375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F07C00"/>
          </a:solidFill>
          <a:ln>
            <a:noFill/>
          </a:ln>
        </p:spPr>
      </p:sp>
      <p:sp>
        <p:nvSpPr>
          <p:cNvPr id="92" name="Line 9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369570" y="6522720"/>
            <a:ext cx="21719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来源：arXiv:2501.13956v1 §2.1–2.2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690235" y="65227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知识图谱构建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1245001" y="6514624"/>
            <a:ext cx="387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5 / 12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F07C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345855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社区子图与增量图构建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77778" y="32480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ZEP AI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5760" y="842010"/>
            <a:ext cx="58929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标签传播动态单步扩展，支持流数据持续摄入，同时显著控制 LLM 推理成本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508635" y="1394460"/>
            <a:ext cx="5396865" cy="4272915"/>
            <a:chOff x="508635" y="1394460"/>
            <a:chExt cx="5396865" cy="4272915"/>
          </a:xfrm>
        </p:grpSpPr>
        <p:sp>
          <p:nvSpPr>
            <p:cNvPr id="10" name="TextBox 10"/>
            <p:cNvSpPr txBox="1"/>
            <p:nvPr/>
          </p:nvSpPr>
          <p:spPr>
            <a:xfrm>
              <a:off x="508635" y="1394460"/>
              <a:ext cx="23767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社区检测：Zep vs GraphRAG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23875" y="158115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19050">
              <a:solidFill>
                <a:srgbClr val="F07C00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23875" y="1695450"/>
              <a:ext cx="5381625" cy="1095375"/>
            </a:xfrm>
            <a:custGeom>
              <a:avLst/>
              <a:gdLst/>
              <a:ahLst/>
              <a:cxnLst/>
              <a:rect l="l" t="t" r="r" b="b"/>
              <a:pathLst>
                <a:path w="5381625" h="1095375">
                  <a:moveTo>
                    <a:pt x="76200" y="0"/>
                  </a:moveTo>
                  <a:lnTo>
                    <a:pt x="5305425" y="0"/>
                  </a:lnTo>
                  <a:cubicBezTo>
                    <a:pt x="5347509" y="0"/>
                    <a:pt x="5381625" y="34116"/>
                    <a:pt x="5381625" y="76200"/>
                  </a:cubicBezTo>
                  <a:lnTo>
                    <a:pt x="5381625" y="1019175"/>
                  </a:lnTo>
                  <a:cubicBezTo>
                    <a:pt x="5381625" y="1061259"/>
                    <a:pt x="5347509" y="1095375"/>
                    <a:pt x="5305425" y="1095375"/>
                  </a:cubicBezTo>
                  <a:lnTo>
                    <a:pt x="76200" y="1095375"/>
                  </a:lnTo>
                  <a:cubicBezTo>
                    <a:pt x="34116" y="1095375"/>
                    <a:pt x="0" y="1061259"/>
                    <a:pt x="0" y="10191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D0D7E0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23875" y="1695450"/>
              <a:ext cx="57150" cy="1095375"/>
            </a:xfrm>
            <a:custGeom>
              <a:avLst/>
              <a:gdLst/>
              <a:ahLst/>
              <a:cxnLst/>
              <a:rect l="l" t="t" r="r" b="b"/>
              <a:pathLst>
                <a:path w="57150" h="1095375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066800"/>
                  </a:lnTo>
                  <a:cubicBezTo>
                    <a:pt x="57150" y="1082582"/>
                    <a:pt x="44357" y="1095375"/>
                    <a:pt x="28575" y="1095375"/>
                  </a:cubicBezTo>
                  <a:lnTo>
                    <a:pt x="28575" y="1095375"/>
                  </a:lnTo>
                  <a:cubicBezTo>
                    <a:pt x="12793" y="1095375"/>
                    <a:pt x="0" y="1082582"/>
                    <a:pt x="0" y="106680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4865" y="1848802"/>
              <a:ext cx="17012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GraphRAG（对比方法）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1040" y="2096452"/>
              <a:ext cx="1966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使用 Leiden 算法全批量聚类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1040" y="2306002"/>
              <a:ext cx="29633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每次更新需完整重跑聚类 → 高延迟、高成本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1040" y="25155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不适合实时流数据场景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23875" y="2905125"/>
              <a:ext cx="5381625" cy="1333500"/>
            </a:xfrm>
            <a:custGeom>
              <a:avLst/>
              <a:gdLst/>
              <a:ahLst/>
              <a:cxnLst/>
              <a:rect l="l" t="t" r="r" b="b"/>
              <a:pathLst>
                <a:path w="5381625" h="1333500">
                  <a:moveTo>
                    <a:pt x="76200" y="0"/>
                  </a:moveTo>
                  <a:lnTo>
                    <a:pt x="5305425" y="0"/>
                  </a:lnTo>
                  <a:cubicBezTo>
                    <a:pt x="5347509" y="0"/>
                    <a:pt x="5381625" y="34116"/>
                    <a:pt x="5381625" y="76200"/>
                  </a:cubicBezTo>
                  <a:lnTo>
                    <a:pt x="5381625" y="1257300"/>
                  </a:lnTo>
                  <a:cubicBezTo>
                    <a:pt x="5381625" y="1299384"/>
                    <a:pt x="5347509" y="1333500"/>
                    <a:pt x="5305425" y="1333500"/>
                  </a:cubicBezTo>
                  <a:lnTo>
                    <a:pt x="76200" y="1333500"/>
                  </a:lnTo>
                  <a:cubicBezTo>
                    <a:pt x="34116" y="1333500"/>
                    <a:pt x="0" y="1299384"/>
                    <a:pt x="0" y="1257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F4FC"/>
            </a:solidFill>
            <a:ln w="14288">
              <a:solidFill>
                <a:srgbClr val="0066CC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23875" y="2905125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304925"/>
                  </a:lnTo>
                  <a:cubicBezTo>
                    <a:pt x="57150" y="1320707"/>
                    <a:pt x="44357" y="1333500"/>
                    <a:pt x="28575" y="1333500"/>
                  </a:cubicBezTo>
                  <a:lnTo>
                    <a:pt x="28575" y="1333500"/>
                  </a:lnTo>
                  <a:cubicBezTo>
                    <a:pt x="12793" y="1333500"/>
                    <a:pt x="0" y="1320707"/>
                    <a:pt x="0" y="1304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4865" y="3058478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Zep 动态标签传播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1040" y="3287078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单步递归扩展：新节点加入时仅更新邻居社区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1040" y="3496628"/>
              <a:ext cx="26796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社区摘要经迭代 map-reduce 方式生成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1040" y="3706178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社区名嵌入关键词，支持余弦相似检索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1992" y="3923824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定期完整刷新仍有必要，但显著减少频率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23875" y="4381500"/>
              <a:ext cx="5381625" cy="666750"/>
            </a:xfrm>
            <a:custGeom>
              <a:avLst/>
              <a:gdLst/>
              <a:ahLst/>
              <a:cxnLst/>
              <a:rect l="l" t="t" r="r" b="b"/>
              <a:pathLst>
                <a:path w="5381625" h="666750">
                  <a:moveTo>
                    <a:pt x="76200" y="0"/>
                  </a:moveTo>
                  <a:lnTo>
                    <a:pt x="5305425" y="0"/>
                  </a:lnTo>
                  <a:cubicBezTo>
                    <a:pt x="5347509" y="0"/>
                    <a:pt x="5381625" y="34116"/>
                    <a:pt x="5381625" y="76200"/>
                  </a:cubicBezTo>
                  <a:lnTo>
                    <a:pt x="5381625" y="590550"/>
                  </a:lnTo>
                  <a:cubicBezTo>
                    <a:pt x="5381625" y="632634"/>
                    <a:pt x="5347509" y="666750"/>
                    <a:pt x="5305425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33350" dist="28575" dir="10798854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6" name="TextBox 26"/>
            <p:cNvSpPr txBox="1"/>
            <p:nvPr/>
          </p:nvSpPr>
          <p:spPr>
            <a:xfrm>
              <a:off x="701040" y="4534852"/>
              <a:ext cx="6626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Zep 优势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09625" y="4781074"/>
              <a:ext cx="3428048" cy="198120"/>
              <a:chOff x="809625" y="4781074"/>
              <a:chExt cx="3428048" cy="19812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809625" y="4791075"/>
                <a:ext cx="95250" cy="95250"/>
              </a:xfrm>
              <a:prstGeom prst="ellipse">
                <a:avLst/>
              </a:prstGeom>
              <a:solidFill>
                <a:srgbClr val="F07C0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78218" y="4781074"/>
                <a:ext cx="15128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降低 LLM 推理调用频率</a:t>
                </a:r>
              </a:p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2905125" y="4791075"/>
                <a:ext cx="95250" cy="95250"/>
              </a:xfrm>
              <a:prstGeom prst="ellipse">
                <a:avLst/>
              </a:prstGeom>
              <a:solidFill>
                <a:srgbClr val="F07C00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3073718" y="4781074"/>
                <a:ext cx="11639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支持增量流式摄入</a:t>
                </a:r>
              </a:p>
            </p:txBody>
          </p:sp>
        </p:grpSp>
        <p:sp>
          <p:nvSpPr>
            <p:cNvPr id="32" name="Freeform 32"/>
            <p:cNvSpPr/>
            <p:nvPr/>
          </p:nvSpPr>
          <p:spPr>
            <a:xfrm>
              <a:off x="523875" y="5191125"/>
              <a:ext cx="5381625" cy="476250"/>
            </a:xfrm>
            <a:custGeom>
              <a:avLst/>
              <a:gdLst/>
              <a:ahLst/>
              <a:cxnLst/>
              <a:rect l="l" t="t" r="r" b="b"/>
              <a:pathLst>
                <a:path w="5381625" h="476250">
                  <a:moveTo>
                    <a:pt x="57150" y="0"/>
                  </a:moveTo>
                  <a:lnTo>
                    <a:pt x="5324475" y="0"/>
                  </a:lnTo>
                  <a:cubicBezTo>
                    <a:pt x="5356038" y="0"/>
                    <a:pt x="5381625" y="25587"/>
                    <a:pt x="5381625" y="57150"/>
                  </a:cubicBezTo>
                  <a:lnTo>
                    <a:pt x="5381625" y="419100"/>
                  </a:lnTo>
                  <a:cubicBezTo>
                    <a:pt x="5381625" y="450663"/>
                    <a:pt x="5356038" y="476250"/>
                    <a:pt x="5324475" y="476250"/>
                  </a:cubicBezTo>
                  <a:lnTo>
                    <a:pt x="57150" y="476250"/>
                  </a:lnTo>
                  <a:cubicBezTo>
                    <a:pt x="25587" y="476250"/>
                    <a:pt x="0" y="450663"/>
                    <a:pt x="0" y="419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5E8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523875" y="5191125"/>
              <a:ext cx="38100" cy="476250"/>
            </a:xfrm>
            <a:custGeom>
              <a:avLst/>
              <a:gdLst/>
              <a:ahLst/>
              <a:cxnLst/>
              <a:rect l="l" t="t" r="r" b="b"/>
              <a:pathLst>
                <a:path w="38100" h="476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57200"/>
                  </a:lnTo>
                  <a:cubicBezTo>
                    <a:pt x="38100" y="467721"/>
                    <a:pt x="29571" y="476250"/>
                    <a:pt x="19050" y="476250"/>
                  </a:cubicBezTo>
                  <a:lnTo>
                    <a:pt x="19050" y="476250"/>
                  </a:lnTo>
                  <a:cubicBezTo>
                    <a:pt x="8529" y="476250"/>
                    <a:pt x="0" y="467721"/>
                    <a:pt x="0" y="457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3418" y="5295424"/>
              <a:ext cx="34067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社区名关键词检索方式与 LightRAG 高层键值检索相似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4370" y="5474970"/>
              <a:ext cx="27174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（LightRAG + Graphiti 混合方向是未来工作）</a:t>
              </a:r>
            </a:p>
          </p:txBody>
        </p:sp>
      </p:grpSp>
      <p:sp>
        <p:nvSpPr>
          <p:cNvPr id="37" name="Line 37"/>
          <p:cNvSpPr/>
          <p:nvPr/>
        </p:nvSpPr>
        <p:spPr>
          <a:xfrm>
            <a:off x="6096000" y="133350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0"/>
                </a:moveTo>
                <a:lnTo>
                  <a:pt x="0" y="4762500"/>
                </a:lnTo>
              </a:path>
            </a:pathLst>
          </a:custGeom>
          <a:noFill/>
          <a:ln w="14288">
            <a:solidFill>
              <a:srgbClr val="E8F4FC"/>
            </a:solidFill>
            <a:custDash>
              <a:ds d="400000" sp="266666"/>
            </a:custDash>
          </a:ln>
        </p:spPr>
      </p:sp>
      <p:grpSp>
        <p:nvGrpSpPr>
          <p:cNvPr id="82" name="Group 82"/>
          <p:cNvGrpSpPr/>
          <p:nvPr/>
        </p:nvGrpSpPr>
        <p:grpSpPr>
          <a:xfrm>
            <a:off x="6271260" y="1394460"/>
            <a:ext cx="5396865" cy="4834890"/>
            <a:chOff x="6271260" y="1394460"/>
            <a:chExt cx="5396865" cy="4834890"/>
          </a:xfrm>
        </p:grpSpPr>
        <p:sp>
          <p:nvSpPr>
            <p:cNvPr id="38" name="TextBox 38"/>
            <p:cNvSpPr txBox="1"/>
            <p:nvPr/>
          </p:nvSpPr>
          <p:spPr>
            <a:xfrm>
              <a:off x="6271260" y="139446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完整图构建流程（端到端）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286500" y="15811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19050">
              <a:solidFill>
                <a:srgbClr val="0066CC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286500" y="1695450"/>
              <a:ext cx="5381625" cy="685800"/>
              <a:chOff x="6286500" y="1695450"/>
              <a:chExt cx="5381625" cy="685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286500" y="1695450"/>
                <a:ext cx="5381625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5381625" h="685800">
                    <a:moveTo>
                      <a:pt x="57150" y="0"/>
                    </a:moveTo>
                    <a:lnTo>
                      <a:pt x="5324475" y="0"/>
                    </a:lnTo>
                    <a:cubicBezTo>
                      <a:pt x="5356038" y="0"/>
                      <a:pt x="5381625" y="25587"/>
                      <a:pt x="5381625" y="57150"/>
                    </a:cubicBezTo>
                    <a:lnTo>
                      <a:pt x="5381625" y="628650"/>
                    </a:lnTo>
                    <a:cubicBezTo>
                      <a:pt x="5381625" y="660213"/>
                      <a:pt x="5356038" y="685800"/>
                      <a:pt x="5324475" y="685800"/>
                    </a:cubicBezTo>
                    <a:lnTo>
                      <a:pt x="57150" y="685800"/>
                    </a:lnTo>
                    <a:cubicBezTo>
                      <a:pt x="25587" y="685800"/>
                      <a:pt x="0" y="660213"/>
                      <a:pt x="0" y="6286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D0D7E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286500" y="1695450"/>
                <a:ext cx="5715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685800">
                    <a:moveTo>
                      <a:pt x="28575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657225"/>
                    </a:lnTo>
                    <a:cubicBezTo>
                      <a:pt x="57150" y="673007"/>
                      <a:pt x="44357" y="685800"/>
                      <a:pt x="28575" y="685800"/>
                    </a:cubicBezTo>
                    <a:lnTo>
                      <a:pt x="28575" y="685800"/>
                    </a:lnTo>
                    <a:cubicBezTo>
                      <a:pt x="12793" y="685800"/>
                      <a:pt x="0" y="673007"/>
                      <a:pt x="0" y="6572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6467475" y="1885950"/>
                <a:ext cx="304800" cy="304800"/>
              </a:xfrm>
              <a:prstGeom prst="ellipse">
                <a:avLst/>
              </a:prstGeom>
              <a:solidFill>
                <a:srgbClr val="003366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582387" y="1982152"/>
                <a:ext cx="749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872288" y="1850231"/>
                <a:ext cx="10464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摄入 Episode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874192" y="2095024"/>
                <a:ext cx="26947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消息/文本/JSON 输入 → 携带 tᵣₑf 时间戳</a:t>
                </a:r>
              </a:p>
            </p:txBody>
          </p:sp>
        </p:grpSp>
        <p:sp>
          <p:nvSpPr>
            <p:cNvPr id="47" name="Line 47"/>
            <p:cNvSpPr/>
            <p:nvPr/>
          </p:nvSpPr>
          <p:spPr>
            <a:xfrm>
              <a:off x="8972550" y="23812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4288">
              <a:solidFill>
                <a:srgbClr val="D0D7E0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8924925" y="2552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47625" y="11430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286500" y="2714625"/>
              <a:ext cx="5381625" cy="685800"/>
              <a:chOff x="6286500" y="2714625"/>
              <a:chExt cx="5381625" cy="685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286500" y="2714625"/>
                <a:ext cx="5381625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5381625" h="685800">
                    <a:moveTo>
                      <a:pt x="57150" y="0"/>
                    </a:moveTo>
                    <a:lnTo>
                      <a:pt x="5324475" y="0"/>
                    </a:lnTo>
                    <a:cubicBezTo>
                      <a:pt x="5356038" y="0"/>
                      <a:pt x="5381625" y="25587"/>
                      <a:pt x="5381625" y="57150"/>
                    </a:cubicBezTo>
                    <a:lnTo>
                      <a:pt x="5381625" y="628650"/>
                    </a:lnTo>
                    <a:cubicBezTo>
                      <a:pt x="5381625" y="660213"/>
                      <a:pt x="5356038" y="685800"/>
                      <a:pt x="5324475" y="685800"/>
                    </a:cubicBezTo>
                    <a:lnTo>
                      <a:pt x="57150" y="685800"/>
                    </a:lnTo>
                    <a:cubicBezTo>
                      <a:pt x="25587" y="685800"/>
                      <a:pt x="0" y="660213"/>
                      <a:pt x="0" y="6286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D0D7E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286500" y="2714625"/>
                <a:ext cx="5715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685800">
                    <a:moveTo>
                      <a:pt x="28575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657225"/>
                    </a:lnTo>
                    <a:cubicBezTo>
                      <a:pt x="57150" y="673007"/>
                      <a:pt x="44357" y="685800"/>
                      <a:pt x="28575" y="685800"/>
                    </a:cubicBezTo>
                    <a:lnTo>
                      <a:pt x="28575" y="685800"/>
                    </a:lnTo>
                    <a:cubicBezTo>
                      <a:pt x="12793" y="685800"/>
                      <a:pt x="0" y="673007"/>
                      <a:pt x="0" y="6572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6467475" y="2905125"/>
                <a:ext cx="304800" cy="304800"/>
              </a:xfrm>
              <a:prstGeom prst="ellipse">
                <a:avLst/>
              </a:pr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562259" y="3001328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872288" y="2869406"/>
                <a:ext cx="23231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实体提取 + 向量化 + 解析去重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874192" y="3114199"/>
                <a:ext cx="322873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NER + Reflexion → 1024维嵌入 → cosine+BM25去重</a:t>
                </a:r>
              </a:p>
            </p:txBody>
          </p:sp>
        </p:grpSp>
        <p:sp>
          <p:nvSpPr>
            <p:cNvPr id="56" name="Line 56"/>
            <p:cNvSpPr/>
            <p:nvPr/>
          </p:nvSpPr>
          <p:spPr>
            <a:xfrm>
              <a:off x="8972550" y="3400425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4288">
              <a:solidFill>
                <a:srgbClr val="D0D7E0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8924925" y="35718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47625" y="11430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286500" y="3733800"/>
              <a:ext cx="5381625" cy="685800"/>
              <a:chOff x="6286500" y="3733800"/>
              <a:chExt cx="5381625" cy="685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286500" y="3733800"/>
                <a:ext cx="5381625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5381625" h="685800">
                    <a:moveTo>
                      <a:pt x="57150" y="0"/>
                    </a:moveTo>
                    <a:lnTo>
                      <a:pt x="5324475" y="0"/>
                    </a:lnTo>
                    <a:cubicBezTo>
                      <a:pt x="5356038" y="0"/>
                      <a:pt x="5381625" y="25587"/>
                      <a:pt x="5381625" y="57150"/>
                    </a:cubicBezTo>
                    <a:lnTo>
                      <a:pt x="5381625" y="628650"/>
                    </a:lnTo>
                    <a:cubicBezTo>
                      <a:pt x="5381625" y="660213"/>
                      <a:pt x="5356038" y="685800"/>
                      <a:pt x="5324475" y="685800"/>
                    </a:cubicBezTo>
                    <a:lnTo>
                      <a:pt x="57150" y="685800"/>
                    </a:lnTo>
                    <a:cubicBezTo>
                      <a:pt x="25587" y="685800"/>
                      <a:pt x="0" y="660213"/>
                      <a:pt x="0" y="6286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D0D7E0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286500" y="3733800"/>
                <a:ext cx="5715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685800">
                    <a:moveTo>
                      <a:pt x="28575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657225"/>
                    </a:lnTo>
                    <a:cubicBezTo>
                      <a:pt x="57150" y="673007"/>
                      <a:pt x="44357" y="685800"/>
                      <a:pt x="28575" y="685800"/>
                    </a:cubicBezTo>
                    <a:lnTo>
                      <a:pt x="28575" y="685800"/>
                    </a:lnTo>
                    <a:cubicBezTo>
                      <a:pt x="12793" y="685800"/>
                      <a:pt x="0" y="673007"/>
                      <a:pt x="0" y="6572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F07C00"/>
              </a:solidFill>
              <a:ln>
                <a:noFill/>
              </a:ln>
            </p:spPr>
          </p:sp>
          <p:sp>
            <p:nvSpPr>
              <p:cNvPr id="60" name="Ellipse 60"/>
              <p:cNvSpPr/>
              <p:nvPr/>
            </p:nvSpPr>
            <p:spPr>
              <a:xfrm>
                <a:off x="6467475" y="3924300"/>
                <a:ext cx="304800" cy="304800"/>
              </a:xfrm>
              <a:prstGeom prst="ellipse">
                <a:avLst/>
              </a:prstGeom>
              <a:solidFill>
                <a:srgbClr val="F07C00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562259" y="40205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72288" y="3888581"/>
                <a:ext cx="23231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事实提取 + 时间抽取 + 边失效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874192" y="4133374"/>
                <a:ext cx="38410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三元组提取 → 设置 tᵥₐₗᵢ_d/tᵢₙᵥₐₗᵢ_d → LLM判断矛盾失效</a:t>
                </a:r>
              </a:p>
            </p:txBody>
          </p:sp>
        </p:grpSp>
        <p:sp>
          <p:nvSpPr>
            <p:cNvPr id="65" name="Line 65"/>
            <p:cNvSpPr/>
            <p:nvPr/>
          </p:nvSpPr>
          <p:spPr>
            <a:xfrm>
              <a:off x="8972550" y="44196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4288">
              <a:solidFill>
                <a:srgbClr val="D0D7E0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8924925" y="45910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47625" y="11430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286500" y="4752975"/>
              <a:ext cx="5381625" cy="685800"/>
              <a:chOff x="6286500" y="4752975"/>
              <a:chExt cx="5381625" cy="685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286500" y="4752975"/>
                <a:ext cx="5381625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5381625" h="685800">
                    <a:moveTo>
                      <a:pt x="57150" y="0"/>
                    </a:moveTo>
                    <a:lnTo>
                      <a:pt x="5324475" y="0"/>
                    </a:lnTo>
                    <a:cubicBezTo>
                      <a:pt x="5356038" y="0"/>
                      <a:pt x="5381625" y="25587"/>
                      <a:pt x="5381625" y="57150"/>
                    </a:cubicBezTo>
                    <a:lnTo>
                      <a:pt x="5381625" y="628650"/>
                    </a:lnTo>
                    <a:cubicBezTo>
                      <a:pt x="5381625" y="660213"/>
                      <a:pt x="5356038" y="685800"/>
                      <a:pt x="5324475" y="685800"/>
                    </a:cubicBezTo>
                    <a:lnTo>
                      <a:pt x="57150" y="685800"/>
                    </a:lnTo>
                    <a:cubicBezTo>
                      <a:pt x="25587" y="685800"/>
                      <a:pt x="0" y="660213"/>
                      <a:pt x="0" y="6286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D0D7E0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286500" y="4752975"/>
                <a:ext cx="5715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685800">
                    <a:moveTo>
                      <a:pt x="28575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657225"/>
                    </a:lnTo>
                    <a:cubicBezTo>
                      <a:pt x="57150" y="673007"/>
                      <a:pt x="44357" y="685800"/>
                      <a:pt x="28575" y="685800"/>
                    </a:cubicBezTo>
                    <a:lnTo>
                      <a:pt x="28575" y="685800"/>
                    </a:lnTo>
                    <a:cubicBezTo>
                      <a:pt x="12793" y="685800"/>
                      <a:pt x="0" y="673007"/>
                      <a:pt x="0" y="6572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28A745"/>
              </a:solidFill>
              <a:ln>
                <a:noFill/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6467475" y="4943475"/>
                <a:ext cx="304800" cy="304800"/>
              </a:xfrm>
              <a:prstGeom prst="ellipse">
                <a:avLst/>
              </a:prstGeom>
              <a:solidFill>
                <a:srgbClr val="28A745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6562259" y="5039678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6872288" y="4907756"/>
                <a:ext cx="244387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社区检测（标签传播动态扩展）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6874192" y="5152549"/>
                <a:ext cx="277306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新节点 → 邻居社区多数投票 → 更新社区摘要</a:t>
                </a:r>
              </a:p>
            </p:txBody>
          </p:sp>
        </p:grpSp>
        <p:sp>
          <p:nvSpPr>
            <p:cNvPr id="74" name="Line 74"/>
            <p:cNvSpPr/>
            <p:nvPr/>
          </p:nvSpPr>
          <p:spPr>
            <a:xfrm>
              <a:off x="8972550" y="5438775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4288">
              <a:solidFill>
                <a:srgbClr val="D0D7E0"/>
              </a:solidFill>
            </a:ln>
          </p:spPr>
        </p:sp>
        <p:sp>
          <p:nvSpPr>
            <p:cNvPr id="75" name="Polygon 75"/>
            <p:cNvSpPr/>
            <p:nvPr/>
          </p:nvSpPr>
          <p:spPr>
            <a:xfrm>
              <a:off x="8924925" y="56102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47625" y="11430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8A745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6286500" y="5772150"/>
              <a:ext cx="5381625" cy="457200"/>
              <a:chOff x="6286500" y="5772150"/>
              <a:chExt cx="5381625" cy="4572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286500" y="5772150"/>
                <a:ext cx="53816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5381625" h="457200">
                    <a:moveTo>
                      <a:pt x="57150" y="0"/>
                    </a:moveTo>
                    <a:lnTo>
                      <a:pt x="5324475" y="0"/>
                    </a:lnTo>
                    <a:cubicBezTo>
                      <a:pt x="5356038" y="0"/>
                      <a:pt x="5381625" y="25587"/>
                      <a:pt x="5381625" y="57150"/>
                    </a:cubicBezTo>
                    <a:lnTo>
                      <a:pt x="5381625" y="400050"/>
                    </a:lnTo>
                    <a:cubicBezTo>
                      <a:pt x="5381625" y="431613"/>
                      <a:pt x="5356038" y="457200"/>
                      <a:pt x="5324475" y="457200"/>
                    </a:cubicBezTo>
                    <a:lnTo>
                      <a:pt x="57150" y="457200"/>
                    </a:lnTo>
                    <a:cubicBezTo>
                      <a:pt x="25587" y="457200"/>
                      <a:pt x="0" y="431613"/>
                      <a:pt x="0" y="4000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6467475" y="5848350"/>
                <a:ext cx="304800" cy="304800"/>
              </a:xfrm>
              <a:prstGeom prst="ellipse">
                <a:avLst/>
              </a:prstGeom>
              <a:solidFill>
                <a:srgbClr val="F07C00"/>
              </a:solidFill>
              <a:ln>
                <a:noFill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6562259" y="594455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6872288" y="5812631"/>
                <a:ext cx="15985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写入 Neo4j 知识图谱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6874192" y="6028849"/>
                <a:ext cx="26449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ACCEE"/>
                    </a:solidFill>
                    <a:latin typeface="Arial"/>
                    <a:ea typeface="Microsoft YaHei"/>
                    <a:cs typeface="Arial"/>
                  </a:rPr>
                  <a:t>Cypher 预定义查询，schema 一致性保证</a:t>
                </a:r>
              </a:p>
            </p:txBody>
          </p:sp>
        </p:grpSp>
      </p:grpSp>
      <p:sp>
        <p:nvSpPr>
          <p:cNvPr id="83" name="Line 83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369570" y="6522720"/>
            <a:ext cx="19156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来源：arXiv:2501.13956v1 §2.3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5690235" y="65227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知识图谱构建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245001" y="6514624"/>
            <a:ext cx="387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6 / 12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F07C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345855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记忆检索：三阶段管道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77778" y="32480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ZEP AI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5760" y="842010"/>
            <a:ext cx="71197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f(α) = χ(ρ(φ(α))) — 查询经搜索召回、重排精排、构造输出三步组合，转化为 LLM 上下文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23875" y="1381125"/>
            <a:ext cx="1238250" cy="571500"/>
            <a:chOff x="523875" y="1381125"/>
            <a:chExt cx="1238250" cy="571500"/>
          </a:xfrm>
        </p:grpSpPr>
        <p:sp>
          <p:nvSpPr>
            <p:cNvPr id="10" name="Freeform 10"/>
            <p:cNvSpPr/>
            <p:nvPr/>
          </p:nvSpPr>
          <p:spPr>
            <a:xfrm>
              <a:off x="523875" y="1381125"/>
              <a:ext cx="1238250" cy="571500"/>
            </a:xfrm>
            <a:custGeom>
              <a:avLst/>
              <a:gdLst/>
              <a:ahLst/>
              <a:cxnLst/>
              <a:rect l="l" t="t" r="r" b="b"/>
              <a:pathLst>
                <a:path w="1238250" h="571500">
                  <a:moveTo>
                    <a:pt x="76200" y="0"/>
                  </a:moveTo>
                  <a:lnTo>
                    <a:pt x="1162050" y="0"/>
                  </a:lnTo>
                  <a:cubicBezTo>
                    <a:pt x="1204134" y="0"/>
                    <a:pt x="1238250" y="34116"/>
                    <a:pt x="1238250" y="76200"/>
                  </a:cubicBezTo>
                  <a:lnTo>
                    <a:pt x="1238250" y="495300"/>
                  </a:lnTo>
                  <a:cubicBezTo>
                    <a:pt x="1238250" y="537384"/>
                    <a:pt x="1204134" y="571500"/>
                    <a:pt x="116205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8645" y="15249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查询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3694" y="1731645"/>
              <a:ext cx="3186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ACCEE"/>
                  </a:solidFill>
                  <a:latin typeface="Arial"/>
                  <a:ea typeface="Microsoft YaHei"/>
                  <a:cs typeface="Arial"/>
                </a:rPr>
                <a:t>α ∈ S</a:t>
              </a:r>
            </a:p>
          </p:txBody>
        </p:sp>
      </p:grpSp>
      <p:sp>
        <p:nvSpPr>
          <p:cNvPr id="14" name="Line 14"/>
          <p:cNvSpPr/>
          <p:nvPr/>
        </p:nvSpPr>
        <p:spPr>
          <a:xfrm>
            <a:off x="1762125" y="166687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2047875" y="161925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2171700" y="1314450"/>
            <a:ext cx="2571750" cy="714375"/>
            <a:chOff x="2171700" y="1314450"/>
            <a:chExt cx="2571750" cy="714375"/>
          </a:xfrm>
        </p:grpSpPr>
        <p:sp>
          <p:nvSpPr>
            <p:cNvPr id="16" name="Freeform 16"/>
            <p:cNvSpPr/>
            <p:nvPr/>
          </p:nvSpPr>
          <p:spPr>
            <a:xfrm>
              <a:off x="2171700" y="1314450"/>
              <a:ext cx="2571750" cy="714375"/>
            </a:xfrm>
            <a:custGeom>
              <a:avLst/>
              <a:gdLst/>
              <a:ahLst/>
              <a:cxnLst/>
              <a:rect l="l" t="t" r="r" b="b"/>
              <a:pathLst>
                <a:path w="2571750" h="714375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619125"/>
                  </a:lnTo>
                  <a:cubicBezTo>
                    <a:pt x="2571750" y="671730"/>
                    <a:pt x="2529105" y="714375"/>
                    <a:pt x="2476500" y="714375"/>
                  </a:cubicBezTo>
                  <a:lnTo>
                    <a:pt x="95250" y="714375"/>
                  </a:lnTo>
                  <a:cubicBezTo>
                    <a:pt x="42645" y="714375"/>
                    <a:pt x="0" y="671730"/>
                    <a:pt x="0" y="619125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180102" y="1461135"/>
              <a:ext cx="5549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φ 搜索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75918" y="1685449"/>
              <a:ext cx="1363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ACCEE"/>
                  </a:solidFill>
                  <a:latin typeface="Arial"/>
                  <a:ea typeface="Microsoft YaHei"/>
                  <a:cs typeface="Arial"/>
                </a:rPr>
                <a:t>cosine + BM25 + BFS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57880" y="1854041"/>
              <a:ext cx="15993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AADDD"/>
                  </a:solidFill>
                  <a:latin typeface="Arial"/>
                  <a:ea typeface="Microsoft YaHei"/>
                  <a:cs typeface="Arial"/>
                </a:rPr>
                <a:t>候选三元组（边+实体+社区）</a:t>
              </a:r>
            </a:p>
          </p:txBody>
        </p:sp>
      </p:grpSp>
      <p:sp>
        <p:nvSpPr>
          <p:cNvPr id="21" name="Line 21"/>
          <p:cNvSpPr/>
          <p:nvPr/>
        </p:nvSpPr>
        <p:spPr>
          <a:xfrm>
            <a:off x="4743450" y="166687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5029200" y="161925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5153025" y="1314450"/>
            <a:ext cx="2571750" cy="714375"/>
            <a:chOff x="5153025" y="1314450"/>
            <a:chExt cx="2571750" cy="714375"/>
          </a:xfrm>
        </p:grpSpPr>
        <p:sp>
          <p:nvSpPr>
            <p:cNvPr id="23" name="Freeform 23"/>
            <p:cNvSpPr/>
            <p:nvPr/>
          </p:nvSpPr>
          <p:spPr>
            <a:xfrm>
              <a:off x="5153025" y="1314450"/>
              <a:ext cx="2571750" cy="714375"/>
            </a:xfrm>
            <a:custGeom>
              <a:avLst/>
              <a:gdLst/>
              <a:ahLst/>
              <a:cxnLst/>
              <a:rect l="l" t="t" r="r" b="b"/>
              <a:pathLst>
                <a:path w="2571750" h="714375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619125"/>
                  </a:lnTo>
                  <a:cubicBezTo>
                    <a:pt x="2571750" y="671730"/>
                    <a:pt x="2529105" y="714375"/>
                    <a:pt x="2476500" y="714375"/>
                  </a:cubicBezTo>
                  <a:lnTo>
                    <a:pt x="95250" y="714375"/>
                  </a:lnTo>
                  <a:cubicBezTo>
                    <a:pt x="42645" y="714375"/>
                    <a:pt x="0" y="671730"/>
                    <a:pt x="0" y="619125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61427" y="1461135"/>
              <a:ext cx="5549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ρ 重排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94768" y="1685449"/>
              <a:ext cx="24882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CE5FF"/>
                  </a:solidFill>
                  <a:latin typeface="Arial"/>
                  <a:ea typeface="Microsoft YaHei"/>
                  <a:cs typeface="Arial"/>
                </a:rPr>
                <a:t>RRF / MMR / 频率 / 距离 / 交叉编码器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92831" y="1854041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AAD4FF"/>
                  </a:solidFill>
                  <a:latin typeface="Arial"/>
                  <a:ea typeface="Microsoft YaHei"/>
                  <a:cs typeface="Arial"/>
                </a:rPr>
                <a:t>召回→精排，提升准确率</a:t>
              </a:r>
            </a:p>
          </p:txBody>
        </p:sp>
      </p:grpSp>
      <p:sp>
        <p:nvSpPr>
          <p:cNvPr id="28" name="Line 28"/>
          <p:cNvSpPr/>
          <p:nvPr/>
        </p:nvSpPr>
        <p:spPr>
          <a:xfrm>
            <a:off x="7724775" y="166687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8010525" y="161925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8134350" y="1314450"/>
            <a:ext cx="2571750" cy="714375"/>
            <a:chOff x="8134350" y="1314450"/>
            <a:chExt cx="2571750" cy="714375"/>
          </a:xfrm>
        </p:grpSpPr>
        <p:sp>
          <p:nvSpPr>
            <p:cNvPr id="30" name="Freeform 30"/>
            <p:cNvSpPr/>
            <p:nvPr/>
          </p:nvSpPr>
          <p:spPr>
            <a:xfrm>
              <a:off x="8134350" y="1314450"/>
              <a:ext cx="2571750" cy="714375"/>
            </a:xfrm>
            <a:custGeom>
              <a:avLst/>
              <a:gdLst/>
              <a:ahLst/>
              <a:cxnLst/>
              <a:rect l="l" t="t" r="r" b="b"/>
              <a:pathLst>
                <a:path w="2571750" h="714375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619125"/>
                  </a:lnTo>
                  <a:cubicBezTo>
                    <a:pt x="2571750" y="671730"/>
                    <a:pt x="2529105" y="714375"/>
                    <a:pt x="2476500" y="714375"/>
                  </a:cubicBezTo>
                  <a:lnTo>
                    <a:pt x="95250" y="714375"/>
                  </a:lnTo>
                  <a:cubicBezTo>
                    <a:pt x="42645" y="714375"/>
                    <a:pt x="0" y="671730"/>
                    <a:pt x="0" y="619125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42752" y="1461135"/>
              <a:ext cx="5549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χ 构造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03931" y="1685449"/>
              <a:ext cx="20325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E0BB"/>
                  </a:solidFill>
                  <a:latin typeface="Arial"/>
                  <a:ea typeface="Microsoft YaHei"/>
                  <a:cs typeface="Arial"/>
                </a:rPr>
                <a:t>FACTS + ENTITIES 上下文字符串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74751" y="1854041"/>
              <a:ext cx="14909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D0A0"/>
                  </a:solidFill>
                  <a:latin typeface="Arial"/>
                  <a:ea typeface="Microsoft YaHei"/>
                  <a:cs typeface="Arial"/>
                </a:rPr>
                <a:t>格式化后输出给 LLM Agent</a:t>
              </a:r>
            </a:p>
          </p:txBody>
        </p:sp>
      </p:grpSp>
      <p:sp>
        <p:nvSpPr>
          <p:cNvPr id="35" name="Line 35"/>
          <p:cNvSpPr/>
          <p:nvPr/>
        </p:nvSpPr>
        <p:spPr>
          <a:xfrm>
            <a:off x="10706100" y="166687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F07C00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10991850" y="161925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F07C0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11106150" y="1381125"/>
            <a:ext cx="857250" cy="571500"/>
            <a:chOff x="11106150" y="1381125"/>
            <a:chExt cx="857250" cy="571500"/>
          </a:xfrm>
        </p:grpSpPr>
        <p:sp>
          <p:nvSpPr>
            <p:cNvPr id="37" name="Freeform 37"/>
            <p:cNvSpPr/>
            <p:nvPr/>
          </p:nvSpPr>
          <p:spPr>
            <a:xfrm>
              <a:off x="11106150" y="1381125"/>
              <a:ext cx="857250" cy="571500"/>
            </a:xfrm>
            <a:custGeom>
              <a:avLst/>
              <a:gdLst/>
              <a:ahLst/>
              <a:cxnLst/>
              <a:rect l="l" t="t" r="r" b="b"/>
              <a:pathLst>
                <a:path w="857250" h="571500">
                  <a:moveTo>
                    <a:pt x="76200" y="0"/>
                  </a:moveTo>
                  <a:lnTo>
                    <a:pt x="781050" y="0"/>
                  </a:lnTo>
                  <a:cubicBezTo>
                    <a:pt x="823134" y="0"/>
                    <a:pt x="857250" y="34116"/>
                    <a:pt x="857250" y="76200"/>
                  </a:cubicBezTo>
                  <a:lnTo>
                    <a:pt x="857250" y="495300"/>
                  </a:lnTo>
                  <a:cubicBezTo>
                    <a:pt x="857250" y="537384"/>
                    <a:pt x="823134" y="571500"/>
                    <a:pt x="78105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298114" y="153304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75469" y="1731645"/>
              <a:ext cx="3186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ACCEE"/>
                  </a:solidFill>
                  <a:latin typeface="Arial"/>
                  <a:ea typeface="Microsoft YaHei"/>
                  <a:cs typeface="Arial"/>
                </a:rPr>
                <a:t>β ∈ S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523875" y="2171700"/>
            <a:ext cx="11439525" cy="266700"/>
          </a:xfrm>
          <a:custGeom>
            <a:avLst/>
            <a:gdLst/>
            <a:ahLst/>
            <a:cxnLst/>
            <a:rect l="l" t="t" r="r" b="b"/>
            <a:pathLst>
              <a:path w="11439525" h="266700">
                <a:moveTo>
                  <a:pt x="38100" y="0"/>
                </a:moveTo>
                <a:lnTo>
                  <a:pt x="11401425" y="0"/>
                </a:lnTo>
                <a:cubicBezTo>
                  <a:pt x="11422467" y="0"/>
                  <a:pt x="11439525" y="17058"/>
                  <a:pt x="11439525" y="38100"/>
                </a:cubicBezTo>
                <a:lnTo>
                  <a:pt x="11439525" y="228600"/>
                </a:lnTo>
                <a:cubicBezTo>
                  <a:pt x="11439525" y="249642"/>
                  <a:pt x="11422467" y="266700"/>
                  <a:pt x="11401425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3075524" y="2240756"/>
            <a:ext cx="60409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f(α) = χ(ρ(φ(α))) = β 检索上下文从查询到最终上下文字符串的完整函数组合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08635" y="2613660"/>
            <a:ext cx="23951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φ 搜索层：三种互补搜索方法</a:t>
            </a:r>
          </a:p>
        </p:txBody>
      </p:sp>
      <p:sp>
        <p:nvSpPr>
          <p:cNvPr id="44" name="Line 44"/>
          <p:cNvSpPr/>
          <p:nvPr/>
        </p:nvSpPr>
        <p:spPr>
          <a:xfrm>
            <a:off x="523875" y="2800350"/>
            <a:ext cx="3000375" cy="9525"/>
          </a:xfrm>
          <a:custGeom>
            <a:avLst/>
            <a:gdLst/>
            <a:ahLst/>
            <a:cxnLst/>
            <a:rect l="l" t="t" r="r" b="b"/>
            <a:pathLst>
              <a:path w="3000375" h="9525">
                <a:moveTo>
                  <a:pt x="0" y="0"/>
                </a:moveTo>
                <a:lnTo>
                  <a:pt x="3000375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grpSp>
        <p:nvGrpSpPr>
          <p:cNvPr id="68" name="Group 68"/>
          <p:cNvGrpSpPr/>
          <p:nvPr/>
        </p:nvGrpSpPr>
        <p:grpSpPr>
          <a:xfrm>
            <a:off x="523875" y="2905125"/>
            <a:ext cx="3505200" cy="2476500"/>
            <a:chOff x="523875" y="2905125"/>
            <a:chExt cx="3505200" cy="2476500"/>
          </a:xfrm>
        </p:grpSpPr>
        <p:sp>
          <p:nvSpPr>
            <p:cNvPr id="45" name="Freeform 45"/>
            <p:cNvSpPr/>
            <p:nvPr/>
          </p:nvSpPr>
          <p:spPr>
            <a:xfrm>
              <a:off x="523875" y="2905125"/>
              <a:ext cx="3505200" cy="2476500"/>
            </a:xfrm>
            <a:custGeom>
              <a:avLst/>
              <a:gdLst/>
              <a:ahLst/>
              <a:cxnLst/>
              <a:rect l="l" t="t" r="r" b="b"/>
              <a:pathLst>
                <a:path w="3505200" h="24765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2400300"/>
                  </a:lnTo>
                  <a:cubicBezTo>
                    <a:pt x="3505200" y="2442384"/>
                    <a:pt x="3471084" y="2476500"/>
                    <a:pt x="3429000" y="2476500"/>
                  </a:cubicBezTo>
                  <a:lnTo>
                    <a:pt x="76200" y="2476500"/>
                  </a:lnTo>
                  <a:cubicBezTo>
                    <a:pt x="34116" y="2476500"/>
                    <a:pt x="0" y="2442384"/>
                    <a:pt x="0" y="2400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33350" dist="28575" dir="10798854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6" name="Freeform 46"/>
            <p:cNvSpPr/>
            <p:nvPr/>
          </p:nvSpPr>
          <p:spPr>
            <a:xfrm>
              <a:off x="523875" y="2905125"/>
              <a:ext cx="3505200" cy="523875"/>
            </a:xfrm>
            <a:custGeom>
              <a:avLst/>
              <a:gdLst/>
              <a:ahLst/>
              <a:cxnLst/>
              <a:rect l="l" t="t" r="r" b="b"/>
              <a:pathLst>
                <a:path w="3505200" h="523875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447675"/>
                  </a:lnTo>
                  <a:cubicBezTo>
                    <a:pt x="3505200" y="489759"/>
                    <a:pt x="3471084" y="523875"/>
                    <a:pt x="3429000" y="523875"/>
                  </a:cubicBezTo>
                  <a:lnTo>
                    <a:pt x="76200" y="523875"/>
                  </a:lnTo>
                  <a:cubicBezTo>
                    <a:pt x="34116" y="523875"/>
                    <a:pt x="0" y="489759"/>
                    <a:pt x="0" y="4476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23875" y="3238500"/>
              <a:ext cx="3505200" cy="190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479137" y="3080385"/>
              <a:ext cx="15946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φcos 余弦语义搜索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758825" y="3016250"/>
              <a:ext cx="200026" cy="200025"/>
              <a:chOff x="758825" y="3016250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58825" y="30607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81050" y="30162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81050" y="31051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3637" y="3127375"/>
                <a:ext cx="24088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4088" h="41194">
                    <a:moveTo>
                      <a:pt x="24088" y="0"/>
                    </a:moveTo>
                    <a:cubicBezTo>
                      <a:pt x="14131" y="1"/>
                      <a:pt x="5389" y="6625"/>
                      <a:pt x="2695" y="16211"/>
                    </a:cubicBezTo>
                    <a:cubicBezTo>
                      <a:pt x="0" y="25797"/>
                      <a:pt x="4010" y="36005"/>
                      <a:pt x="12509" y="41194"/>
                    </a:cubicBez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47725" y="301625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92175" y="302736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14400" y="3016250"/>
                <a:ext cx="9525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">
                    <a:moveTo>
                      <a:pt x="0" y="0"/>
                    </a:moveTo>
                    <a:lnTo>
                      <a:pt x="0" y="11112"/>
                    </a:ln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14400" y="3071812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81062" y="31384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38848" y="3196272"/>
                <a:ext cx="20003" cy="20003"/>
              </a:xfrm>
              <a:custGeom>
                <a:avLst/>
                <a:gdLst/>
                <a:ahLst/>
                <a:cxnLst/>
                <a:rect l="l" t="t" r="r" b="b"/>
                <a:pathLst>
                  <a:path w="20003" h="20003">
                    <a:moveTo>
                      <a:pt x="0" y="0"/>
                    </a:moveTo>
                    <a:lnTo>
                      <a:pt x="20003" y="20003"/>
                    </a:ln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01040" y="35823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捕捉语义相似性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1040" y="3830002"/>
              <a:ext cx="14451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基于 1024维向量嵌入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1040" y="4039552"/>
              <a:ext cx="16675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利用 Neo4j Lucene 实现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1040" y="424910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适用：语义相近但用词不同的查询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714375" y="4552950"/>
              <a:ext cx="3048000" cy="266700"/>
            </a:xfrm>
            <a:custGeom>
              <a:avLst/>
              <a:gdLst/>
              <a:ahLst/>
              <a:cxnLst/>
              <a:rect l="l" t="t" r="r" b="b"/>
              <a:pathLst>
                <a:path w="3048000" h="266700">
                  <a:moveTo>
                    <a:pt x="38100" y="0"/>
                  </a:moveTo>
                  <a:lnTo>
                    <a:pt x="3009900" y="0"/>
                  </a:lnTo>
                  <a:cubicBezTo>
                    <a:pt x="3030942" y="0"/>
                    <a:pt x="3048000" y="17058"/>
                    <a:pt x="3048000" y="38100"/>
                  </a:cubicBezTo>
                  <a:lnTo>
                    <a:pt x="3048000" y="228600"/>
                  </a:lnTo>
                  <a:cubicBezTo>
                    <a:pt x="3048000" y="249642"/>
                    <a:pt x="3030942" y="266700"/>
                    <a:pt x="3009900" y="266700"/>
                  </a:cubicBezTo>
                  <a:lnTo>
                    <a:pt x="38100" y="266700"/>
                  </a:lnTo>
                  <a:cubicBezTo>
                    <a:pt x="17058" y="266700"/>
                    <a:pt x="0" y="249642"/>
                    <a:pt x="0" y="2286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34366" y="4628674"/>
              <a:ext cx="30080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搜索字段：边-fact / 实体-name / 社区-name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714375" y="4905375"/>
              <a:ext cx="762000" cy="228600"/>
            </a:xfrm>
            <a:custGeom>
              <a:avLst/>
              <a:gdLst/>
              <a:ahLst/>
              <a:cxnLst/>
              <a:rect l="l" t="t" r="r" b="b"/>
              <a:pathLst>
                <a:path w="762000" h="2286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190500"/>
                  </a:lnTo>
                  <a:cubicBezTo>
                    <a:pt x="762000" y="211542"/>
                    <a:pt x="744942" y="228600"/>
                    <a:pt x="7239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21055" y="49701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语义维度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343400" y="2905125"/>
            <a:ext cx="3505200" cy="2476500"/>
            <a:chOff x="4343400" y="2905125"/>
            <a:chExt cx="3505200" cy="2476500"/>
          </a:xfrm>
        </p:grpSpPr>
        <p:sp>
          <p:nvSpPr>
            <p:cNvPr id="69" name="Freeform 69"/>
            <p:cNvSpPr/>
            <p:nvPr/>
          </p:nvSpPr>
          <p:spPr>
            <a:xfrm>
              <a:off x="4343400" y="2905125"/>
              <a:ext cx="3505200" cy="2476500"/>
            </a:xfrm>
            <a:custGeom>
              <a:avLst/>
              <a:gdLst/>
              <a:ahLst/>
              <a:cxnLst/>
              <a:rect l="l" t="t" r="r" b="b"/>
              <a:pathLst>
                <a:path w="3505200" h="24765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2400300"/>
                  </a:lnTo>
                  <a:cubicBezTo>
                    <a:pt x="3505200" y="2442384"/>
                    <a:pt x="3471084" y="2476500"/>
                    <a:pt x="3429000" y="2476500"/>
                  </a:cubicBezTo>
                  <a:lnTo>
                    <a:pt x="76200" y="2476500"/>
                  </a:lnTo>
                  <a:cubicBezTo>
                    <a:pt x="34116" y="2476500"/>
                    <a:pt x="0" y="2442384"/>
                    <a:pt x="0" y="2400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33350" dist="28575" dir="10798854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70" name="Freeform 70"/>
            <p:cNvSpPr/>
            <p:nvPr/>
          </p:nvSpPr>
          <p:spPr>
            <a:xfrm>
              <a:off x="4343400" y="2905125"/>
              <a:ext cx="3505200" cy="523875"/>
            </a:xfrm>
            <a:custGeom>
              <a:avLst/>
              <a:gdLst/>
              <a:ahLst/>
              <a:cxnLst/>
              <a:rect l="l" t="t" r="r" b="b"/>
              <a:pathLst>
                <a:path w="3505200" h="523875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447675"/>
                  </a:lnTo>
                  <a:cubicBezTo>
                    <a:pt x="3505200" y="489759"/>
                    <a:pt x="3471084" y="523875"/>
                    <a:pt x="3429000" y="523875"/>
                  </a:cubicBezTo>
                  <a:lnTo>
                    <a:pt x="76200" y="523875"/>
                  </a:lnTo>
                  <a:cubicBezTo>
                    <a:pt x="34116" y="523875"/>
                    <a:pt x="0" y="489759"/>
                    <a:pt x="0" y="4476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4343400" y="3238500"/>
              <a:ext cx="3505200" cy="1905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165246" y="3080385"/>
              <a:ext cx="18615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φbm25 BM25 全文搜索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4589462" y="3005138"/>
              <a:ext cx="155575" cy="200025"/>
            </a:xfrm>
            <a:custGeom>
              <a:avLst/>
              <a:gdLst/>
              <a:ahLst/>
              <a:cxnLst/>
              <a:rect l="l" t="t" r="r" b="b"/>
              <a:pathLst>
                <a:path w="155575" h="200025">
                  <a:moveTo>
                    <a:pt x="88900" y="0"/>
                  </a:moveTo>
                  <a:lnTo>
                    <a:pt x="88900" y="77788"/>
                  </a:lnTo>
                  <a:lnTo>
                    <a:pt x="155575" y="77788"/>
                  </a:lnTo>
                  <a:lnTo>
                    <a:pt x="66675" y="200025"/>
                  </a:lnTo>
                  <a:lnTo>
                    <a:pt x="66675" y="122237"/>
                  </a:lnTo>
                  <a:lnTo>
                    <a:pt x="0" y="122237"/>
                  </a:lnTo>
                  <a:lnTo>
                    <a:pt x="8890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520565" y="35823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捕捉词汇相似性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520565" y="3830002"/>
              <a:ext cx="21352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Okapi BM25 算法（TF-IDF类）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520565" y="4039552"/>
              <a:ext cx="16675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利用 Neo4j Lucene 实现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520565" y="42491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适用：精确词语匹配、专有名词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4533900" y="4552950"/>
              <a:ext cx="3048000" cy="266700"/>
            </a:xfrm>
            <a:custGeom>
              <a:avLst/>
              <a:gdLst/>
              <a:ahLst/>
              <a:cxnLst/>
              <a:rect l="l" t="t" r="r" b="b"/>
              <a:pathLst>
                <a:path w="3048000" h="266700">
                  <a:moveTo>
                    <a:pt x="38100" y="0"/>
                  </a:moveTo>
                  <a:lnTo>
                    <a:pt x="3009900" y="0"/>
                  </a:lnTo>
                  <a:cubicBezTo>
                    <a:pt x="3030942" y="0"/>
                    <a:pt x="3048000" y="17058"/>
                    <a:pt x="3048000" y="38100"/>
                  </a:cubicBezTo>
                  <a:lnTo>
                    <a:pt x="3048000" y="228600"/>
                  </a:lnTo>
                  <a:cubicBezTo>
                    <a:pt x="3048000" y="249642"/>
                    <a:pt x="3030942" y="266700"/>
                    <a:pt x="3009900" y="266700"/>
                  </a:cubicBezTo>
                  <a:lnTo>
                    <a:pt x="38100" y="266700"/>
                  </a:lnTo>
                  <a:cubicBezTo>
                    <a:pt x="17058" y="266700"/>
                    <a:pt x="0" y="249642"/>
                    <a:pt x="0" y="2286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4977527" y="4628674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与余弦搜索互补，提高整体召回率</a:t>
              </a:r>
            </a:p>
          </p:txBody>
        </p:sp>
        <p:sp>
          <p:nvSpPr>
            <p:cNvPr id="80" name="Freeform 80"/>
            <p:cNvSpPr/>
            <p:nvPr/>
          </p:nvSpPr>
          <p:spPr>
            <a:xfrm>
              <a:off x="4533900" y="4905375"/>
              <a:ext cx="762000" cy="228600"/>
            </a:xfrm>
            <a:custGeom>
              <a:avLst/>
              <a:gdLst/>
              <a:ahLst/>
              <a:cxnLst/>
              <a:rect l="l" t="t" r="r" b="b"/>
              <a:pathLst>
                <a:path w="762000" h="2286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190500"/>
                  </a:lnTo>
                  <a:cubicBezTo>
                    <a:pt x="762000" y="211542"/>
                    <a:pt x="744942" y="228600"/>
                    <a:pt x="7239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4640580" y="49701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词汇维度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8162925" y="2905125"/>
            <a:ext cx="3505200" cy="2476500"/>
            <a:chOff x="8162925" y="2905125"/>
            <a:chExt cx="3505200" cy="2476500"/>
          </a:xfrm>
        </p:grpSpPr>
        <p:sp>
          <p:nvSpPr>
            <p:cNvPr id="83" name="Freeform 83"/>
            <p:cNvSpPr/>
            <p:nvPr/>
          </p:nvSpPr>
          <p:spPr>
            <a:xfrm>
              <a:off x="8162925" y="2905125"/>
              <a:ext cx="3505200" cy="2476500"/>
            </a:xfrm>
            <a:custGeom>
              <a:avLst/>
              <a:gdLst/>
              <a:ahLst/>
              <a:cxnLst/>
              <a:rect l="l" t="t" r="r" b="b"/>
              <a:pathLst>
                <a:path w="3505200" h="24765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2400300"/>
                  </a:lnTo>
                  <a:cubicBezTo>
                    <a:pt x="3505200" y="2442384"/>
                    <a:pt x="3471084" y="2476500"/>
                    <a:pt x="3429000" y="2476500"/>
                  </a:cubicBezTo>
                  <a:lnTo>
                    <a:pt x="76200" y="2476500"/>
                  </a:lnTo>
                  <a:cubicBezTo>
                    <a:pt x="34116" y="2476500"/>
                    <a:pt x="0" y="2442384"/>
                    <a:pt x="0" y="2400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33350" dist="28575" dir="10798854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84" name="Freeform 84"/>
            <p:cNvSpPr/>
            <p:nvPr/>
          </p:nvSpPr>
          <p:spPr>
            <a:xfrm>
              <a:off x="8162925" y="2905125"/>
              <a:ext cx="3505200" cy="523875"/>
            </a:xfrm>
            <a:custGeom>
              <a:avLst/>
              <a:gdLst/>
              <a:ahLst/>
              <a:cxnLst/>
              <a:rect l="l" t="t" r="r" b="b"/>
              <a:pathLst>
                <a:path w="3505200" h="523875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447675"/>
                  </a:lnTo>
                  <a:cubicBezTo>
                    <a:pt x="3505200" y="489759"/>
                    <a:pt x="3471084" y="523875"/>
                    <a:pt x="3429000" y="523875"/>
                  </a:cubicBezTo>
                  <a:lnTo>
                    <a:pt x="76200" y="523875"/>
                  </a:lnTo>
                  <a:cubicBezTo>
                    <a:pt x="34116" y="523875"/>
                    <a:pt x="0" y="489759"/>
                    <a:pt x="0" y="4476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B5E20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8162925" y="3238500"/>
              <a:ext cx="3505200" cy="190500"/>
            </a:xfrm>
            <a:prstGeom prst="rect">
              <a:avLst/>
            </a:prstGeom>
            <a:solidFill>
              <a:srgbClr val="1B5E20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118187" y="3080385"/>
              <a:ext cx="15946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φbfs 广度优先搜索</a:t>
              </a:r>
            </a:p>
          </p:txBody>
        </p:sp>
        <p:grpSp>
          <p:nvGrpSpPr>
            <p:cNvPr id="92" name="Group 92"/>
            <p:cNvGrpSpPr/>
            <p:nvPr/>
          </p:nvGrpSpPr>
          <p:grpSpPr>
            <a:xfrm>
              <a:off x="8375650" y="3001693"/>
              <a:ext cx="222250" cy="214582"/>
              <a:chOff x="8375650" y="3001693"/>
              <a:chExt cx="222250" cy="214582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8386762" y="3194050"/>
                <a:ext cx="777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87" h="9525">
                    <a:moveTo>
                      <a:pt x="0" y="0"/>
                    </a:moveTo>
                    <a:lnTo>
                      <a:pt x="77787" y="0"/>
                    </a:ln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509000" y="3194050"/>
                <a:ext cx="777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87" h="9525">
                    <a:moveTo>
                      <a:pt x="0" y="0"/>
                    </a:moveTo>
                    <a:lnTo>
                      <a:pt x="77787" y="0"/>
                    </a:ln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464550" y="31718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486775" y="3149600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375650" y="3001693"/>
                <a:ext cx="222250" cy="147952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47952">
                    <a:moveTo>
                      <a:pt x="66675" y="147952"/>
                    </a:moveTo>
                    <a:lnTo>
                      <a:pt x="51751" y="147952"/>
                    </a:lnTo>
                    <a:cubicBezTo>
                      <a:pt x="23170" y="147907"/>
                      <a:pt x="0" y="125605"/>
                      <a:pt x="0" y="98090"/>
                    </a:cubicBezTo>
                    <a:cubicBezTo>
                      <a:pt x="0" y="70587"/>
                      <a:pt x="23170" y="48284"/>
                      <a:pt x="51751" y="48284"/>
                    </a:cubicBezTo>
                    <a:cubicBezTo>
                      <a:pt x="56118" y="28704"/>
                      <a:pt x="71687" y="12724"/>
                      <a:pt x="92589" y="6356"/>
                    </a:cubicBezTo>
                    <a:cubicBezTo>
                      <a:pt x="113481" y="0"/>
                      <a:pt x="136550" y="4212"/>
                      <a:pt x="153086" y="17469"/>
                    </a:cubicBezTo>
                    <a:cubicBezTo>
                      <a:pt x="169621" y="30693"/>
                      <a:pt x="177111" y="50884"/>
                      <a:pt x="172755" y="70464"/>
                    </a:cubicBezTo>
                    <a:lnTo>
                      <a:pt x="183756" y="70464"/>
                    </a:lnTo>
                    <a:cubicBezTo>
                      <a:pt x="205015" y="70464"/>
                      <a:pt x="222250" y="87800"/>
                      <a:pt x="222250" y="109203"/>
                    </a:cubicBezTo>
                    <a:cubicBezTo>
                      <a:pt x="222250" y="130616"/>
                      <a:pt x="205015" y="147952"/>
                      <a:pt x="183745" y="147952"/>
                    </a:cubicBezTo>
                    <a:lnTo>
                      <a:pt x="155575" y="147952"/>
                    </a:lnTo>
                  </a:path>
                </a:pathLst>
              </a:custGeom>
              <a:noFill/>
              <a:ln w="9525">
                <a:solidFill>
                  <a:srgbClr val="FFFFFF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8340090" y="35823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捕捉上下文相似性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340090" y="3830002"/>
              <a:ext cx="14681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图结构 n-跳邻域扩展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340090" y="4039552"/>
              <a:ext cx="1981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以最近 Episodes 为种子节点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340090" y="4249102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图距离越近 → 上下文越相关</a:t>
              </a:r>
            </a:p>
          </p:txBody>
        </p:sp>
        <p:sp>
          <p:nvSpPr>
            <p:cNvPr id="97" name="Freeform 97"/>
            <p:cNvSpPr/>
            <p:nvPr/>
          </p:nvSpPr>
          <p:spPr>
            <a:xfrm>
              <a:off x="8353425" y="4552950"/>
              <a:ext cx="3048000" cy="266700"/>
            </a:xfrm>
            <a:custGeom>
              <a:avLst/>
              <a:gdLst/>
              <a:ahLst/>
              <a:cxnLst/>
              <a:rect l="l" t="t" r="r" b="b"/>
              <a:pathLst>
                <a:path w="3048000" h="266700">
                  <a:moveTo>
                    <a:pt x="38100" y="0"/>
                  </a:moveTo>
                  <a:lnTo>
                    <a:pt x="3009900" y="0"/>
                  </a:lnTo>
                  <a:cubicBezTo>
                    <a:pt x="3030942" y="0"/>
                    <a:pt x="3048000" y="17058"/>
                    <a:pt x="3048000" y="38100"/>
                  </a:cubicBezTo>
                  <a:lnTo>
                    <a:pt x="3048000" y="228600"/>
                  </a:lnTo>
                  <a:cubicBezTo>
                    <a:pt x="3048000" y="249642"/>
                    <a:pt x="3030942" y="266700"/>
                    <a:pt x="3009900" y="266700"/>
                  </a:cubicBezTo>
                  <a:lnTo>
                    <a:pt x="38100" y="266700"/>
                  </a:lnTo>
                  <a:cubicBezTo>
                    <a:pt x="17058" y="266700"/>
                    <a:pt x="0" y="249642"/>
                    <a:pt x="0" y="2286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FFF2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725852" y="462867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参数化节点种子，控制局部检索范围</a:t>
              </a:r>
            </a:p>
          </p:txBody>
        </p:sp>
        <p:sp>
          <p:nvSpPr>
            <p:cNvPr id="99" name="Freeform 99"/>
            <p:cNvSpPr/>
            <p:nvPr/>
          </p:nvSpPr>
          <p:spPr>
            <a:xfrm>
              <a:off x="8353425" y="4905375"/>
              <a:ext cx="762000" cy="228600"/>
            </a:xfrm>
            <a:custGeom>
              <a:avLst/>
              <a:gdLst/>
              <a:ahLst/>
              <a:cxnLst/>
              <a:rect l="l" t="t" r="r" b="b"/>
              <a:pathLst>
                <a:path w="762000" h="2286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190500"/>
                  </a:lnTo>
                  <a:cubicBezTo>
                    <a:pt x="762000" y="211542"/>
                    <a:pt x="744942" y="228600"/>
                    <a:pt x="7239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B5E20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394382" y="49701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图结构维度</a:t>
              </a:r>
            </a:p>
          </p:txBody>
        </p:sp>
      </p:grpSp>
      <p:sp>
        <p:nvSpPr>
          <p:cNvPr id="102" name="Freeform 102"/>
          <p:cNvSpPr/>
          <p:nvPr/>
        </p:nvSpPr>
        <p:spPr>
          <a:xfrm>
            <a:off x="523875" y="5524500"/>
            <a:ext cx="11144250" cy="571500"/>
          </a:xfrm>
          <a:custGeom>
            <a:avLst/>
            <a:gdLst/>
            <a:ahLst/>
            <a:cxnLst/>
            <a:rect l="l" t="t" r="r" b="b"/>
            <a:pathLst>
              <a:path w="11144250" h="571500">
                <a:moveTo>
                  <a:pt x="57150" y="0"/>
                </a:moveTo>
                <a:lnTo>
                  <a:pt x="11087100" y="0"/>
                </a:lnTo>
                <a:cubicBezTo>
                  <a:pt x="11118663" y="0"/>
                  <a:pt x="11144250" y="25587"/>
                  <a:pt x="11144250" y="57150"/>
                </a:cubicBezTo>
                <a:lnTo>
                  <a:pt x="11144250" y="514350"/>
                </a:lnTo>
                <a:cubicBezTo>
                  <a:pt x="11144250" y="545913"/>
                  <a:pt x="11118663" y="571500"/>
                  <a:pt x="1108710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3" name="Freeform 103"/>
          <p:cNvSpPr/>
          <p:nvPr/>
        </p:nvSpPr>
        <p:spPr>
          <a:xfrm>
            <a:off x="523875" y="55245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07C00"/>
          </a:solidFill>
          <a:ln>
            <a:noFill/>
          </a:ln>
        </p:spPr>
      </p:sp>
      <p:sp>
        <p:nvSpPr>
          <p:cNvPr id="104" name="TextBox 104"/>
          <p:cNvSpPr txBox="1"/>
          <p:nvPr/>
        </p:nvSpPr>
        <p:spPr>
          <a:xfrm>
            <a:off x="701040" y="5630228"/>
            <a:ext cx="14516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ρ 重排层支持的策略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01992" y="5847874"/>
            <a:ext cx="80560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RRF（倒数排名融合）| MMR（最大边际相关）| 频率重排（高频引用优先）| 图距离重排 | 交叉编码器（最精准，计算成本最高）</a:t>
            </a:r>
          </a:p>
        </p:txBody>
      </p:sp>
      <p:sp>
        <p:nvSpPr>
          <p:cNvPr id="106" name="Line 10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07" name="TextBox 107"/>
          <p:cNvSpPr txBox="1"/>
          <p:nvPr/>
        </p:nvSpPr>
        <p:spPr>
          <a:xfrm>
            <a:off x="369570" y="6522720"/>
            <a:ext cx="17710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来源：arXiv:2501.13956v1 §3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690235" y="65227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记忆检索系统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1245001" y="6514624"/>
            <a:ext cx="387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 / 12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F07C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315951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实验设计与基准选择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77778" y="32480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ZEP AI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5760" y="842010"/>
            <a:ext cx="68042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两大基准覆盖不同难度：DMR 测短会话事实检索，LongMemEval 测长对话复杂时序推理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508635" y="1375410"/>
            <a:ext cx="5396865" cy="4625340"/>
            <a:chOff x="508635" y="1375410"/>
            <a:chExt cx="5396865" cy="4625340"/>
          </a:xfrm>
        </p:grpSpPr>
        <p:sp>
          <p:nvSpPr>
            <p:cNvPr id="10" name="TextBox 10"/>
            <p:cNvSpPr txBox="1"/>
            <p:nvPr/>
          </p:nvSpPr>
          <p:spPr>
            <a:xfrm>
              <a:off x="508635" y="1375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两大评测基准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23875" y="1562100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1952625" h="9525">
                  <a:moveTo>
                    <a:pt x="0" y="0"/>
                  </a:moveTo>
                  <a:lnTo>
                    <a:pt x="1952625" y="0"/>
                  </a:lnTo>
                </a:path>
              </a:pathLst>
            </a:custGeom>
            <a:noFill/>
            <a:ln w="19050">
              <a:solidFill>
                <a:srgbClr val="F07C00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23875" y="1657350"/>
              <a:ext cx="5381625" cy="2000250"/>
              <a:chOff x="523875" y="1657350"/>
              <a:chExt cx="5381625" cy="200025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23875" y="1657350"/>
                <a:ext cx="5381625" cy="2000250"/>
              </a:xfrm>
              <a:custGeom>
                <a:avLst/>
                <a:gdLst/>
                <a:ahLst/>
                <a:cxnLst/>
                <a:rect l="l" t="t" r="r" b="b"/>
                <a:pathLst>
                  <a:path w="5381625" h="2000250">
                    <a:moveTo>
                      <a:pt x="76200" y="0"/>
                    </a:moveTo>
                    <a:lnTo>
                      <a:pt x="5305425" y="0"/>
                    </a:lnTo>
                    <a:cubicBezTo>
                      <a:pt x="5347509" y="0"/>
                      <a:pt x="5381625" y="34116"/>
                      <a:pt x="5381625" y="76200"/>
                    </a:cubicBezTo>
                    <a:lnTo>
                      <a:pt x="5381625" y="1924050"/>
                    </a:lnTo>
                    <a:cubicBezTo>
                      <a:pt x="5381625" y="1966134"/>
                      <a:pt x="5347509" y="2000250"/>
                      <a:pt x="5305425" y="2000250"/>
                    </a:cubicBezTo>
                    <a:lnTo>
                      <a:pt x="76200" y="2000250"/>
                    </a:lnTo>
                    <a:cubicBezTo>
                      <a:pt x="34116" y="2000250"/>
                      <a:pt x="0" y="1966134"/>
                      <a:pt x="0" y="1924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D0D7E0"/>
                </a:solidFill>
              </a:ln>
              <a:effectLst>
                <a:outerShdw blurRad="133350" dist="28575" dir="10798854" algn="t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23875" y="1657350"/>
                <a:ext cx="5381625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5381625" h="495300">
                    <a:moveTo>
                      <a:pt x="76200" y="0"/>
                    </a:moveTo>
                    <a:lnTo>
                      <a:pt x="5305425" y="0"/>
                    </a:lnTo>
                    <a:cubicBezTo>
                      <a:pt x="5347509" y="0"/>
                      <a:pt x="5381625" y="34116"/>
                      <a:pt x="5381625" y="76200"/>
                    </a:cubicBezTo>
                    <a:lnTo>
                      <a:pt x="5381625" y="419100"/>
                    </a:lnTo>
                    <a:cubicBezTo>
                      <a:pt x="5381625" y="461184"/>
                      <a:pt x="5347509" y="495300"/>
                      <a:pt x="5305425" y="495300"/>
                    </a:cubicBezTo>
                    <a:lnTo>
                      <a:pt x="76200" y="495300"/>
                    </a:lnTo>
                    <a:cubicBezTo>
                      <a:pt x="34116" y="495300"/>
                      <a:pt x="0" y="461184"/>
                      <a:pt x="0" y="4191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23875" y="1962150"/>
                <a:ext cx="5381625" cy="190500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22960" y="1832610"/>
                <a:ext cx="27540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DMR（Deep Memory Retrieval）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5818" y="2009299"/>
                <a:ext cx="280866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ACCEE"/>
                    </a:solidFill>
                    <a:latin typeface="Arial"/>
                    <a:ea typeface="Microsoft YaHei"/>
                    <a:cs typeface="Arial"/>
                  </a:rPr>
                  <a:t>基准来源：MemGPT [Packer et al., 2023]</a:t>
                </a:r>
              </a:p>
            </p:txBody>
          </p:sp>
          <p:grpSp>
            <p:nvGrpSpPr>
              <p:cNvPr id="26" name="Group 26"/>
              <p:cNvGrpSpPr/>
              <p:nvPr/>
            </p:nvGrpSpPr>
            <p:grpSpPr>
              <a:xfrm>
                <a:off x="714375" y="2286000"/>
                <a:ext cx="3905250" cy="533400"/>
                <a:chOff x="714375" y="2286000"/>
                <a:chExt cx="3905250" cy="5334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714375" y="2286000"/>
                  <a:ext cx="123825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0" h="533400">
                      <a:moveTo>
                        <a:pt x="57150" y="0"/>
                      </a:moveTo>
                      <a:lnTo>
                        <a:pt x="1181100" y="0"/>
                      </a:lnTo>
                      <a:cubicBezTo>
                        <a:pt x="1212663" y="0"/>
                        <a:pt x="1238250" y="25587"/>
                        <a:pt x="1238250" y="57150"/>
                      </a:cubicBezTo>
                      <a:lnTo>
                        <a:pt x="1238250" y="476250"/>
                      </a:lnTo>
                      <a:cubicBezTo>
                        <a:pt x="1238250" y="507813"/>
                        <a:pt x="1212663" y="533400"/>
                        <a:pt x="1181100" y="533400"/>
                      </a:cubicBezTo>
                      <a:lnTo>
                        <a:pt x="57150" y="533400"/>
                      </a:lnTo>
                      <a:cubicBezTo>
                        <a:pt x="25587" y="533400"/>
                        <a:pt x="0" y="507813"/>
                        <a:pt x="0" y="4762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E8F4FC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103794" y="2336482"/>
                  <a:ext cx="45941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rgbClr val="003366"/>
                      </a:solidFill>
                      <a:latin typeface="Arial"/>
                      <a:ea typeface="Microsoft YaHei"/>
                      <a:cs typeface="Arial"/>
                    </a:rPr>
                    <a:t>500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059180" y="2617470"/>
                  <a:ext cx="54864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对话数量</a:t>
                  </a:r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2047875" y="2286000"/>
                  <a:ext cx="123825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0" h="533400">
                      <a:moveTo>
                        <a:pt x="57150" y="0"/>
                      </a:moveTo>
                      <a:lnTo>
                        <a:pt x="1181100" y="0"/>
                      </a:lnTo>
                      <a:cubicBezTo>
                        <a:pt x="1212663" y="0"/>
                        <a:pt x="1238250" y="25587"/>
                        <a:pt x="1238250" y="57150"/>
                      </a:cubicBezTo>
                      <a:lnTo>
                        <a:pt x="1238250" y="476250"/>
                      </a:lnTo>
                      <a:cubicBezTo>
                        <a:pt x="1238250" y="507813"/>
                        <a:pt x="1212663" y="533400"/>
                        <a:pt x="1181100" y="533400"/>
                      </a:cubicBezTo>
                      <a:lnTo>
                        <a:pt x="57150" y="533400"/>
                      </a:lnTo>
                      <a:cubicBezTo>
                        <a:pt x="25587" y="533400"/>
                        <a:pt x="0" y="507813"/>
                        <a:pt x="0" y="4762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E8F4FC"/>
                </a:solidFill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2399339" y="2336482"/>
                  <a:ext cx="53532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rgbClr val="003366"/>
                      </a:solidFill>
                      <a:latin typeface="Arial"/>
                      <a:ea typeface="Microsoft YaHei"/>
                      <a:cs typeface="Arial"/>
                    </a:rPr>
                    <a:t>5×12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2356533" y="2617470"/>
                  <a:ext cx="62093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会话×消息</a:t>
                  </a:r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3381375" y="2286000"/>
                  <a:ext cx="123825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0" h="533400">
                      <a:moveTo>
                        <a:pt x="57150" y="0"/>
                      </a:moveTo>
                      <a:lnTo>
                        <a:pt x="1181100" y="0"/>
                      </a:lnTo>
                      <a:cubicBezTo>
                        <a:pt x="1212663" y="0"/>
                        <a:pt x="1238250" y="25587"/>
                        <a:pt x="1238250" y="57150"/>
                      </a:cubicBezTo>
                      <a:lnTo>
                        <a:pt x="1238250" y="476250"/>
                      </a:lnTo>
                      <a:cubicBezTo>
                        <a:pt x="1238250" y="507813"/>
                        <a:pt x="1212663" y="533400"/>
                        <a:pt x="1181100" y="533400"/>
                      </a:cubicBezTo>
                      <a:lnTo>
                        <a:pt x="57150" y="533400"/>
                      </a:lnTo>
                      <a:cubicBezTo>
                        <a:pt x="25587" y="533400"/>
                        <a:pt x="0" y="507813"/>
                        <a:pt x="0" y="4762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E8F4FC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3840378" y="2336482"/>
                  <a:ext cx="320245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rgbClr val="003366"/>
                      </a:solidFill>
                      <a:latin typeface="Arial"/>
                      <a:ea typeface="Microsoft YaHei"/>
                      <a:cs typeface="Arial"/>
                    </a:rPr>
                    <a:t>60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3624310" y="2617470"/>
                  <a:ext cx="75238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条消息/对话</a:t>
                  </a:r>
                </a:p>
              </p:txBody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01040" y="2982278"/>
                <a:ext cx="32087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问答类型：单轮事实问答（Who/What/When）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01040" y="3191828"/>
                <a:ext cx="336208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数据集：Multi-Session Chat（500条对话子集）</a:t>
                </a:r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714375" y="3409950"/>
                <a:ext cx="50006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00625" h="171450">
                    <a:moveTo>
                      <a:pt x="28575" y="0"/>
                    </a:moveTo>
                    <a:lnTo>
                      <a:pt x="4972050" y="0"/>
                    </a:lnTo>
                    <a:cubicBezTo>
                      <a:pt x="4987832" y="0"/>
                      <a:pt x="5000625" y="12793"/>
                      <a:pt x="5000625" y="28575"/>
                    </a:cubicBezTo>
                    <a:lnTo>
                      <a:pt x="5000625" y="142875"/>
                    </a:lnTo>
                    <a:cubicBezTo>
                      <a:pt x="5000625" y="158657"/>
                      <a:pt x="4987832" y="171450"/>
                      <a:pt x="4972050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FFF5E8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22402" y="3428524"/>
                <a:ext cx="43750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07C00"/>
                    </a:solidFill>
                    <a:latin typeface="Arial"/>
                    <a:ea typeface="Microsoft YaHei"/>
                    <a:cs typeface="Arial"/>
                  </a:rPr>
                  <a:t>局限：60条消息可完整放入 LLM 上下文窗口，难以区分记忆方案优劣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23875" y="3810000"/>
              <a:ext cx="5381625" cy="2190750"/>
              <a:chOff x="523875" y="3810000"/>
              <a:chExt cx="5381625" cy="21907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23875" y="3810000"/>
                <a:ext cx="5381625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5381625" h="2190750">
                    <a:moveTo>
                      <a:pt x="76200" y="0"/>
                    </a:moveTo>
                    <a:lnTo>
                      <a:pt x="5305425" y="0"/>
                    </a:lnTo>
                    <a:cubicBezTo>
                      <a:pt x="5347509" y="0"/>
                      <a:pt x="5381625" y="34116"/>
                      <a:pt x="5381625" y="76200"/>
                    </a:cubicBezTo>
                    <a:lnTo>
                      <a:pt x="5381625" y="2114550"/>
                    </a:lnTo>
                    <a:cubicBezTo>
                      <a:pt x="5381625" y="2156634"/>
                      <a:pt x="5347509" y="2190750"/>
                      <a:pt x="5305425" y="2190750"/>
                    </a:cubicBezTo>
                    <a:lnTo>
                      <a:pt x="76200" y="2190750"/>
                    </a:lnTo>
                    <a:cubicBezTo>
                      <a:pt x="34116" y="2190750"/>
                      <a:pt x="0" y="2156634"/>
                      <a:pt x="0" y="2114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0066CC"/>
                </a:solidFill>
              </a:ln>
              <a:effectLst>
                <a:outerShdw blurRad="133350" dist="28575" dir="10798854" algn="t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23875" y="3810000"/>
                <a:ext cx="5381625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5381625" h="495300">
                    <a:moveTo>
                      <a:pt x="76200" y="0"/>
                    </a:moveTo>
                    <a:lnTo>
                      <a:pt x="5305425" y="0"/>
                    </a:lnTo>
                    <a:cubicBezTo>
                      <a:pt x="5347509" y="0"/>
                      <a:pt x="5381625" y="34116"/>
                      <a:pt x="5381625" y="76200"/>
                    </a:cubicBezTo>
                    <a:lnTo>
                      <a:pt x="5381625" y="419100"/>
                    </a:lnTo>
                    <a:cubicBezTo>
                      <a:pt x="5381625" y="461184"/>
                      <a:pt x="5347509" y="495300"/>
                      <a:pt x="5305425" y="495300"/>
                    </a:cubicBezTo>
                    <a:lnTo>
                      <a:pt x="76200" y="495300"/>
                    </a:lnTo>
                    <a:cubicBezTo>
                      <a:pt x="34116" y="495300"/>
                      <a:pt x="0" y="461184"/>
                      <a:pt x="0" y="4191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523875" y="4114800"/>
                <a:ext cx="5381625" cy="190500"/>
              </a:xfrm>
              <a:prstGeom prst="rect">
                <a:avLst/>
              </a:pr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22960" y="3985260"/>
                <a:ext cx="197192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LongMemEval (LME-s)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5818" y="4161949"/>
                <a:ext cx="32785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CE5FF"/>
                    </a:solidFill>
                    <a:latin typeface="Arial"/>
                    <a:ea typeface="Microsoft YaHei"/>
                    <a:cs typeface="Arial"/>
                  </a:rPr>
                  <a:t>基准来源：[Wu et al., 2024] 更贴近企业真实场景</a:t>
                </a:r>
              </a:p>
            </p:txBody>
          </p:sp>
          <p:grpSp>
            <p:nvGrpSpPr>
              <p:cNvPr id="46" name="Group 46"/>
              <p:cNvGrpSpPr/>
              <p:nvPr/>
            </p:nvGrpSpPr>
            <p:grpSpPr>
              <a:xfrm>
                <a:off x="714375" y="4438650"/>
                <a:ext cx="5048250" cy="533400"/>
                <a:chOff x="714375" y="4438650"/>
                <a:chExt cx="5048250" cy="53340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714375" y="4438650"/>
                  <a:ext cx="15240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0" h="533400">
                      <a:moveTo>
                        <a:pt x="57150" y="0"/>
                      </a:moveTo>
                      <a:lnTo>
                        <a:pt x="1466850" y="0"/>
                      </a:lnTo>
                      <a:cubicBezTo>
                        <a:pt x="1498413" y="0"/>
                        <a:pt x="1524000" y="25587"/>
                        <a:pt x="1524000" y="57150"/>
                      </a:cubicBezTo>
                      <a:lnTo>
                        <a:pt x="1524000" y="476250"/>
                      </a:lnTo>
                      <a:cubicBezTo>
                        <a:pt x="1524000" y="507813"/>
                        <a:pt x="1498413" y="533400"/>
                        <a:pt x="1466850" y="533400"/>
                      </a:cubicBezTo>
                      <a:lnTo>
                        <a:pt x="57150" y="533400"/>
                      </a:lnTo>
                      <a:cubicBezTo>
                        <a:pt x="25587" y="533400"/>
                        <a:pt x="0" y="507813"/>
                        <a:pt x="0" y="4762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E8F4FC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226326" y="4521518"/>
                  <a:ext cx="500098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0066CC"/>
                      </a:solidFill>
                      <a:latin typeface="Arial"/>
                      <a:ea typeface="Microsoft YaHei"/>
                      <a:cs typeface="Arial"/>
                    </a:rPr>
                    <a:t>~115k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929307" y="4760595"/>
                  <a:ext cx="109413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平均 tokens/对话</a:t>
                  </a:r>
                </a:p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2333625" y="4438650"/>
                  <a:ext cx="142875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0" h="533400">
                      <a:moveTo>
                        <a:pt x="57150" y="0"/>
                      </a:moveTo>
                      <a:lnTo>
                        <a:pt x="1371600" y="0"/>
                      </a:lnTo>
                      <a:cubicBezTo>
                        <a:pt x="1403163" y="0"/>
                        <a:pt x="1428750" y="25587"/>
                        <a:pt x="1428750" y="57150"/>
                      </a:cubicBezTo>
                      <a:lnTo>
                        <a:pt x="1428750" y="476250"/>
                      </a:lnTo>
                      <a:cubicBezTo>
                        <a:pt x="1428750" y="507813"/>
                        <a:pt x="1403163" y="533400"/>
                        <a:pt x="1371600" y="533400"/>
                      </a:cubicBezTo>
                      <a:lnTo>
                        <a:pt x="57150" y="533400"/>
                      </a:lnTo>
                      <a:cubicBezTo>
                        <a:pt x="25587" y="533400"/>
                        <a:pt x="0" y="507813"/>
                        <a:pt x="0" y="4762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E8F4FC"/>
                </a:solidFill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2870410" y="4521518"/>
                  <a:ext cx="355180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0066CC"/>
                      </a:solidFill>
                      <a:latin typeface="Arial"/>
                      <a:ea typeface="Microsoft YaHei"/>
                      <a:cs typeface="Arial"/>
                    </a:rPr>
                    <a:t>6类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2773680" y="4760595"/>
                  <a:ext cx="54864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问题类型</a:t>
                  </a:r>
                </a:p>
              </p:txBody>
            </p:sp>
            <p:sp>
              <p:nvSpPr>
                <p:cNvPr id="43" name="Freeform 43"/>
                <p:cNvSpPr/>
                <p:nvPr/>
              </p:nvSpPr>
              <p:spPr>
                <a:xfrm>
                  <a:off x="3857625" y="4438650"/>
                  <a:ext cx="19050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533400">
                      <a:moveTo>
                        <a:pt x="57150" y="0"/>
                      </a:moveTo>
                      <a:lnTo>
                        <a:pt x="1847850" y="0"/>
                      </a:lnTo>
                      <a:cubicBezTo>
                        <a:pt x="1879413" y="0"/>
                        <a:pt x="1905000" y="25587"/>
                        <a:pt x="1905000" y="57150"/>
                      </a:cubicBezTo>
                      <a:lnTo>
                        <a:pt x="1905000" y="476250"/>
                      </a:lnTo>
                      <a:cubicBezTo>
                        <a:pt x="1905000" y="507813"/>
                        <a:pt x="1879413" y="533400"/>
                        <a:pt x="1847850" y="533400"/>
                      </a:cubicBezTo>
                      <a:lnTo>
                        <a:pt x="57150" y="533400"/>
                      </a:lnTo>
                      <a:cubicBezTo>
                        <a:pt x="25587" y="533400"/>
                        <a:pt x="0" y="507813"/>
                        <a:pt x="0" y="4762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E8F4FC"/>
                </a:solidFill>
                <a:ln>
                  <a:noFill/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4451387" y="4521518"/>
                  <a:ext cx="717475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0066CC"/>
                      </a:solidFill>
                      <a:latin typeface="Arial"/>
                      <a:ea typeface="Microsoft YaHei"/>
                      <a:cs typeface="Arial"/>
                    </a:rPr>
                    <a:t>GPT-4o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4404360" y="4760595"/>
                  <a:ext cx="81153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答案评判模型</a:t>
                  </a:r>
                </a:p>
              </p:txBody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701040" y="5106352"/>
                <a:ext cx="34157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6种问题类型：单会话用户/助手、偏好、跨会话、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01040" y="5296852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知识更新、时序推理</a:t>
                </a:r>
              </a:p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714375" y="5524500"/>
                <a:ext cx="50006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00625" h="171450">
                    <a:moveTo>
                      <a:pt x="28575" y="0"/>
                    </a:moveTo>
                    <a:lnTo>
                      <a:pt x="4972050" y="0"/>
                    </a:lnTo>
                    <a:cubicBezTo>
                      <a:pt x="4987832" y="0"/>
                      <a:pt x="5000625" y="12793"/>
                      <a:pt x="5000625" y="28575"/>
                    </a:cubicBezTo>
                    <a:lnTo>
                      <a:pt x="5000625" y="142875"/>
                    </a:lnTo>
                    <a:cubicBezTo>
                      <a:pt x="5000625" y="158657"/>
                      <a:pt x="4987832" y="171450"/>
                      <a:pt x="4972050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E8F4FC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552837" y="5543074"/>
                <a:ext cx="33141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优势：真实企业场景，复杂时序推理，更有区分度</a:t>
                </a:r>
              </a:p>
            </p:txBody>
          </p:sp>
        </p:grpSp>
      </p:grpSp>
      <p:sp>
        <p:nvSpPr>
          <p:cNvPr id="53" name="Line 53"/>
          <p:cNvSpPr/>
          <p:nvPr/>
        </p:nvSpPr>
        <p:spPr>
          <a:xfrm>
            <a:off x="6096000" y="1333500"/>
            <a:ext cx="9525" cy="4857750"/>
          </a:xfrm>
          <a:custGeom>
            <a:avLst/>
            <a:gdLst/>
            <a:ahLst/>
            <a:cxnLst/>
            <a:rect l="l" t="t" r="r" b="b"/>
            <a:pathLst>
              <a:path w="9525" h="4857750">
                <a:moveTo>
                  <a:pt x="0" y="0"/>
                </a:moveTo>
                <a:lnTo>
                  <a:pt x="0" y="4857750"/>
                </a:lnTo>
              </a:path>
            </a:pathLst>
          </a:custGeom>
          <a:noFill/>
          <a:ln w="14288">
            <a:solidFill>
              <a:srgbClr val="E8F4FC"/>
            </a:solidFill>
            <a:custDash>
              <a:ds d="400000" sp="266666"/>
            </a:custDash>
          </a:ln>
        </p:spPr>
      </p:sp>
      <p:grpSp>
        <p:nvGrpSpPr>
          <p:cNvPr id="92" name="Group 92"/>
          <p:cNvGrpSpPr/>
          <p:nvPr/>
        </p:nvGrpSpPr>
        <p:grpSpPr>
          <a:xfrm>
            <a:off x="6271260" y="1375410"/>
            <a:ext cx="5396865" cy="4289584"/>
            <a:chOff x="6271260" y="1375410"/>
            <a:chExt cx="5396865" cy="4289584"/>
          </a:xfrm>
        </p:grpSpPr>
        <p:sp>
          <p:nvSpPr>
            <p:cNvPr id="54" name="TextBox 54"/>
            <p:cNvSpPr txBox="1"/>
            <p:nvPr/>
          </p:nvSpPr>
          <p:spPr>
            <a:xfrm>
              <a:off x="6271260" y="1375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实验模型配置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6286500" y="15621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0066CC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6286500" y="1657350"/>
              <a:ext cx="5381625" cy="4000500"/>
            </a:xfrm>
            <a:custGeom>
              <a:avLst/>
              <a:gdLst/>
              <a:ahLst/>
              <a:cxnLst/>
              <a:rect l="l" t="t" r="r" b="b"/>
              <a:pathLst>
                <a:path w="5381625" h="4000500">
                  <a:moveTo>
                    <a:pt x="76200" y="0"/>
                  </a:moveTo>
                  <a:lnTo>
                    <a:pt x="5305425" y="0"/>
                  </a:lnTo>
                  <a:cubicBezTo>
                    <a:pt x="5347509" y="0"/>
                    <a:pt x="5381625" y="34116"/>
                    <a:pt x="5381625" y="76200"/>
                  </a:cubicBezTo>
                  <a:lnTo>
                    <a:pt x="5381625" y="3924300"/>
                  </a:lnTo>
                  <a:cubicBezTo>
                    <a:pt x="5381625" y="3966384"/>
                    <a:pt x="5347509" y="4000500"/>
                    <a:pt x="5305425" y="4000500"/>
                  </a:cubicBezTo>
                  <a:lnTo>
                    <a:pt x="76200" y="4000500"/>
                  </a:lnTo>
                  <a:cubicBezTo>
                    <a:pt x="34116" y="4000500"/>
                    <a:pt x="0" y="3966384"/>
                    <a:pt x="0" y="3924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33350" dist="28575" dir="10798854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7" name="Freeform 57"/>
            <p:cNvSpPr/>
            <p:nvPr/>
          </p:nvSpPr>
          <p:spPr>
            <a:xfrm>
              <a:off x="6286500" y="1657350"/>
              <a:ext cx="5381625" cy="361950"/>
            </a:xfrm>
            <a:custGeom>
              <a:avLst/>
              <a:gdLst/>
              <a:ahLst/>
              <a:cxnLst/>
              <a:rect l="l" t="t" r="r" b="b"/>
              <a:pathLst>
                <a:path w="5381625" h="361950">
                  <a:moveTo>
                    <a:pt x="76200" y="0"/>
                  </a:moveTo>
                  <a:lnTo>
                    <a:pt x="5305425" y="0"/>
                  </a:lnTo>
                  <a:cubicBezTo>
                    <a:pt x="5347509" y="0"/>
                    <a:pt x="5381625" y="34116"/>
                    <a:pt x="5381625" y="76200"/>
                  </a:cubicBezTo>
                  <a:lnTo>
                    <a:pt x="5381625" y="285750"/>
                  </a:lnTo>
                  <a:cubicBezTo>
                    <a:pt x="5381625" y="327834"/>
                    <a:pt x="5347509" y="361950"/>
                    <a:pt x="5305425" y="361950"/>
                  </a:cubicBezTo>
                  <a:lnTo>
                    <a:pt x="76200" y="361950"/>
                  </a:lnTo>
                  <a:cubicBezTo>
                    <a:pt x="34116" y="361950"/>
                    <a:pt x="0" y="327834"/>
                    <a:pt x="0" y="285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86500" y="1866900"/>
              <a:ext cx="5381625" cy="1524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07520" y="178212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组件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60574" y="1782128"/>
              <a:ext cx="10813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选用模型/方案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8382000" y="2019300"/>
              <a:ext cx="9525" cy="3638550"/>
            </a:xfrm>
            <a:custGeom>
              <a:avLst/>
              <a:gdLst/>
              <a:ahLst/>
              <a:cxnLst/>
              <a:rect l="l" t="t" r="r" b="b"/>
              <a:pathLst>
                <a:path w="9525" h="3638550">
                  <a:moveTo>
                    <a:pt x="0" y="0"/>
                  </a:moveTo>
                  <a:lnTo>
                    <a:pt x="0" y="363855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86500" y="2019300"/>
              <a:ext cx="5381625" cy="4000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63665" y="2153602"/>
              <a:ext cx="816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嵌入 / 重排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82965" y="2153602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BGE-m3 (BAAI)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86500" y="2419350"/>
              <a:ext cx="5381625" cy="400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63665" y="2553652"/>
              <a:ext cx="13915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图构建（Graphiti）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82965" y="2553652"/>
              <a:ext cx="18864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gpt-4o-mini-2024-07-18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86500" y="2819400"/>
              <a:ext cx="5381625" cy="4000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463665" y="295370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响应生成（方案A）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482965" y="2953702"/>
              <a:ext cx="18864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gpt-4o-mini-2024-07-18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86500" y="3219450"/>
              <a:ext cx="5381625" cy="400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463665" y="335375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响应生成（方案B）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82965" y="3353752"/>
              <a:ext cx="1451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gpt-4o-2024-11-20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86500" y="3619500"/>
              <a:ext cx="5381625" cy="4000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463665" y="3753802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DMR历史对比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482965" y="3753802"/>
              <a:ext cx="1975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gpt-4-turbo-2024-04-09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286500" y="4019550"/>
              <a:ext cx="5381625" cy="400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463665" y="415385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LME 答案评判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482965" y="4153852"/>
              <a:ext cx="20072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GPT-4o（含问题专属提示）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286500" y="4419600"/>
              <a:ext cx="5381625" cy="4000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463665" y="4553902"/>
              <a:ext cx="939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Zep 检索数量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482965" y="4553902"/>
              <a:ext cx="21923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Top-20 边（事实）+ 实体节点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286500" y="4819650"/>
              <a:ext cx="5381625" cy="400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463665" y="49539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测试环境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483918" y="4914424"/>
              <a:ext cx="1940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消费级笔记本（Boston, MA）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483918" y="5085874"/>
              <a:ext cx="1932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Zep 部署于 AWS us-west-2</a:t>
              </a:r>
            </a:p>
          </p:txBody>
        </p:sp>
        <p:sp>
          <p:nvSpPr>
            <p:cNvPr id="87" name="Freeform 87"/>
            <p:cNvSpPr/>
            <p:nvPr/>
          </p:nvSpPr>
          <p:spPr>
            <a:xfrm>
              <a:off x="6286500" y="5219700"/>
              <a:ext cx="5381625" cy="438150"/>
            </a:xfrm>
            <a:custGeom>
              <a:avLst/>
              <a:gdLst/>
              <a:ahLst/>
              <a:cxnLst/>
              <a:rect l="l" t="t" r="r" b="b"/>
              <a:pathLst>
                <a:path w="5381625" h="438150">
                  <a:moveTo>
                    <a:pt x="57150" y="0"/>
                  </a:moveTo>
                  <a:lnTo>
                    <a:pt x="5324475" y="0"/>
                  </a:lnTo>
                  <a:cubicBezTo>
                    <a:pt x="5356038" y="0"/>
                    <a:pt x="5381625" y="25587"/>
                    <a:pt x="5381625" y="57150"/>
                  </a:cubicBezTo>
                  <a:lnTo>
                    <a:pt x="5381625" y="381000"/>
                  </a:lnTo>
                  <a:cubicBezTo>
                    <a:pt x="5381625" y="412563"/>
                    <a:pt x="5356038" y="438150"/>
                    <a:pt x="5324475" y="438150"/>
                  </a:cubicBezTo>
                  <a:lnTo>
                    <a:pt x="57150" y="438150"/>
                  </a:lnTo>
                  <a:cubicBezTo>
                    <a:pt x="25587" y="438150"/>
                    <a:pt x="0" y="412563"/>
                    <a:pt x="0" y="3810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5E8"/>
            </a:solidFill>
            <a:ln>
              <a:noFill/>
            </a:ln>
          </p:spPr>
        </p:sp>
        <p:sp>
          <p:nvSpPr>
            <p:cNvPr id="88" name="Freeform 88"/>
            <p:cNvSpPr/>
            <p:nvPr/>
          </p:nvSpPr>
          <p:spPr>
            <a:xfrm>
              <a:off x="6286500" y="5219700"/>
              <a:ext cx="38100" cy="438150"/>
            </a:xfrm>
            <a:custGeom>
              <a:avLst/>
              <a:gdLst/>
              <a:ahLst/>
              <a:cxnLst/>
              <a:rect l="l" t="t" r="r" b="b"/>
              <a:pathLst>
                <a:path w="38100" h="4381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19100"/>
                  </a:lnTo>
                  <a:cubicBezTo>
                    <a:pt x="38100" y="429621"/>
                    <a:pt x="29571" y="438150"/>
                    <a:pt x="19050" y="438150"/>
                  </a:cubicBezTo>
                  <a:lnTo>
                    <a:pt x="19050" y="438150"/>
                  </a:lnTo>
                  <a:cubicBezTo>
                    <a:pt x="8529" y="438150"/>
                    <a:pt x="0" y="429621"/>
                    <a:pt x="0" y="4191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445568" y="5295424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注意：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940868" y="5295424"/>
              <a:ext cx="30436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网络延迟包含在 Zep 延迟测量中（不利于 Zep）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445568" y="5466874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基线测量在本地执行，无额外网络开销</a:t>
              </a:r>
            </a:p>
          </p:txBody>
        </p:sp>
      </p:grpSp>
      <p:sp>
        <p:nvSpPr>
          <p:cNvPr id="93" name="Line 93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94" name="TextBox 94"/>
          <p:cNvSpPr txBox="1"/>
          <p:nvPr/>
        </p:nvSpPr>
        <p:spPr>
          <a:xfrm>
            <a:off x="369570" y="6522720"/>
            <a:ext cx="17710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来源：arXiv:2501.13956v1 §4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实验结果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1245001" y="6514624"/>
            <a:ext cx="387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8 / 12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F07C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498364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DMR 基准结果：Zep 超越 MemGPT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77778" y="32480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ZEP AI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5760" y="842010"/>
            <a:ext cx="6865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Zep 94.8% 超越 MemGPT 93.4%；但 DMR 评测本身存在局限，LongMemEval 更具代表性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509588" y="1383506"/>
            <a:ext cx="7437209" cy="4569619"/>
            <a:chOff x="509588" y="1383506"/>
            <a:chExt cx="7437209" cy="4569619"/>
          </a:xfrm>
        </p:grpSpPr>
        <p:sp>
          <p:nvSpPr>
            <p:cNvPr id="10" name="TextBox 10"/>
            <p:cNvSpPr txBox="1"/>
            <p:nvPr/>
          </p:nvSpPr>
          <p:spPr>
            <a:xfrm>
              <a:off x="509588" y="1383506"/>
              <a:ext cx="31684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DMR 各方案准确率对比（gpt-4-turbo）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23875" y="1619250"/>
              <a:ext cx="7143750" cy="4333875"/>
            </a:xfrm>
            <a:custGeom>
              <a:avLst/>
              <a:gdLst/>
              <a:ahLst/>
              <a:cxnLst/>
              <a:rect l="l" t="t" r="r" b="b"/>
              <a:pathLst>
                <a:path w="7143750" h="4333875">
                  <a:moveTo>
                    <a:pt x="57150" y="0"/>
                  </a:moveTo>
                  <a:lnTo>
                    <a:pt x="7086600" y="0"/>
                  </a:lnTo>
                  <a:cubicBezTo>
                    <a:pt x="7118163" y="0"/>
                    <a:pt x="7143750" y="25587"/>
                    <a:pt x="7143750" y="57150"/>
                  </a:cubicBezTo>
                  <a:lnTo>
                    <a:pt x="7143750" y="4276725"/>
                  </a:lnTo>
                  <a:cubicBezTo>
                    <a:pt x="7143750" y="4308288"/>
                    <a:pt x="7118163" y="4333875"/>
                    <a:pt x="7086600" y="4333875"/>
                  </a:cubicBezTo>
                  <a:lnTo>
                    <a:pt x="57150" y="4333875"/>
                  </a:lnTo>
                  <a:cubicBezTo>
                    <a:pt x="25587" y="4333875"/>
                    <a:pt x="0" y="4308288"/>
                    <a:pt x="0" y="42767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AFAFA"/>
            </a:solidFill>
            <a:ln w="9525">
              <a:solidFill>
                <a:srgbClr val="E8F4FC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762250" y="5667375"/>
              <a:ext cx="4714875" cy="9525"/>
            </a:xfrm>
            <a:custGeom>
              <a:avLst/>
              <a:gdLst/>
              <a:ahLst/>
              <a:cxnLst/>
              <a:rect l="l" t="t" r="r" b="b"/>
              <a:pathLst>
                <a:path w="4714875" h="9525">
                  <a:moveTo>
                    <a:pt x="0" y="0"/>
                  </a:moveTo>
                  <a:lnTo>
                    <a:pt x="4714875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619500" y="1762125"/>
              <a:ext cx="9525" cy="3905250"/>
            </a:xfrm>
            <a:custGeom>
              <a:avLst/>
              <a:gdLst/>
              <a:ahLst/>
              <a:cxnLst/>
              <a:rect l="l" t="t" r="r" b="b"/>
              <a:pathLst>
                <a:path w="9525" h="3905250">
                  <a:moveTo>
                    <a:pt x="0" y="0"/>
                  </a:moveTo>
                  <a:lnTo>
                    <a:pt x="0" y="3905250"/>
                  </a:lnTo>
                </a:path>
              </a:pathLst>
            </a:custGeom>
            <a:noFill/>
            <a:ln w="9525">
              <a:solidFill>
                <a:srgbClr val="E8F4FC"/>
              </a:solidFill>
              <a:custDash>
                <a:ds d="400000" sp="300000"/>
              </a:custDash>
            </a:ln>
          </p:spPr>
        </p:sp>
        <p:sp>
          <p:nvSpPr>
            <p:cNvPr id="14" name="Line 14"/>
            <p:cNvSpPr/>
            <p:nvPr/>
          </p:nvSpPr>
          <p:spPr>
            <a:xfrm>
              <a:off x="4476750" y="1762125"/>
              <a:ext cx="9525" cy="3905250"/>
            </a:xfrm>
            <a:custGeom>
              <a:avLst/>
              <a:gdLst/>
              <a:ahLst/>
              <a:cxnLst/>
              <a:rect l="l" t="t" r="r" b="b"/>
              <a:pathLst>
                <a:path w="9525" h="3905250">
                  <a:moveTo>
                    <a:pt x="0" y="0"/>
                  </a:moveTo>
                  <a:lnTo>
                    <a:pt x="0" y="3905250"/>
                  </a:lnTo>
                </a:path>
              </a:pathLst>
            </a:custGeom>
            <a:noFill/>
            <a:ln w="9525">
              <a:solidFill>
                <a:srgbClr val="E8F4FC"/>
              </a:solidFill>
              <a:custDash>
                <a:ds d="400000" sp="300000"/>
              </a:custDash>
            </a:ln>
          </p:spPr>
        </p:sp>
        <p:sp>
          <p:nvSpPr>
            <p:cNvPr id="15" name="Line 15"/>
            <p:cNvSpPr/>
            <p:nvPr/>
          </p:nvSpPr>
          <p:spPr>
            <a:xfrm>
              <a:off x="5334000" y="1762125"/>
              <a:ext cx="9525" cy="3905250"/>
            </a:xfrm>
            <a:custGeom>
              <a:avLst/>
              <a:gdLst/>
              <a:ahLst/>
              <a:cxnLst/>
              <a:rect l="l" t="t" r="r" b="b"/>
              <a:pathLst>
                <a:path w="9525" h="3905250">
                  <a:moveTo>
                    <a:pt x="0" y="0"/>
                  </a:moveTo>
                  <a:lnTo>
                    <a:pt x="0" y="3905250"/>
                  </a:lnTo>
                </a:path>
              </a:pathLst>
            </a:custGeom>
            <a:noFill/>
            <a:ln w="9525">
              <a:solidFill>
                <a:srgbClr val="E8F4FC"/>
              </a:solidFill>
              <a:custDash>
                <a:ds d="400000" sp="300000"/>
              </a:custDash>
            </a:ln>
          </p:spPr>
        </p:sp>
        <p:sp>
          <p:nvSpPr>
            <p:cNvPr id="16" name="Line 16"/>
            <p:cNvSpPr/>
            <p:nvPr/>
          </p:nvSpPr>
          <p:spPr>
            <a:xfrm>
              <a:off x="6191250" y="1762125"/>
              <a:ext cx="9525" cy="3905250"/>
            </a:xfrm>
            <a:custGeom>
              <a:avLst/>
              <a:gdLst/>
              <a:ahLst/>
              <a:cxnLst/>
              <a:rect l="l" t="t" r="r" b="b"/>
              <a:pathLst>
                <a:path w="9525" h="3905250">
                  <a:moveTo>
                    <a:pt x="0" y="0"/>
                  </a:moveTo>
                  <a:lnTo>
                    <a:pt x="0" y="3905250"/>
                  </a:lnTo>
                </a:path>
              </a:pathLst>
            </a:custGeom>
            <a:noFill/>
            <a:ln w="9525">
              <a:solidFill>
                <a:srgbClr val="E8F4FC"/>
              </a:solidFill>
              <a:custDash>
                <a:ds d="400000" sp="300000"/>
              </a:custDash>
            </a:ln>
          </p:spPr>
        </p:sp>
        <p:sp>
          <p:nvSpPr>
            <p:cNvPr id="17" name="Line 17"/>
            <p:cNvSpPr/>
            <p:nvPr/>
          </p:nvSpPr>
          <p:spPr>
            <a:xfrm>
              <a:off x="7048500" y="1762125"/>
              <a:ext cx="9525" cy="3905250"/>
            </a:xfrm>
            <a:custGeom>
              <a:avLst/>
              <a:gdLst/>
              <a:ahLst/>
              <a:cxnLst/>
              <a:rect l="l" t="t" r="r" b="b"/>
              <a:pathLst>
                <a:path w="9525" h="3905250">
                  <a:moveTo>
                    <a:pt x="0" y="0"/>
                  </a:moveTo>
                  <a:lnTo>
                    <a:pt x="0" y="3905250"/>
                  </a:lnTo>
                </a:path>
              </a:pathLst>
            </a:custGeom>
            <a:noFill/>
            <a:ln w="9525">
              <a:solidFill>
                <a:srgbClr val="E8F4FC"/>
              </a:solidFill>
              <a:custDash>
                <a:ds d="400000" sp="300000"/>
              </a:custDash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09617" y="5740241"/>
              <a:ext cx="2197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66867" y="5740241"/>
              <a:ext cx="2197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40%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24117" y="5740241"/>
              <a:ext cx="2197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60%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81367" y="5740241"/>
              <a:ext cx="2197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80%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20544" y="5740241"/>
              <a:ext cx="255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975175" y="1905000"/>
              <a:ext cx="2944184" cy="335756"/>
              <a:chOff x="1975175" y="1905000"/>
              <a:chExt cx="2944184" cy="335756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2177415" y="1931670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888888"/>
                    </a:solidFill>
                    <a:latin typeface="Arial"/>
                    <a:ea typeface="Microsoft YaHei"/>
                    <a:cs typeface="Arial"/>
                  </a:rPr>
                  <a:t>递归摘要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975175" y="2073116"/>
                <a:ext cx="74992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999999"/>
                    </a:solidFill>
                    <a:latin typeface="Arial"/>
                    <a:ea typeface="Microsoft YaHei"/>
                    <a:cs typeface="Arial"/>
                  </a:rPr>
                  <a:t>gpt-4-turbo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2762250" y="1905000"/>
                <a:ext cx="16668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666875" h="266700">
                    <a:moveTo>
                      <a:pt x="28575" y="0"/>
                    </a:moveTo>
                    <a:lnTo>
                      <a:pt x="1638300" y="0"/>
                    </a:lnTo>
                    <a:cubicBezTo>
                      <a:pt x="1654082" y="0"/>
                      <a:pt x="1666875" y="12793"/>
                      <a:pt x="1666875" y="28575"/>
                    </a:cubicBezTo>
                    <a:lnTo>
                      <a:pt x="1666875" y="238125"/>
                    </a:lnTo>
                    <a:cubicBezTo>
                      <a:pt x="1666875" y="253907"/>
                      <a:pt x="1654082" y="266700"/>
                      <a:pt x="1638300" y="266700"/>
                    </a:cubicBezTo>
                    <a:lnTo>
                      <a:pt x="28575" y="266700"/>
                    </a:lnTo>
                    <a:cubicBezTo>
                      <a:pt x="12793" y="266700"/>
                      <a:pt x="0" y="253907"/>
                      <a:pt x="0" y="2381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483418" y="1980724"/>
                <a:ext cx="4359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888888"/>
                    </a:solidFill>
                    <a:latin typeface="Arial"/>
                    <a:ea typeface="Microsoft YaHei"/>
                    <a:cs typeface="Arial"/>
                  </a:rPr>
                  <a:t>35.3%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975175" y="2428875"/>
              <a:ext cx="4982534" cy="335756"/>
              <a:chOff x="1975175" y="2428875"/>
              <a:chExt cx="4982534" cy="335756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2177415" y="24555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888888"/>
                    </a:solidFill>
                    <a:latin typeface="Arial"/>
                    <a:ea typeface="Microsoft YaHei"/>
                    <a:cs typeface="Arial"/>
                  </a:rPr>
                  <a:t>对话摘要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975175" y="2596991"/>
                <a:ext cx="74992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999999"/>
                    </a:solidFill>
                    <a:latin typeface="Arial"/>
                    <a:ea typeface="Microsoft YaHei"/>
                    <a:cs typeface="Arial"/>
                  </a:rPr>
                  <a:t>gpt-4-turbo</a:t>
                </a:r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2762250" y="2428875"/>
                <a:ext cx="37052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705225" h="266700">
                    <a:moveTo>
                      <a:pt x="28575" y="0"/>
                    </a:moveTo>
                    <a:lnTo>
                      <a:pt x="3676650" y="0"/>
                    </a:lnTo>
                    <a:cubicBezTo>
                      <a:pt x="3692432" y="0"/>
                      <a:pt x="3705225" y="12793"/>
                      <a:pt x="3705225" y="28575"/>
                    </a:cubicBezTo>
                    <a:lnTo>
                      <a:pt x="3705225" y="238125"/>
                    </a:lnTo>
                    <a:cubicBezTo>
                      <a:pt x="3705225" y="253907"/>
                      <a:pt x="3692432" y="266700"/>
                      <a:pt x="3676650" y="266700"/>
                    </a:cubicBezTo>
                    <a:lnTo>
                      <a:pt x="28575" y="266700"/>
                    </a:lnTo>
                    <a:cubicBezTo>
                      <a:pt x="12793" y="266700"/>
                      <a:pt x="0" y="253907"/>
                      <a:pt x="0" y="2381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521768" y="2504599"/>
                <a:ext cx="4359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888888"/>
                    </a:solidFill>
                    <a:latin typeface="Arial"/>
                    <a:ea typeface="Microsoft YaHei"/>
                    <a:cs typeface="Arial"/>
                  </a:rPr>
                  <a:t>78.6%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547432" y="2905125"/>
              <a:ext cx="6138183" cy="383381"/>
              <a:chOff x="1547432" y="2905125"/>
              <a:chExt cx="6138183" cy="383381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2149023" y="2971324"/>
                <a:ext cx="5779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MemGPT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547432" y="3120866"/>
                <a:ext cx="117767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gpt-4-turbo ← SOTA</a:t>
                </a:r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2762250" y="2952750"/>
                <a:ext cx="44005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4400550" h="285750">
                    <a:moveTo>
                      <a:pt x="28575" y="0"/>
                    </a:moveTo>
                    <a:lnTo>
                      <a:pt x="4371975" y="0"/>
                    </a:lnTo>
                    <a:cubicBezTo>
                      <a:pt x="4387757" y="0"/>
                      <a:pt x="4400550" y="12793"/>
                      <a:pt x="4400550" y="28575"/>
                    </a:cubicBezTo>
                    <a:lnTo>
                      <a:pt x="4400550" y="257175"/>
                    </a:lnTo>
                    <a:cubicBezTo>
                      <a:pt x="4400550" y="272957"/>
                      <a:pt x="4387757" y="285750"/>
                      <a:pt x="4371975" y="285750"/>
                    </a:cubicBezTo>
                    <a:lnTo>
                      <a:pt x="28575" y="285750"/>
                    </a:lnTo>
                    <a:cubicBezTo>
                      <a:pt x="12793" y="285750"/>
                      <a:pt x="0" y="272957"/>
                      <a:pt x="0" y="2571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5599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16140" y="3029902"/>
                <a:ext cx="4694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93.4%</a:t>
                </a:r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6467475" y="2905125"/>
                <a:ext cx="571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171450">
                    <a:moveTo>
                      <a:pt x="28575" y="0"/>
                    </a:moveTo>
                    <a:lnTo>
                      <a:pt x="542925" y="0"/>
                    </a:lnTo>
                    <a:cubicBezTo>
                      <a:pt x="558707" y="0"/>
                      <a:pt x="571500" y="12793"/>
                      <a:pt x="571500" y="28575"/>
                    </a:cubicBezTo>
                    <a:lnTo>
                      <a:pt x="571500" y="142875"/>
                    </a:lnTo>
                    <a:cubicBezTo>
                      <a:pt x="571500" y="158657"/>
                      <a:pt x="558707" y="171450"/>
                      <a:pt x="54292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598158" y="2939891"/>
                <a:ext cx="31013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SOTA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1975175" y="3448050"/>
              <a:ext cx="5725484" cy="335756"/>
              <a:chOff x="1975175" y="3448050"/>
              <a:chExt cx="5725484" cy="335756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2045970" y="3474720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完整上下文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975175" y="3616166"/>
                <a:ext cx="74992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gpt-4-turbo</a:t>
                </a:r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2762250" y="3448050"/>
                <a:ext cx="44481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4448175" h="266700">
                    <a:moveTo>
                      <a:pt x="28575" y="0"/>
                    </a:moveTo>
                    <a:lnTo>
                      <a:pt x="4419600" y="0"/>
                    </a:lnTo>
                    <a:cubicBezTo>
                      <a:pt x="4435382" y="0"/>
                      <a:pt x="4448175" y="12793"/>
                      <a:pt x="4448175" y="28575"/>
                    </a:cubicBezTo>
                    <a:lnTo>
                      <a:pt x="4448175" y="238125"/>
                    </a:lnTo>
                    <a:cubicBezTo>
                      <a:pt x="4448175" y="253907"/>
                      <a:pt x="4435382" y="266700"/>
                      <a:pt x="4419600" y="266700"/>
                    </a:cubicBezTo>
                    <a:lnTo>
                      <a:pt x="28575" y="266700"/>
                    </a:lnTo>
                    <a:cubicBezTo>
                      <a:pt x="12793" y="266700"/>
                      <a:pt x="0" y="253907"/>
                      <a:pt x="0" y="2381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668BBB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264718" y="3523774"/>
                <a:ext cx="4359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94.4%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1872758" y="3914775"/>
              <a:ext cx="5912113" cy="392906"/>
              <a:chOff x="1872758" y="3914775"/>
              <a:chExt cx="5912113" cy="392906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2455537" y="3990499"/>
                <a:ext cx="2714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Zep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872758" y="4140041"/>
                <a:ext cx="8523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F07C00"/>
                    </a:solidFill>
                    <a:latin typeface="Arial"/>
                    <a:ea typeface="Microsoft YaHei"/>
                    <a:cs typeface="Arial"/>
                  </a:rPr>
                  <a:t>gpt-4-turbo ★</a:t>
                </a:r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2762250" y="3971925"/>
                <a:ext cx="44672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4467225" h="285750">
                    <a:moveTo>
                      <a:pt x="28575" y="0"/>
                    </a:moveTo>
                    <a:lnTo>
                      <a:pt x="4438650" y="0"/>
                    </a:lnTo>
                    <a:cubicBezTo>
                      <a:pt x="4454432" y="0"/>
                      <a:pt x="4467225" y="12793"/>
                      <a:pt x="4467225" y="28575"/>
                    </a:cubicBezTo>
                    <a:lnTo>
                      <a:pt x="4467225" y="257175"/>
                    </a:lnTo>
                    <a:cubicBezTo>
                      <a:pt x="4467225" y="272957"/>
                      <a:pt x="4454432" y="285750"/>
                      <a:pt x="4438650" y="285750"/>
                    </a:cubicBezTo>
                    <a:lnTo>
                      <a:pt x="28575" y="285750"/>
                    </a:lnTo>
                    <a:cubicBezTo>
                      <a:pt x="12793" y="285750"/>
                      <a:pt x="0" y="272957"/>
                      <a:pt x="0" y="2571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F07C00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281862" y="4040981"/>
                <a:ext cx="50300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07C00"/>
                    </a:solidFill>
                    <a:latin typeface="Arial"/>
                    <a:ea typeface="Microsoft YaHei"/>
                    <a:cs typeface="Arial"/>
                  </a:rPr>
                  <a:t>94.8%</a:t>
                </a:r>
              </a:p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6505575" y="3914775"/>
                <a:ext cx="685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171450">
                    <a:moveTo>
                      <a:pt x="28575" y="0"/>
                    </a:moveTo>
                    <a:lnTo>
                      <a:pt x="657225" y="0"/>
                    </a:lnTo>
                    <a:cubicBezTo>
                      <a:pt x="673007" y="0"/>
                      <a:pt x="685800" y="12793"/>
                      <a:pt x="685800" y="28575"/>
                    </a:cubicBezTo>
                    <a:lnTo>
                      <a:pt x="685800" y="142875"/>
                    </a:lnTo>
                    <a:cubicBezTo>
                      <a:pt x="685800" y="158657"/>
                      <a:pt x="673007" y="171450"/>
                      <a:pt x="65722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F07C00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626084" y="3949541"/>
                <a:ext cx="44478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+1.4% ↑</a:t>
                </a:r>
              </a:p>
            </p:txBody>
          </p:sp>
        </p:grpSp>
        <p:sp>
          <p:nvSpPr>
            <p:cNvPr id="52" name="Line 52"/>
            <p:cNvSpPr/>
            <p:nvPr/>
          </p:nvSpPr>
          <p:spPr>
            <a:xfrm>
              <a:off x="666750" y="4448175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E8F4FC"/>
              </a:solidFill>
              <a:prstDash val="dash"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223498" y="4474845"/>
              <a:ext cx="11730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AAAAA"/>
                  </a:solidFill>
                  <a:latin typeface="Arial"/>
                  <a:ea typeface="Microsoft YaHei"/>
                  <a:cs typeface="Arial"/>
                </a:rPr>
                <a:t>— gpt-4o-mini 组 —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2011323" y="4743450"/>
              <a:ext cx="5860786" cy="335756"/>
              <a:chOff x="2011323" y="4743450"/>
              <a:chExt cx="5860786" cy="335756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2045970" y="4770120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完整上下文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2011323" y="4911566"/>
                <a:ext cx="71378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gpt-4o-mini</a:t>
                </a:r>
              </a:p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2762250" y="4743450"/>
                <a:ext cx="46196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4619625" h="266700">
                    <a:moveTo>
                      <a:pt x="28575" y="0"/>
                    </a:moveTo>
                    <a:lnTo>
                      <a:pt x="4591050" y="0"/>
                    </a:lnTo>
                    <a:cubicBezTo>
                      <a:pt x="4606832" y="0"/>
                      <a:pt x="4619625" y="12793"/>
                      <a:pt x="4619625" y="28575"/>
                    </a:cubicBezTo>
                    <a:lnTo>
                      <a:pt x="4619625" y="238125"/>
                    </a:lnTo>
                    <a:cubicBezTo>
                      <a:pt x="4619625" y="253907"/>
                      <a:pt x="4606832" y="266700"/>
                      <a:pt x="4591050" y="266700"/>
                    </a:cubicBezTo>
                    <a:lnTo>
                      <a:pt x="28575" y="266700"/>
                    </a:lnTo>
                    <a:cubicBezTo>
                      <a:pt x="12793" y="266700"/>
                      <a:pt x="0" y="253907"/>
                      <a:pt x="0" y="2381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668BBB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436168" y="4819174"/>
                <a:ext cx="4359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555555"/>
                    </a:solidFill>
                    <a:latin typeface="Arial"/>
                    <a:ea typeface="Microsoft YaHei"/>
                    <a:cs typeface="Arial"/>
                  </a:rPr>
                  <a:t>98.0%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1908905" y="5238750"/>
              <a:ext cx="6037892" cy="335756"/>
              <a:chOff x="1908905" y="5238750"/>
              <a:chExt cx="6037892" cy="335756"/>
            </a:xfrm>
          </p:grpSpPr>
          <p:sp>
            <p:nvSpPr>
              <p:cNvPr id="59" name="TextBox 59"/>
              <p:cNvSpPr txBox="1"/>
              <p:nvPr/>
            </p:nvSpPr>
            <p:spPr>
              <a:xfrm>
                <a:off x="2455537" y="5257324"/>
                <a:ext cx="2714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b="1" dirty="0">
                    <a:solidFill>
                      <a:srgbClr val="003366"/>
                    </a:solidFill>
                    <a:latin typeface="Arial"/>
                    <a:ea typeface="Microsoft YaHei"/>
                    <a:cs typeface="Arial"/>
                  </a:rPr>
                  <a:t>Zep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908905" y="5406866"/>
                <a:ext cx="81619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F07C00"/>
                    </a:solidFill>
                    <a:latin typeface="Arial"/>
                    <a:ea typeface="Microsoft YaHei"/>
                    <a:cs typeface="Arial"/>
                  </a:rPr>
                  <a:t>gpt-4o-mini ★</a:t>
                </a:r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2762250" y="5238750"/>
                <a:ext cx="46291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4629150" h="285750">
                    <a:moveTo>
                      <a:pt x="28575" y="0"/>
                    </a:moveTo>
                    <a:lnTo>
                      <a:pt x="4600575" y="0"/>
                    </a:lnTo>
                    <a:cubicBezTo>
                      <a:pt x="4616357" y="0"/>
                      <a:pt x="4629150" y="12793"/>
                      <a:pt x="4629150" y="28575"/>
                    </a:cubicBezTo>
                    <a:lnTo>
                      <a:pt x="4629150" y="257175"/>
                    </a:lnTo>
                    <a:cubicBezTo>
                      <a:pt x="4629150" y="272957"/>
                      <a:pt x="4616357" y="285750"/>
                      <a:pt x="4600575" y="285750"/>
                    </a:cubicBezTo>
                    <a:lnTo>
                      <a:pt x="28575" y="285750"/>
                    </a:lnTo>
                    <a:cubicBezTo>
                      <a:pt x="12793" y="285750"/>
                      <a:pt x="0" y="272957"/>
                      <a:pt x="0" y="2571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F07C00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443788" y="5307806"/>
                <a:ext cx="50300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07C00"/>
                    </a:solidFill>
                    <a:latin typeface="Arial"/>
                    <a:ea typeface="Microsoft YaHei"/>
                    <a:cs typeface="Arial"/>
                  </a:rPr>
                  <a:t>98.2%</a:t>
                </a:r>
              </a:p>
            </p:txBody>
          </p:sp>
        </p:grpSp>
      </p:grpSp>
      <p:grpSp>
        <p:nvGrpSpPr>
          <p:cNvPr id="86" name="Group 86"/>
          <p:cNvGrpSpPr/>
          <p:nvPr/>
        </p:nvGrpSpPr>
        <p:grpSpPr>
          <a:xfrm>
            <a:off x="7891462" y="1383506"/>
            <a:ext cx="3871913" cy="3998119"/>
            <a:chOff x="7891462" y="1383506"/>
            <a:chExt cx="3871913" cy="3998119"/>
          </a:xfrm>
        </p:grpSpPr>
        <p:sp>
          <p:nvSpPr>
            <p:cNvPr id="65" name="TextBox 65"/>
            <p:cNvSpPr txBox="1"/>
            <p:nvPr/>
          </p:nvSpPr>
          <p:spPr>
            <a:xfrm>
              <a:off x="7891462" y="13835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深度解读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7905750" y="15621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19050">
              <a:solidFill>
                <a:srgbClr val="F07C00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7905750" y="1657350"/>
              <a:ext cx="3857625" cy="1619250"/>
            </a:xfrm>
            <a:custGeom>
              <a:avLst/>
              <a:gdLst/>
              <a:ahLst/>
              <a:cxnLst/>
              <a:rect l="l" t="t" r="r" b="b"/>
              <a:pathLst>
                <a:path w="3857625" h="1619250">
                  <a:moveTo>
                    <a:pt x="76200" y="0"/>
                  </a:moveTo>
                  <a:lnTo>
                    <a:pt x="3781425" y="0"/>
                  </a:lnTo>
                  <a:cubicBezTo>
                    <a:pt x="3823509" y="0"/>
                    <a:pt x="3857625" y="34116"/>
                    <a:pt x="3857625" y="76200"/>
                  </a:cubicBezTo>
                  <a:lnTo>
                    <a:pt x="3857625" y="1543050"/>
                  </a:lnTo>
                  <a:cubicBezTo>
                    <a:pt x="3857625" y="1585134"/>
                    <a:pt x="3823509" y="1619250"/>
                    <a:pt x="3781425" y="1619250"/>
                  </a:cubicBezTo>
                  <a:lnTo>
                    <a:pt x="76200" y="1619250"/>
                  </a:lnTo>
                  <a:cubicBezTo>
                    <a:pt x="34116" y="1619250"/>
                    <a:pt x="0" y="1585134"/>
                    <a:pt x="0" y="1543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F4FC"/>
            </a:solidFill>
            <a:ln w="14288">
              <a:solidFill>
                <a:srgbClr val="0066CC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7905750" y="1657350"/>
              <a:ext cx="57150" cy="1619250"/>
            </a:xfrm>
            <a:custGeom>
              <a:avLst/>
              <a:gdLst/>
              <a:ahLst/>
              <a:cxnLst/>
              <a:rect l="l" t="t" r="r" b="b"/>
              <a:pathLst>
                <a:path w="57150" h="16192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590675"/>
                  </a:lnTo>
                  <a:cubicBezTo>
                    <a:pt x="57150" y="1606457"/>
                    <a:pt x="44357" y="1619250"/>
                    <a:pt x="28575" y="1619250"/>
                  </a:cubicBezTo>
                  <a:lnTo>
                    <a:pt x="28575" y="1619250"/>
                  </a:lnTo>
                  <a:cubicBezTo>
                    <a:pt x="12793" y="1619250"/>
                    <a:pt x="0" y="1606457"/>
                    <a:pt x="0" y="15906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121015" y="1810702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Zep 超越 MemGPT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063865" y="2058352"/>
              <a:ext cx="2043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Zep 94.8% vs MemGPT 93.4%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63865" y="2267902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（gpt-4-turbo，差距 +1.4%）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63865" y="2496502"/>
              <a:ext cx="2035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gpt-4o-mini 下提升至 98.2%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63865" y="27060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优于所有 Baseline 方案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8077200" y="2933700"/>
              <a:ext cx="3524250" cy="228600"/>
            </a:xfrm>
            <a:custGeom>
              <a:avLst/>
              <a:gdLst/>
              <a:ahLst/>
              <a:cxnLst/>
              <a:rect l="l" t="t" r="r" b="b"/>
              <a:pathLst>
                <a:path w="3524250" h="228600">
                  <a:moveTo>
                    <a:pt x="38100" y="0"/>
                  </a:moveTo>
                  <a:lnTo>
                    <a:pt x="3486150" y="0"/>
                  </a:lnTo>
                  <a:cubicBezTo>
                    <a:pt x="3507192" y="0"/>
                    <a:pt x="3524250" y="17058"/>
                    <a:pt x="3524250" y="38100"/>
                  </a:cubicBezTo>
                  <a:lnTo>
                    <a:pt x="3524250" y="190500"/>
                  </a:lnTo>
                  <a:cubicBezTo>
                    <a:pt x="3524250" y="211542"/>
                    <a:pt x="3507192" y="228600"/>
                    <a:pt x="348615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619579" y="2990374"/>
              <a:ext cx="24394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✓ 在 MemGPT 团队的评测指标上获胜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7905750" y="3429000"/>
              <a:ext cx="3857625" cy="1952625"/>
            </a:xfrm>
            <a:custGeom>
              <a:avLst/>
              <a:gdLst/>
              <a:ahLst/>
              <a:cxnLst/>
              <a:rect l="l" t="t" r="r" b="b"/>
              <a:pathLst>
                <a:path w="3857625" h="1952625">
                  <a:moveTo>
                    <a:pt x="76200" y="0"/>
                  </a:moveTo>
                  <a:lnTo>
                    <a:pt x="3781425" y="0"/>
                  </a:lnTo>
                  <a:cubicBezTo>
                    <a:pt x="3823509" y="0"/>
                    <a:pt x="3857625" y="34116"/>
                    <a:pt x="3857625" y="76200"/>
                  </a:cubicBezTo>
                  <a:lnTo>
                    <a:pt x="3857625" y="1876425"/>
                  </a:lnTo>
                  <a:cubicBezTo>
                    <a:pt x="3857625" y="1918509"/>
                    <a:pt x="3823509" y="1952625"/>
                    <a:pt x="3781425" y="1952625"/>
                  </a:cubicBezTo>
                  <a:lnTo>
                    <a:pt x="76200" y="1952625"/>
                  </a:lnTo>
                  <a:cubicBezTo>
                    <a:pt x="34116" y="1952625"/>
                    <a:pt x="0" y="1918509"/>
                    <a:pt x="0" y="187642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5E8"/>
            </a:solidFill>
            <a:ln w="14288">
              <a:solidFill>
                <a:srgbClr val="F07C00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7905750" y="3429000"/>
              <a:ext cx="57150" cy="1952625"/>
            </a:xfrm>
            <a:custGeom>
              <a:avLst/>
              <a:gdLst/>
              <a:ahLst/>
              <a:cxnLst/>
              <a:rect l="l" t="t" r="r" b="b"/>
              <a:pathLst>
                <a:path w="57150" h="1952625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924050"/>
                  </a:lnTo>
                  <a:cubicBezTo>
                    <a:pt x="57150" y="1939832"/>
                    <a:pt x="44357" y="1952625"/>
                    <a:pt x="28575" y="1952625"/>
                  </a:cubicBezTo>
                  <a:lnTo>
                    <a:pt x="28575" y="1952625"/>
                  </a:lnTo>
                  <a:cubicBezTo>
                    <a:pt x="12793" y="1952625"/>
                    <a:pt x="0" y="1939832"/>
                    <a:pt x="0" y="192405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121015" y="3582352"/>
              <a:ext cx="19830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DMR 评测局限（作者分析）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064818" y="385714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① 60条消息可完整放入上下文窗口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064818" y="4066699"/>
              <a:ext cx="18617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简单全上下文也能达 94.4%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064818" y="4295299"/>
              <a:ext cx="22817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② 仅单轮事实问答，不考察时序推理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064818" y="4504849"/>
              <a:ext cx="22889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③ 问题模糊（"favorite drink"等）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064818" y="471439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④ 不代表真实企业使用场景</a:t>
              </a:r>
            </a:p>
          </p:txBody>
        </p:sp>
        <p:sp>
          <p:nvSpPr>
            <p:cNvPr id="84" name="Freeform 84"/>
            <p:cNvSpPr/>
            <p:nvPr/>
          </p:nvSpPr>
          <p:spPr>
            <a:xfrm>
              <a:off x="8077200" y="4933950"/>
              <a:ext cx="3524250" cy="304800"/>
            </a:xfrm>
            <a:custGeom>
              <a:avLst/>
              <a:gdLst/>
              <a:ahLst/>
              <a:cxnLst/>
              <a:rect l="l" t="t" r="r" b="b"/>
              <a:pathLst>
                <a:path w="3524250" h="304800">
                  <a:moveTo>
                    <a:pt x="38100" y="0"/>
                  </a:moveTo>
                  <a:lnTo>
                    <a:pt x="3486150" y="0"/>
                  </a:lnTo>
                  <a:cubicBezTo>
                    <a:pt x="3507192" y="0"/>
                    <a:pt x="3524250" y="17058"/>
                    <a:pt x="3524250" y="38100"/>
                  </a:cubicBezTo>
                  <a:lnTo>
                    <a:pt x="3524250" y="266700"/>
                  </a:lnTo>
                  <a:cubicBezTo>
                    <a:pt x="3524250" y="287742"/>
                    <a:pt x="3507192" y="304800"/>
                    <a:pt x="3486150" y="304800"/>
                  </a:cubicBezTo>
                  <a:lnTo>
                    <a:pt x="38100" y="304800"/>
                  </a:lnTo>
                  <a:cubicBezTo>
                    <a:pt x="17058" y="304800"/>
                    <a:pt x="0" y="287742"/>
                    <a:pt x="0" y="2667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0D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679387" y="5028724"/>
              <a:ext cx="2319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→ LongMemEval 更能反映真实能力</a:t>
              </a:r>
            </a:p>
          </p:txBody>
        </p:sp>
      </p:grpSp>
      <p:sp>
        <p:nvSpPr>
          <p:cNvPr id="87" name="Line 8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88" name="TextBox 88"/>
          <p:cNvSpPr txBox="1"/>
          <p:nvPr/>
        </p:nvSpPr>
        <p:spPr>
          <a:xfrm>
            <a:off x="369570" y="6522720"/>
            <a:ext cx="23625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来源：arXiv:2501.13956v1 Table 1 §4.2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实验结果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1245001" y="6514624"/>
            <a:ext cx="387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9 / 12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F07C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550696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LongMemEval：准确率 ↑，延迟 ↓ 90%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77778" y="32480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ZEP AI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5760" y="842010"/>
            <a:ext cx="58228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Zep 准确率提升 15.2–18.5%，响应延迟降低 90%，上下文 tokens 压缩 99%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9588" y="1383506"/>
            <a:ext cx="22023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LongMemEval-s 准确率对比</a:t>
            </a:r>
          </a:p>
        </p:txBody>
      </p:sp>
      <p:sp>
        <p:nvSpPr>
          <p:cNvPr id="11" name="Line 11"/>
          <p:cNvSpPr/>
          <p:nvPr/>
        </p:nvSpPr>
        <p:spPr>
          <a:xfrm>
            <a:off x="523875" y="1562100"/>
            <a:ext cx="2428875" cy="9525"/>
          </a:xfrm>
          <a:custGeom>
            <a:avLst/>
            <a:gdLst/>
            <a:ahLst/>
            <a:cxnLst/>
            <a:rect l="l" t="t" r="r" b="b"/>
            <a:pathLst>
              <a:path w="2428875" h="9525">
                <a:moveTo>
                  <a:pt x="0" y="0"/>
                </a:moveTo>
                <a:lnTo>
                  <a:pt x="2428875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523875" y="1638300"/>
            <a:ext cx="7143750" cy="2381250"/>
          </a:xfrm>
          <a:custGeom>
            <a:avLst/>
            <a:gdLst/>
            <a:ahLst/>
            <a:cxnLst/>
            <a:rect l="l" t="t" r="r" b="b"/>
            <a:pathLst>
              <a:path w="7143750" h="2381250">
                <a:moveTo>
                  <a:pt x="57150" y="0"/>
                </a:moveTo>
                <a:lnTo>
                  <a:pt x="7086600" y="0"/>
                </a:lnTo>
                <a:cubicBezTo>
                  <a:pt x="7118163" y="0"/>
                  <a:pt x="7143750" y="25587"/>
                  <a:pt x="7143750" y="57150"/>
                </a:cubicBezTo>
                <a:lnTo>
                  <a:pt x="7143750" y="2324100"/>
                </a:lnTo>
                <a:cubicBezTo>
                  <a:pt x="7143750" y="2355663"/>
                  <a:pt x="7118163" y="2381250"/>
                  <a:pt x="7086600" y="2381250"/>
                </a:cubicBezTo>
                <a:lnTo>
                  <a:pt x="57150" y="2381250"/>
                </a:lnTo>
                <a:cubicBezTo>
                  <a:pt x="25587" y="2381250"/>
                  <a:pt x="0" y="2355663"/>
                  <a:pt x="0" y="2324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AFAFA"/>
          </a:solidFill>
          <a:ln w="9525">
            <a:solidFill>
              <a:srgbClr val="E8F4F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29294" y="1863566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100%</a:t>
            </a:r>
          </a:p>
        </p:txBody>
      </p:sp>
      <p:sp>
        <p:nvSpPr>
          <p:cNvPr id="14" name="Line 14"/>
          <p:cNvSpPr/>
          <p:nvPr/>
        </p:nvSpPr>
        <p:spPr>
          <a:xfrm>
            <a:off x="1047750" y="1905000"/>
            <a:ext cx="6381750" cy="9525"/>
          </a:xfrm>
          <a:custGeom>
            <a:avLst/>
            <a:gdLst/>
            <a:ahLst/>
            <a:cxnLst/>
            <a:rect l="l" t="t" r="r" b="b"/>
            <a:pathLst>
              <a:path w="6381750" h="9525">
                <a:moveTo>
                  <a:pt x="0" y="0"/>
                </a:moveTo>
                <a:lnTo>
                  <a:pt x="6381750" y="0"/>
                </a:lnTo>
              </a:path>
            </a:pathLst>
          </a:custGeom>
          <a:noFill/>
          <a:ln w="9525">
            <a:solidFill>
              <a:srgbClr val="E8F4FC"/>
            </a:solidFill>
            <a:custDash>
              <a:ds d="300000" sp="300000"/>
            </a:custDash>
          </a:ln>
        </p:spPr>
      </p:sp>
      <p:sp>
        <p:nvSpPr>
          <p:cNvPr id="15" name="TextBox 15"/>
          <p:cNvSpPr txBox="1"/>
          <p:nvPr/>
        </p:nvSpPr>
        <p:spPr>
          <a:xfrm>
            <a:off x="747367" y="2244566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75%</a:t>
            </a:r>
          </a:p>
        </p:txBody>
      </p:sp>
      <p:sp>
        <p:nvSpPr>
          <p:cNvPr id="16" name="Line 16"/>
          <p:cNvSpPr/>
          <p:nvPr/>
        </p:nvSpPr>
        <p:spPr>
          <a:xfrm>
            <a:off x="1047750" y="2286000"/>
            <a:ext cx="6381750" cy="9525"/>
          </a:xfrm>
          <a:custGeom>
            <a:avLst/>
            <a:gdLst/>
            <a:ahLst/>
            <a:cxnLst/>
            <a:rect l="l" t="t" r="r" b="b"/>
            <a:pathLst>
              <a:path w="6381750" h="9525">
                <a:moveTo>
                  <a:pt x="0" y="0"/>
                </a:moveTo>
                <a:lnTo>
                  <a:pt x="6381750" y="0"/>
                </a:lnTo>
              </a:path>
            </a:pathLst>
          </a:custGeom>
          <a:noFill/>
          <a:ln w="9525">
            <a:solidFill>
              <a:srgbClr val="E8F4FC"/>
            </a:solidFill>
            <a:custDash>
              <a:ds d="300000" sp="300000"/>
            </a:custDash>
          </a:ln>
        </p:spPr>
      </p:sp>
      <p:sp>
        <p:nvSpPr>
          <p:cNvPr id="17" name="TextBox 17"/>
          <p:cNvSpPr txBox="1"/>
          <p:nvPr/>
        </p:nvSpPr>
        <p:spPr>
          <a:xfrm>
            <a:off x="747367" y="2625566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50%</a:t>
            </a:r>
          </a:p>
        </p:txBody>
      </p:sp>
      <p:sp>
        <p:nvSpPr>
          <p:cNvPr id="18" name="Line 18"/>
          <p:cNvSpPr/>
          <p:nvPr/>
        </p:nvSpPr>
        <p:spPr>
          <a:xfrm>
            <a:off x="1047750" y="2667000"/>
            <a:ext cx="6381750" cy="9525"/>
          </a:xfrm>
          <a:custGeom>
            <a:avLst/>
            <a:gdLst/>
            <a:ahLst/>
            <a:cxnLst/>
            <a:rect l="l" t="t" r="r" b="b"/>
            <a:pathLst>
              <a:path w="6381750" h="9525">
                <a:moveTo>
                  <a:pt x="0" y="0"/>
                </a:moveTo>
                <a:lnTo>
                  <a:pt x="6381750" y="0"/>
                </a:lnTo>
              </a:path>
            </a:pathLst>
          </a:custGeom>
          <a:noFill/>
          <a:ln w="9525">
            <a:solidFill>
              <a:srgbClr val="E8F4FC"/>
            </a:solidFill>
            <a:custDash>
              <a:ds d="300000" sp="300000"/>
            </a:custDash>
          </a:ln>
        </p:spPr>
      </p:sp>
      <p:sp>
        <p:nvSpPr>
          <p:cNvPr id="19" name="TextBox 19"/>
          <p:cNvSpPr txBox="1"/>
          <p:nvPr/>
        </p:nvSpPr>
        <p:spPr>
          <a:xfrm>
            <a:off x="747367" y="3006566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25%</a:t>
            </a:r>
          </a:p>
        </p:txBody>
      </p:sp>
      <p:sp>
        <p:nvSpPr>
          <p:cNvPr id="20" name="Line 20"/>
          <p:cNvSpPr/>
          <p:nvPr/>
        </p:nvSpPr>
        <p:spPr>
          <a:xfrm>
            <a:off x="1047750" y="3048000"/>
            <a:ext cx="6381750" cy="9525"/>
          </a:xfrm>
          <a:custGeom>
            <a:avLst/>
            <a:gdLst/>
            <a:ahLst/>
            <a:cxnLst/>
            <a:rect l="l" t="t" r="r" b="b"/>
            <a:pathLst>
              <a:path w="6381750" h="9525">
                <a:moveTo>
                  <a:pt x="0" y="0"/>
                </a:moveTo>
                <a:lnTo>
                  <a:pt x="6381750" y="0"/>
                </a:lnTo>
              </a:path>
            </a:pathLst>
          </a:custGeom>
          <a:noFill/>
          <a:ln w="9525">
            <a:solidFill>
              <a:srgbClr val="E8F4FC"/>
            </a:solidFill>
            <a:custDash>
              <a:ds d="300000" sp="300000"/>
            </a:custDash>
          </a:ln>
        </p:spPr>
      </p:sp>
      <p:sp>
        <p:nvSpPr>
          <p:cNvPr id="21" name="Line 21"/>
          <p:cNvSpPr/>
          <p:nvPr/>
        </p:nvSpPr>
        <p:spPr>
          <a:xfrm>
            <a:off x="1047750" y="3762375"/>
            <a:ext cx="6381750" cy="9525"/>
          </a:xfrm>
          <a:custGeom>
            <a:avLst/>
            <a:gdLst/>
            <a:ahLst/>
            <a:cxnLst/>
            <a:rect l="l" t="t" r="r" b="b"/>
            <a:pathLst>
              <a:path w="6381750" h="9525">
                <a:moveTo>
                  <a:pt x="0" y="0"/>
                </a:moveTo>
                <a:lnTo>
                  <a:pt x="6381750" y="0"/>
                </a:lnTo>
              </a:path>
            </a:pathLst>
          </a:custGeom>
          <a:noFill/>
          <a:ln w="14288">
            <a:solidFill>
              <a:srgbClr val="D0D7E0"/>
            </a:solidFill>
          </a:ln>
        </p:spPr>
      </p:sp>
      <p:grpSp>
        <p:nvGrpSpPr>
          <p:cNvPr id="31" name="Group 31"/>
          <p:cNvGrpSpPr/>
          <p:nvPr/>
        </p:nvGrpSpPr>
        <p:grpSpPr>
          <a:xfrm>
            <a:off x="1714500" y="2190750"/>
            <a:ext cx="1619250" cy="1854994"/>
            <a:chOff x="1714500" y="2190750"/>
            <a:chExt cx="1619250" cy="1854994"/>
          </a:xfrm>
        </p:grpSpPr>
        <p:sp>
          <p:nvSpPr>
            <p:cNvPr id="22" name="Freeform 22"/>
            <p:cNvSpPr/>
            <p:nvPr/>
          </p:nvSpPr>
          <p:spPr>
            <a:xfrm>
              <a:off x="1714500" y="2743200"/>
              <a:ext cx="762000" cy="1019175"/>
            </a:xfrm>
            <a:custGeom>
              <a:avLst/>
              <a:gdLst/>
              <a:ahLst/>
              <a:cxnLst/>
              <a:rect l="l" t="t" r="r" b="b"/>
              <a:pathLst>
                <a:path w="762000" h="1019175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981075"/>
                  </a:lnTo>
                  <a:cubicBezTo>
                    <a:pt x="762000" y="1002117"/>
                    <a:pt x="744942" y="1019175"/>
                    <a:pt x="723900" y="1019175"/>
                  </a:cubicBezTo>
                  <a:lnTo>
                    <a:pt x="38100" y="1019175"/>
                  </a:lnTo>
                  <a:cubicBezTo>
                    <a:pt x="17058" y="1019175"/>
                    <a:pt x="0" y="1002117"/>
                    <a:pt x="0" y="98107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68BB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877529" y="2561749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55.4%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2571750" y="2581275"/>
              <a:ext cx="762000" cy="1181100"/>
            </a:xfrm>
            <a:custGeom>
              <a:avLst/>
              <a:gdLst/>
              <a:ahLst/>
              <a:cxnLst/>
              <a:rect l="l" t="t" r="r" b="b"/>
              <a:pathLst>
                <a:path w="762000" h="11811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1143000"/>
                  </a:lnTo>
                  <a:cubicBezTo>
                    <a:pt x="762000" y="1164042"/>
                    <a:pt x="744942" y="1181100"/>
                    <a:pt x="723900" y="1181100"/>
                  </a:cubicBezTo>
                  <a:lnTo>
                    <a:pt x="38100" y="1181100"/>
                  </a:lnTo>
                  <a:cubicBezTo>
                    <a:pt x="17058" y="1181100"/>
                    <a:pt x="0" y="1164042"/>
                    <a:pt x="0" y="11430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718012" y="2391728"/>
              <a:ext cx="469475" cy="213360"/>
            </a:xfrm>
            <a:prstGeom prst="rect">
              <a:avLst/>
            </a:prstGeom>
            <a:noFill/>
            <a:ln>
              <a:noFill/>
            </a:ln>
            <a:effectLst>
              <a:glow rad="95250">
                <a:srgbClr val="F07C00">
                  <a:alpha val="40000"/>
                </a:srgbClr>
              </a:glo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63.8%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07096" y="3847624"/>
              <a:ext cx="8435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gpt-4o-mini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2524125" y="25812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1905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F07C0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524125" y="27432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19050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999999"/>
              </a:solidFill>
              <a:custDash>
                <a:ds d="300000" sp="200000"/>
              </a:custDash>
            </a:ln>
          </p:spPr>
        </p:sp>
        <p:sp>
          <p:nvSpPr>
            <p:cNvPr id="29" name="Freeform 29"/>
            <p:cNvSpPr/>
            <p:nvPr/>
          </p:nvSpPr>
          <p:spPr>
            <a:xfrm>
              <a:off x="2095500" y="2190750"/>
              <a:ext cx="666750" cy="228600"/>
            </a:xfrm>
            <a:custGeom>
              <a:avLst/>
              <a:gdLst/>
              <a:ahLst/>
              <a:cxnLst/>
              <a:rect l="l" t="t" r="r" b="b"/>
              <a:pathLst>
                <a:path w="666750" h="228600">
                  <a:moveTo>
                    <a:pt x="28575" y="0"/>
                  </a:moveTo>
                  <a:lnTo>
                    <a:pt x="638175" y="0"/>
                  </a:lnTo>
                  <a:cubicBezTo>
                    <a:pt x="653957" y="0"/>
                    <a:pt x="666750" y="12793"/>
                    <a:pt x="666750" y="28575"/>
                  </a:cubicBezTo>
                  <a:lnTo>
                    <a:pt x="666750" y="200025"/>
                  </a:lnTo>
                  <a:cubicBezTo>
                    <a:pt x="666750" y="215807"/>
                    <a:pt x="653957" y="228600"/>
                    <a:pt x="638175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206969" y="2255520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+15.2%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76750" y="2095500"/>
            <a:ext cx="1619250" cy="1950244"/>
            <a:chOff x="4476750" y="2095500"/>
            <a:chExt cx="1619250" cy="1950244"/>
          </a:xfrm>
        </p:grpSpPr>
        <p:sp>
          <p:nvSpPr>
            <p:cNvPr id="32" name="Freeform 32"/>
            <p:cNvSpPr/>
            <p:nvPr/>
          </p:nvSpPr>
          <p:spPr>
            <a:xfrm>
              <a:off x="4476750" y="2609850"/>
              <a:ext cx="762000" cy="1152525"/>
            </a:xfrm>
            <a:custGeom>
              <a:avLst/>
              <a:gdLst/>
              <a:ahLst/>
              <a:cxnLst/>
              <a:rect l="l" t="t" r="r" b="b"/>
              <a:pathLst>
                <a:path w="762000" h="1152525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1114425"/>
                  </a:lnTo>
                  <a:cubicBezTo>
                    <a:pt x="762000" y="1135467"/>
                    <a:pt x="744942" y="1152525"/>
                    <a:pt x="723900" y="1152525"/>
                  </a:cubicBezTo>
                  <a:lnTo>
                    <a:pt x="38100" y="1152525"/>
                  </a:lnTo>
                  <a:cubicBezTo>
                    <a:pt x="17058" y="1152525"/>
                    <a:pt x="0" y="1135467"/>
                    <a:pt x="0" y="11144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68BB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80897" y="242839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~62%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5334000" y="2409825"/>
              <a:ext cx="762000" cy="1352550"/>
            </a:xfrm>
            <a:custGeom>
              <a:avLst/>
              <a:gdLst/>
              <a:ahLst/>
              <a:cxnLst/>
              <a:rect l="l" t="t" r="r" b="b"/>
              <a:pathLst>
                <a:path w="762000" h="135255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1314450"/>
                  </a:lnTo>
                  <a:cubicBezTo>
                    <a:pt x="762000" y="1335492"/>
                    <a:pt x="744942" y="1352550"/>
                    <a:pt x="723900" y="1352550"/>
                  </a:cubicBezTo>
                  <a:lnTo>
                    <a:pt x="38100" y="1352550"/>
                  </a:lnTo>
                  <a:cubicBezTo>
                    <a:pt x="17058" y="1352550"/>
                    <a:pt x="0" y="1335492"/>
                    <a:pt x="0" y="13144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24543" y="2220278"/>
              <a:ext cx="380914" cy="213360"/>
            </a:xfrm>
            <a:prstGeom prst="rect">
              <a:avLst/>
            </a:prstGeom>
            <a:noFill/>
            <a:ln>
              <a:noFill/>
            </a:ln>
            <a:effectLst>
              <a:glow rad="95250">
                <a:srgbClr val="F07C00">
                  <a:alpha val="40000"/>
                </a:srgbClr>
              </a:glo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~73%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43785" y="38476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gpt-4o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4762500" y="2095500"/>
              <a:ext cx="666750" cy="228600"/>
            </a:xfrm>
            <a:custGeom>
              <a:avLst/>
              <a:gdLst/>
              <a:ahLst/>
              <a:cxnLst/>
              <a:rect l="l" t="t" r="r" b="b"/>
              <a:pathLst>
                <a:path w="666750" h="228600">
                  <a:moveTo>
                    <a:pt x="28575" y="0"/>
                  </a:moveTo>
                  <a:lnTo>
                    <a:pt x="638175" y="0"/>
                  </a:lnTo>
                  <a:cubicBezTo>
                    <a:pt x="653957" y="0"/>
                    <a:pt x="666750" y="12793"/>
                    <a:pt x="666750" y="28575"/>
                  </a:cubicBezTo>
                  <a:lnTo>
                    <a:pt x="666750" y="200025"/>
                  </a:lnTo>
                  <a:cubicBezTo>
                    <a:pt x="666750" y="215807"/>
                    <a:pt x="653957" y="228600"/>
                    <a:pt x="638175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07C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873969" y="2160270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+18.5%</a:t>
              </a:r>
            </a:p>
          </p:txBody>
        </p:sp>
      </p:grpSp>
      <p:sp>
        <p:nvSpPr>
          <p:cNvPr id="40" name="Freeform 40"/>
          <p:cNvSpPr/>
          <p:nvPr/>
        </p:nvSpPr>
        <p:spPr>
          <a:xfrm>
            <a:off x="1095375" y="4076700"/>
            <a:ext cx="152400" cy="133350"/>
          </a:xfrm>
          <a:custGeom>
            <a:avLst/>
            <a:gdLst/>
            <a:ahLst/>
            <a:cxnLst/>
            <a:rect l="l" t="t" r="r" b="b"/>
            <a:pathLst>
              <a:path w="152400" h="133350">
                <a:moveTo>
                  <a:pt x="19050" y="0"/>
                </a:moveTo>
                <a:lnTo>
                  <a:pt x="133350" y="0"/>
                </a:lnTo>
                <a:cubicBezTo>
                  <a:pt x="143871" y="0"/>
                  <a:pt x="152400" y="8529"/>
                  <a:pt x="152400" y="19050"/>
                </a:cubicBezTo>
                <a:lnTo>
                  <a:pt x="152400" y="114300"/>
                </a:lnTo>
                <a:cubicBezTo>
                  <a:pt x="152400" y="124821"/>
                  <a:pt x="143871" y="133350"/>
                  <a:pt x="13335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668BB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302068" y="4085749"/>
            <a:ext cx="12209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Full-context 基线</a:t>
            </a:r>
          </a:p>
        </p:txBody>
      </p:sp>
      <p:sp>
        <p:nvSpPr>
          <p:cNvPr id="42" name="Freeform 42"/>
          <p:cNvSpPr/>
          <p:nvPr/>
        </p:nvSpPr>
        <p:spPr>
          <a:xfrm>
            <a:off x="2524125" y="4076700"/>
            <a:ext cx="152400" cy="133350"/>
          </a:xfrm>
          <a:custGeom>
            <a:avLst/>
            <a:gdLst/>
            <a:ahLst/>
            <a:cxnLst/>
            <a:rect l="l" t="t" r="r" b="b"/>
            <a:pathLst>
              <a:path w="152400" h="133350">
                <a:moveTo>
                  <a:pt x="19050" y="0"/>
                </a:moveTo>
                <a:lnTo>
                  <a:pt x="133350" y="0"/>
                </a:lnTo>
                <a:cubicBezTo>
                  <a:pt x="143871" y="0"/>
                  <a:pt x="152400" y="8529"/>
                  <a:pt x="152400" y="19050"/>
                </a:cubicBezTo>
                <a:lnTo>
                  <a:pt x="152400" y="114300"/>
                </a:lnTo>
                <a:cubicBezTo>
                  <a:pt x="152400" y="124821"/>
                  <a:pt x="143871" y="133350"/>
                  <a:pt x="13335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07C0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2730818" y="4085749"/>
            <a:ext cx="11685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Zep（本文方法）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09588" y="4526756"/>
            <a:ext cx="24007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关键效率指标（gpt-4o-mini）</a:t>
            </a:r>
          </a:p>
        </p:txBody>
      </p:sp>
      <p:sp>
        <p:nvSpPr>
          <p:cNvPr id="45" name="Line 45"/>
          <p:cNvSpPr/>
          <p:nvPr/>
        </p:nvSpPr>
        <p:spPr>
          <a:xfrm>
            <a:off x="523875" y="4705350"/>
            <a:ext cx="2714625" cy="9525"/>
          </a:xfrm>
          <a:custGeom>
            <a:avLst/>
            <a:gdLst/>
            <a:ahLst/>
            <a:cxnLst/>
            <a:rect l="l" t="t" r="r" b="b"/>
            <a:pathLst>
              <a:path w="2714625" h="952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/>
          <a:ln w="19050">
            <a:solidFill>
              <a:srgbClr val="F07C00"/>
            </a:solidFill>
          </a:ln>
        </p:spPr>
      </p:sp>
      <p:grpSp>
        <p:nvGrpSpPr>
          <p:cNvPr id="51" name="Group 51"/>
          <p:cNvGrpSpPr/>
          <p:nvPr/>
        </p:nvGrpSpPr>
        <p:grpSpPr>
          <a:xfrm>
            <a:off x="523875" y="4800600"/>
            <a:ext cx="1619250" cy="1047750"/>
            <a:chOff x="523875" y="4800600"/>
            <a:chExt cx="1619250" cy="1047750"/>
          </a:xfrm>
        </p:grpSpPr>
        <p:sp>
          <p:nvSpPr>
            <p:cNvPr id="46" name="Freeform 46"/>
            <p:cNvSpPr/>
            <p:nvPr/>
          </p:nvSpPr>
          <p:spPr>
            <a:xfrm>
              <a:off x="523875" y="480060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76200" y="0"/>
                  </a:moveTo>
                  <a:lnTo>
                    <a:pt x="1543050" y="0"/>
                  </a:lnTo>
                  <a:cubicBezTo>
                    <a:pt x="1585134" y="0"/>
                    <a:pt x="1619250" y="34116"/>
                    <a:pt x="1619250" y="76200"/>
                  </a:cubicBezTo>
                  <a:lnTo>
                    <a:pt x="1619250" y="971550"/>
                  </a:lnTo>
                  <a:cubicBezTo>
                    <a:pt x="1619250" y="1013634"/>
                    <a:pt x="1585134" y="1047750"/>
                    <a:pt x="1543050" y="1047750"/>
                  </a:cubicBezTo>
                  <a:lnTo>
                    <a:pt x="76200" y="1047750"/>
                  </a:lnTo>
                  <a:cubicBezTo>
                    <a:pt x="34116" y="1047750"/>
                    <a:pt x="0" y="1013634"/>
                    <a:pt x="0" y="97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33350" dist="28575" dir="10798854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7" name="TextBox 47"/>
            <p:cNvSpPr txBox="1"/>
            <p:nvPr/>
          </p:nvSpPr>
          <p:spPr>
            <a:xfrm>
              <a:off x="667781" y="4880610"/>
              <a:ext cx="1331438" cy="548640"/>
            </a:xfrm>
            <a:prstGeom prst="rect">
              <a:avLst/>
            </a:prstGeom>
            <a:noFill/>
            <a:ln>
              <a:noFill/>
            </a:ln>
            <a:effectLst>
              <a:glow rad="95250">
                <a:srgbClr val="F07C00">
                  <a:alpha val="40000"/>
                </a:srgbClr>
              </a:glo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+15.2%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5121" y="529542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准确率提升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2389" y="5483066"/>
              <a:ext cx="8222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55.4% → 63.8%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6610" y="5644991"/>
              <a:ext cx="7137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gpt-4o-mini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286000" y="4800600"/>
            <a:ext cx="1619250" cy="1047750"/>
            <a:chOff x="2286000" y="4800600"/>
            <a:chExt cx="1619250" cy="1047750"/>
          </a:xfrm>
        </p:grpSpPr>
        <p:sp>
          <p:nvSpPr>
            <p:cNvPr id="52" name="Freeform 52"/>
            <p:cNvSpPr/>
            <p:nvPr/>
          </p:nvSpPr>
          <p:spPr>
            <a:xfrm>
              <a:off x="2286000" y="480060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76200" y="0"/>
                  </a:moveTo>
                  <a:lnTo>
                    <a:pt x="1543050" y="0"/>
                  </a:lnTo>
                  <a:cubicBezTo>
                    <a:pt x="1585134" y="0"/>
                    <a:pt x="1619250" y="34116"/>
                    <a:pt x="1619250" y="76200"/>
                  </a:cubicBezTo>
                  <a:lnTo>
                    <a:pt x="1619250" y="971550"/>
                  </a:lnTo>
                  <a:cubicBezTo>
                    <a:pt x="1619250" y="1013634"/>
                    <a:pt x="1585134" y="1047750"/>
                    <a:pt x="1543050" y="1047750"/>
                  </a:cubicBezTo>
                  <a:lnTo>
                    <a:pt x="76200" y="1047750"/>
                  </a:lnTo>
                  <a:cubicBezTo>
                    <a:pt x="34116" y="1047750"/>
                    <a:pt x="0" y="1013634"/>
                    <a:pt x="0" y="97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33350" dist="28575" dir="10798854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3" name="TextBox 53"/>
            <p:cNvSpPr txBox="1"/>
            <p:nvPr/>
          </p:nvSpPr>
          <p:spPr>
            <a:xfrm>
              <a:off x="2605878" y="4880610"/>
              <a:ext cx="979494" cy="548640"/>
            </a:xfrm>
            <a:prstGeom prst="rect">
              <a:avLst/>
            </a:prstGeom>
            <a:noFill/>
            <a:ln>
              <a:noFill/>
            </a:ln>
            <a:effectLst>
              <a:glow rad="95250">
                <a:srgbClr val="F07C00">
                  <a:alpha val="40000"/>
                </a:srgbClr>
              </a:glo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-90%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56046" y="529542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响应延迟降低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699575" y="5483066"/>
              <a:ext cx="7920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31.3s → 3.20s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723674" y="5644991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中位响应时间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048125" y="4800600"/>
            <a:ext cx="1619250" cy="1047750"/>
            <a:chOff x="4048125" y="4800600"/>
            <a:chExt cx="1619250" cy="1047750"/>
          </a:xfrm>
        </p:grpSpPr>
        <p:sp>
          <p:nvSpPr>
            <p:cNvPr id="58" name="Freeform 58"/>
            <p:cNvSpPr/>
            <p:nvPr/>
          </p:nvSpPr>
          <p:spPr>
            <a:xfrm>
              <a:off x="4048125" y="480060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76200" y="0"/>
                  </a:moveTo>
                  <a:lnTo>
                    <a:pt x="1543050" y="0"/>
                  </a:lnTo>
                  <a:cubicBezTo>
                    <a:pt x="1585134" y="0"/>
                    <a:pt x="1619250" y="34116"/>
                    <a:pt x="1619250" y="76200"/>
                  </a:cubicBezTo>
                  <a:lnTo>
                    <a:pt x="1619250" y="971550"/>
                  </a:lnTo>
                  <a:cubicBezTo>
                    <a:pt x="1619250" y="1013634"/>
                    <a:pt x="1585134" y="1047750"/>
                    <a:pt x="1543050" y="1047750"/>
                  </a:cubicBezTo>
                  <a:lnTo>
                    <a:pt x="76200" y="1047750"/>
                  </a:lnTo>
                  <a:cubicBezTo>
                    <a:pt x="34116" y="1047750"/>
                    <a:pt x="0" y="1013634"/>
                    <a:pt x="0" y="97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33350" dist="28575" dir="10798854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9" name="TextBox 59"/>
            <p:cNvSpPr txBox="1"/>
            <p:nvPr/>
          </p:nvSpPr>
          <p:spPr>
            <a:xfrm>
              <a:off x="4368003" y="4880610"/>
              <a:ext cx="979494" cy="548640"/>
            </a:xfrm>
            <a:prstGeom prst="rect">
              <a:avLst/>
            </a:prstGeom>
            <a:noFill/>
            <a:ln>
              <a:noFill/>
            </a:ln>
            <a:effectLst>
              <a:glow rad="95250">
                <a:srgbClr val="F07C00">
                  <a:alpha val="40000"/>
                </a:srgbClr>
              </a:glo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-99%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489371" y="529542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上下文压缩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341209" y="5483066"/>
              <a:ext cx="10330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115k → 1.6k tokens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425553" y="564499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平均上下文长度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810250" y="4800600"/>
            <a:ext cx="1857375" cy="1047750"/>
            <a:chOff x="5810250" y="4800600"/>
            <a:chExt cx="1857375" cy="1047750"/>
          </a:xfrm>
        </p:grpSpPr>
        <p:sp>
          <p:nvSpPr>
            <p:cNvPr id="64" name="Freeform 64"/>
            <p:cNvSpPr/>
            <p:nvPr/>
          </p:nvSpPr>
          <p:spPr>
            <a:xfrm>
              <a:off x="5810250" y="4800600"/>
              <a:ext cx="1857375" cy="1047750"/>
            </a:xfrm>
            <a:custGeom>
              <a:avLst/>
              <a:gdLst/>
              <a:ahLst/>
              <a:cxnLst/>
              <a:rect l="l" t="t" r="r" b="b"/>
              <a:pathLst>
                <a:path w="1857375" h="1047750">
                  <a:moveTo>
                    <a:pt x="76200" y="0"/>
                  </a:moveTo>
                  <a:lnTo>
                    <a:pt x="1781175" y="0"/>
                  </a:lnTo>
                  <a:cubicBezTo>
                    <a:pt x="1823259" y="0"/>
                    <a:pt x="1857375" y="34116"/>
                    <a:pt x="1857375" y="76200"/>
                  </a:cubicBezTo>
                  <a:lnTo>
                    <a:pt x="1857375" y="971550"/>
                  </a:lnTo>
                  <a:cubicBezTo>
                    <a:pt x="1857375" y="1013634"/>
                    <a:pt x="1823259" y="1047750"/>
                    <a:pt x="1781175" y="1047750"/>
                  </a:cubicBezTo>
                  <a:lnTo>
                    <a:pt x="76200" y="1047750"/>
                  </a:lnTo>
                  <a:cubicBezTo>
                    <a:pt x="34116" y="1047750"/>
                    <a:pt x="0" y="1013634"/>
                    <a:pt x="0" y="97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33350" dist="28575" dir="10798854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65" name="TextBox 65"/>
            <p:cNvSpPr txBox="1"/>
            <p:nvPr/>
          </p:nvSpPr>
          <p:spPr>
            <a:xfrm>
              <a:off x="6130564" y="4880610"/>
              <a:ext cx="12072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3.20s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98156" y="5295424"/>
              <a:ext cx="8720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Zep 平均延迟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17634" y="5483066"/>
              <a:ext cx="103308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IQR: 1.6s（稳定）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87511" y="5644991"/>
              <a:ext cx="10933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vs 基线 IQR: 8.76s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7891462" y="1383506"/>
            <a:ext cx="3895011" cy="4826794"/>
            <a:chOff x="7891462" y="1383506"/>
            <a:chExt cx="3895011" cy="4826794"/>
          </a:xfrm>
        </p:grpSpPr>
        <p:sp>
          <p:nvSpPr>
            <p:cNvPr id="70" name="TextBox 70"/>
            <p:cNvSpPr txBox="1"/>
            <p:nvPr/>
          </p:nvSpPr>
          <p:spPr>
            <a:xfrm>
              <a:off x="7891462" y="1383506"/>
              <a:ext cx="23231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详细结果（LongMemEval-s）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7905750" y="1562100"/>
              <a:ext cx="2571750" cy="9525"/>
            </a:xfrm>
            <a:custGeom>
              <a:avLst/>
              <a:gdLst/>
              <a:ahLst/>
              <a:cxnLst/>
              <a:rect l="l" t="t" r="r" b="b"/>
              <a:pathLst>
                <a:path w="2571750" h="9525">
                  <a:moveTo>
                    <a:pt x="0" y="0"/>
                  </a:moveTo>
                  <a:lnTo>
                    <a:pt x="2571750" y="0"/>
                  </a:lnTo>
                </a:path>
              </a:pathLst>
            </a:custGeom>
            <a:noFill/>
            <a:ln w="19050">
              <a:solidFill>
                <a:srgbClr val="0066CC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7905750" y="1638300"/>
              <a:ext cx="3857625" cy="4572000"/>
            </a:xfrm>
            <a:custGeom>
              <a:avLst/>
              <a:gdLst/>
              <a:ahLst/>
              <a:cxnLst/>
              <a:rect l="l" t="t" r="r" b="b"/>
              <a:pathLst>
                <a:path w="3857625" h="4572000">
                  <a:moveTo>
                    <a:pt x="76200" y="0"/>
                  </a:moveTo>
                  <a:lnTo>
                    <a:pt x="3781425" y="0"/>
                  </a:lnTo>
                  <a:cubicBezTo>
                    <a:pt x="3823509" y="0"/>
                    <a:pt x="3857625" y="34116"/>
                    <a:pt x="3857625" y="76200"/>
                  </a:cubicBezTo>
                  <a:lnTo>
                    <a:pt x="3857625" y="4495800"/>
                  </a:lnTo>
                  <a:cubicBezTo>
                    <a:pt x="3857625" y="4537884"/>
                    <a:pt x="3823509" y="4572000"/>
                    <a:pt x="3781425" y="4572000"/>
                  </a:cubicBezTo>
                  <a:lnTo>
                    <a:pt x="76200" y="4572000"/>
                  </a:lnTo>
                  <a:cubicBezTo>
                    <a:pt x="34116" y="4572000"/>
                    <a:pt x="0" y="4537884"/>
                    <a:pt x="0" y="449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33350" dist="28575" dir="10798854" algn="t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73" name="Freeform 73"/>
            <p:cNvSpPr/>
            <p:nvPr/>
          </p:nvSpPr>
          <p:spPr>
            <a:xfrm>
              <a:off x="7905750" y="1638300"/>
              <a:ext cx="3857625" cy="342900"/>
            </a:xfrm>
            <a:custGeom>
              <a:avLst/>
              <a:gdLst/>
              <a:ahLst/>
              <a:cxnLst/>
              <a:rect l="l" t="t" r="r" b="b"/>
              <a:pathLst>
                <a:path w="3857625" h="342900">
                  <a:moveTo>
                    <a:pt x="76200" y="0"/>
                  </a:moveTo>
                  <a:lnTo>
                    <a:pt x="3781425" y="0"/>
                  </a:lnTo>
                  <a:cubicBezTo>
                    <a:pt x="3823509" y="0"/>
                    <a:pt x="3857625" y="34116"/>
                    <a:pt x="3857625" y="76200"/>
                  </a:cubicBezTo>
                  <a:lnTo>
                    <a:pt x="3857625" y="266700"/>
                  </a:lnTo>
                  <a:cubicBezTo>
                    <a:pt x="3857625" y="308784"/>
                    <a:pt x="3823509" y="342900"/>
                    <a:pt x="3781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7905750" y="1866900"/>
              <a:ext cx="3857625" cy="1143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429625" y="17697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364028" y="176974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准确率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226183" y="1769745"/>
              <a:ext cx="5026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延迟(s)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073527" y="17697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Ctx Tokens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9048750" y="1981200"/>
              <a:ext cx="9525" cy="3943350"/>
            </a:xfrm>
            <a:custGeom>
              <a:avLst/>
              <a:gdLst/>
              <a:ahLst/>
              <a:cxnLst/>
              <a:rect l="l" t="t" r="r" b="b"/>
              <a:pathLst>
                <a:path w="9525" h="3943350">
                  <a:moveTo>
                    <a:pt x="0" y="0"/>
                  </a:moveTo>
                  <a:lnTo>
                    <a:pt x="0" y="394335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10096500" y="1981200"/>
              <a:ext cx="9525" cy="3943350"/>
            </a:xfrm>
            <a:custGeom>
              <a:avLst/>
              <a:gdLst/>
              <a:ahLst/>
              <a:cxnLst/>
              <a:rect l="l" t="t" r="r" b="b"/>
              <a:pathLst>
                <a:path w="9525" h="3943350">
                  <a:moveTo>
                    <a:pt x="0" y="0"/>
                  </a:moveTo>
                  <a:lnTo>
                    <a:pt x="0" y="394335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81" name="Line 81"/>
            <p:cNvSpPr/>
            <p:nvPr/>
          </p:nvSpPr>
          <p:spPr>
            <a:xfrm>
              <a:off x="10953750" y="1981200"/>
              <a:ext cx="9525" cy="3943350"/>
            </a:xfrm>
            <a:custGeom>
              <a:avLst/>
              <a:gdLst/>
              <a:ahLst/>
              <a:cxnLst/>
              <a:rect l="l" t="t" r="r" b="b"/>
              <a:pathLst>
                <a:path w="9525" h="3943350">
                  <a:moveTo>
                    <a:pt x="0" y="0"/>
                  </a:moveTo>
                  <a:lnTo>
                    <a:pt x="0" y="3943350"/>
                  </a:lnTo>
                </a:path>
              </a:pathLst>
            </a:custGeom>
            <a:noFill/>
            <a:ln w="9525">
              <a:solidFill>
                <a:srgbClr val="E8F4FC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7905750" y="1981200"/>
              <a:ext cx="3857625" cy="3619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989570" y="2112645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Full-ctx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990522" y="2235041"/>
              <a:ext cx="7137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gpt-4o-mini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337887" y="20964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55.4%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314646" y="2096452"/>
              <a:ext cx="325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31.3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296579" y="2104549"/>
              <a:ext cx="2668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115k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7905750" y="2343150"/>
              <a:ext cx="3857625" cy="361950"/>
            </a:xfrm>
            <a:prstGeom prst="rect">
              <a:avLst/>
            </a:prstGeom>
            <a:solidFill>
              <a:srgbClr val="FFF5E8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7905750" y="2343150"/>
              <a:ext cx="38100" cy="361950"/>
            </a:xfrm>
            <a:prstGeom prst="rect">
              <a:avLst/>
            </a:prstGeom>
            <a:solidFill>
              <a:srgbClr val="F07C00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989570" y="2474595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Zep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990522" y="2596991"/>
              <a:ext cx="8161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gpt-4o-mini ★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337887" y="245840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63.8%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287043" y="245840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3.20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271837" y="2466499"/>
              <a:ext cx="316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1.6k</a:t>
              </a:r>
            </a:p>
          </p:txBody>
        </p:sp>
        <p:sp>
          <p:nvSpPr>
            <p:cNvPr id="95" name="Line 95"/>
            <p:cNvSpPr/>
            <p:nvPr/>
          </p:nvSpPr>
          <p:spPr>
            <a:xfrm>
              <a:off x="8001000" y="2771775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D0D7E0"/>
              </a:solidFill>
              <a:custDash>
                <a:ds d="400000" sp="300000"/>
              </a:custDash>
            </a:ln>
          </p:spPr>
        </p:sp>
        <p:sp>
          <p:nvSpPr>
            <p:cNvPr id="96" name="Rectangle 96"/>
            <p:cNvSpPr/>
            <p:nvPr/>
          </p:nvSpPr>
          <p:spPr>
            <a:xfrm>
              <a:off x="7905750" y="2819400"/>
              <a:ext cx="3857625" cy="3619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989570" y="2950845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Full-ctx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990522" y="3073241"/>
              <a:ext cx="4185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gpt-4o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382168" y="293465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~62%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337649" y="293465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~35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296579" y="2942749"/>
              <a:ext cx="2668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115k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905750" y="3181350"/>
              <a:ext cx="3857625" cy="361950"/>
            </a:xfrm>
            <a:prstGeom prst="rect">
              <a:avLst/>
            </a:prstGeom>
            <a:solidFill>
              <a:srgbClr val="FFF5E8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7905750" y="3181350"/>
              <a:ext cx="38100" cy="361950"/>
            </a:xfrm>
            <a:prstGeom prst="rect">
              <a:avLst/>
            </a:prstGeom>
            <a:solidFill>
              <a:srgbClr val="F07C00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989570" y="3312795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Zep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990522" y="343519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gpt-4o ★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382168" y="329660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~73%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287043" y="329660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~3.5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271837" y="3304699"/>
              <a:ext cx="316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1.6k</a:t>
              </a:r>
            </a:p>
          </p:txBody>
        </p:sp>
        <p:sp>
          <p:nvSpPr>
            <p:cNvPr id="109" name="Freeform 109"/>
            <p:cNvSpPr/>
            <p:nvPr/>
          </p:nvSpPr>
          <p:spPr>
            <a:xfrm>
              <a:off x="8001000" y="3714750"/>
              <a:ext cx="3600450" cy="723900"/>
            </a:xfrm>
            <a:custGeom>
              <a:avLst/>
              <a:gdLst/>
              <a:ahLst/>
              <a:cxnLst/>
              <a:rect l="l" t="t" r="r" b="b"/>
              <a:pathLst>
                <a:path w="3600450" h="723900">
                  <a:moveTo>
                    <a:pt x="57150" y="0"/>
                  </a:moveTo>
                  <a:lnTo>
                    <a:pt x="3543300" y="0"/>
                  </a:lnTo>
                  <a:cubicBezTo>
                    <a:pt x="3574863" y="0"/>
                    <a:pt x="3600450" y="25587"/>
                    <a:pt x="3600450" y="57150"/>
                  </a:cubicBezTo>
                  <a:lnTo>
                    <a:pt x="3600450" y="666750"/>
                  </a:lnTo>
                  <a:cubicBezTo>
                    <a:pt x="3600450" y="698313"/>
                    <a:pt x="3574863" y="723900"/>
                    <a:pt x="3543300" y="723900"/>
                  </a:cubicBezTo>
                  <a:lnTo>
                    <a:pt x="57150" y="723900"/>
                  </a:lnTo>
                  <a:cubicBezTo>
                    <a:pt x="25587" y="723900"/>
                    <a:pt x="0" y="698313"/>
                    <a:pt x="0" y="666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F4FC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9340286" y="38190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两大核心优势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131492" y="4009549"/>
              <a:ext cx="17762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✓ 更高准确率（+15~18.5%）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131492" y="4200049"/>
              <a:ext cx="24953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✓ 更低延迟 + 大幅节省推理 token 成本</a:t>
              </a:r>
            </a:p>
          </p:txBody>
        </p:sp>
        <p:sp>
          <p:nvSpPr>
            <p:cNvPr id="113" name="Freeform 113"/>
            <p:cNvSpPr/>
            <p:nvPr/>
          </p:nvSpPr>
          <p:spPr>
            <a:xfrm>
              <a:off x="8001000" y="4552950"/>
              <a:ext cx="3600450" cy="914400"/>
            </a:xfrm>
            <a:custGeom>
              <a:avLst/>
              <a:gdLst/>
              <a:ahLst/>
              <a:cxnLst/>
              <a:rect l="l" t="t" r="r" b="b"/>
              <a:pathLst>
                <a:path w="3600450" h="914400">
                  <a:moveTo>
                    <a:pt x="57150" y="0"/>
                  </a:moveTo>
                  <a:lnTo>
                    <a:pt x="3543300" y="0"/>
                  </a:lnTo>
                  <a:cubicBezTo>
                    <a:pt x="3574863" y="0"/>
                    <a:pt x="3600450" y="25587"/>
                    <a:pt x="3600450" y="57150"/>
                  </a:cubicBezTo>
                  <a:lnTo>
                    <a:pt x="3600450" y="857250"/>
                  </a:lnTo>
                  <a:cubicBezTo>
                    <a:pt x="3600450" y="888813"/>
                    <a:pt x="3574863" y="914400"/>
                    <a:pt x="3543300" y="914400"/>
                  </a:cubicBezTo>
                  <a:lnTo>
                    <a:pt x="57150" y="914400"/>
                  </a:lnTo>
                  <a:cubicBezTo>
                    <a:pt x="25587" y="914400"/>
                    <a:pt x="0" y="888813"/>
                    <a:pt x="0" y="857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66CC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9340286" y="46572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企业部署价值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8131492" y="486679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↓ tokens: 显著降低 API 调用成本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131492" y="5057299"/>
              <a:ext cx="1690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↓ 延迟: 改善用户交互体验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131492" y="5247799"/>
              <a:ext cx="19756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↑ 准确率: 减少幻觉与错误应答</a:t>
              </a:r>
            </a:p>
          </p:txBody>
        </p:sp>
      </p:grpSp>
      <p:sp>
        <p:nvSpPr>
          <p:cNvPr id="119" name="Line 119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0" name="TextBox 120"/>
          <p:cNvSpPr txBox="1"/>
          <p:nvPr/>
        </p:nvSpPr>
        <p:spPr>
          <a:xfrm>
            <a:off x="369570" y="6522720"/>
            <a:ext cx="23954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来源：arXiv:2501.13956v1 Table 2 §4.3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实验结果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1202281" y="6514624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10 / 12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F07C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226240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 核心贡献总结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77778" y="32480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ZEP AI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5760" y="842010"/>
            <a:ext cx="69444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Zep 通过时序知识图谱，实现精度、延迟、可扩展性三维兼顾的企业级 AI Agent 记忆方案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23875" y="1409700"/>
            <a:ext cx="3571875" cy="2667000"/>
            <a:chOff x="523875" y="1409700"/>
            <a:chExt cx="3571875" cy="2667000"/>
          </a:xfrm>
        </p:grpSpPr>
        <p:sp>
          <p:nvSpPr>
            <p:cNvPr id="10" name="Freeform 10"/>
            <p:cNvSpPr/>
            <p:nvPr/>
          </p:nvSpPr>
          <p:spPr>
            <a:xfrm>
              <a:off x="523875" y="1409700"/>
              <a:ext cx="3571875" cy="2667000"/>
            </a:xfrm>
            <a:custGeom>
              <a:avLst/>
              <a:gdLst/>
              <a:ahLst/>
              <a:cxnLst/>
              <a:rect l="l" t="t" r="r" b="b"/>
              <a:pathLst>
                <a:path w="3571875" h="2667000">
                  <a:moveTo>
                    <a:pt x="95250" y="0"/>
                  </a:moveTo>
                  <a:lnTo>
                    <a:pt x="3476625" y="0"/>
                  </a:lnTo>
                  <a:cubicBezTo>
                    <a:pt x="3529230" y="0"/>
                    <a:pt x="3571875" y="42645"/>
                    <a:pt x="3571875" y="95250"/>
                  </a:cubicBezTo>
                  <a:lnTo>
                    <a:pt x="3571875" y="2571750"/>
                  </a:lnTo>
                  <a:cubicBezTo>
                    <a:pt x="3571875" y="2624355"/>
                    <a:pt x="3529230" y="2667000"/>
                    <a:pt x="3476625" y="2667000"/>
                  </a:cubicBezTo>
                  <a:lnTo>
                    <a:pt x="95250" y="2667000"/>
                  </a:lnTo>
                  <a:cubicBezTo>
                    <a:pt x="42645" y="2667000"/>
                    <a:pt x="0" y="2624355"/>
                    <a:pt x="0" y="2571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52400" dist="38100" dir="10799140" algn="t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Freeform 11"/>
            <p:cNvSpPr/>
            <p:nvPr/>
          </p:nvSpPr>
          <p:spPr>
            <a:xfrm>
              <a:off x="523875" y="1409700"/>
              <a:ext cx="3571875" cy="571500"/>
            </a:xfrm>
            <a:custGeom>
              <a:avLst/>
              <a:gdLst/>
              <a:ahLst/>
              <a:cxnLst/>
              <a:rect l="l" t="t" r="r" b="b"/>
              <a:pathLst>
                <a:path w="3571875" h="571500">
                  <a:moveTo>
                    <a:pt x="95250" y="0"/>
                  </a:moveTo>
                  <a:lnTo>
                    <a:pt x="3476625" y="0"/>
                  </a:lnTo>
                  <a:cubicBezTo>
                    <a:pt x="3529230" y="0"/>
                    <a:pt x="3571875" y="42645"/>
                    <a:pt x="3571875" y="95250"/>
                  </a:cubicBezTo>
                  <a:lnTo>
                    <a:pt x="3571875" y="476250"/>
                  </a:lnTo>
                  <a:cubicBezTo>
                    <a:pt x="3571875" y="528855"/>
                    <a:pt x="3529230" y="571500"/>
                    <a:pt x="3476625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23875" y="1790700"/>
              <a:ext cx="3571875" cy="190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" y="1485900"/>
              <a:ext cx="419100" cy="419100"/>
            </a:xfrm>
            <a:prstGeom prst="ellipse">
              <a:avLst/>
            </a:prstGeom>
            <a:solidFill>
              <a:srgbClr val="F07C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9051" y="1616392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4910" y="1499235"/>
              <a:ext cx="18523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Graphiti 时序 KG 引擎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87768" y="1723549"/>
              <a:ext cx="2296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ACCEE"/>
                  </a:solidFill>
                  <a:latin typeface="Arial"/>
                  <a:ea typeface="Microsoft YaHei"/>
                  <a:cs typeface="Arial"/>
                </a:rPr>
                <a:t>Temporal Knowledge Graph Engine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747712" y="2147888"/>
              <a:ext cx="200025" cy="200025"/>
              <a:chOff x="747712" y="2147888"/>
              <a:chExt cx="200025" cy="2000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47712" y="21478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9525">
                <a:solidFill>
                  <a:srgbClr val="00336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47725" y="2192338"/>
                <a:ext cx="3333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88900">
                    <a:moveTo>
                      <a:pt x="0" y="0"/>
                    </a:moveTo>
                    <a:lnTo>
                      <a:pt x="0" y="55563"/>
                    </a:lnTo>
                    <a:lnTo>
                      <a:pt x="33338" y="88900"/>
                    </a:lnTo>
                  </a:path>
                </a:pathLst>
              </a:custGeom>
              <a:noFill/>
              <a:ln w="9525">
                <a:solidFill>
                  <a:srgbClr val="003366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82040" y="218217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双时态建模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1040" y="2439352"/>
              <a:ext cx="25569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T轴（现实时间）+ T'轴（事务时间）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1040" y="264890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四个时间戳精准管理事实生命周期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14375" y="29146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14288">
              <a:solidFill>
                <a:srgbClr val="E8F4FC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58825" y="3024188"/>
              <a:ext cx="177800" cy="200024"/>
              <a:chOff x="758825" y="3024188"/>
              <a:chExt cx="177800" cy="20002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58825" y="3024188"/>
                <a:ext cx="1778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8" y="66675"/>
                      <a:pt x="177800" y="51749"/>
                      <a:pt x="177800" y="33338"/>
                    </a:cubicBezTo>
                    <a:cubicBezTo>
                      <a:pt x="177800" y="14926"/>
                      <a:pt x="137998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9525">
                <a:solidFill>
                  <a:srgbClr val="00336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58825" y="3057525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9525">
                <a:solidFill>
                  <a:srgbClr val="003366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58825" y="3124200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9525">
                <a:solidFill>
                  <a:srgbClr val="003366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82040" y="305847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非无损情节存储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1040" y="329660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原始数据完整保留，支持溯源引用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1040" y="34871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语义矛盾自动失效旧边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1040" y="3677602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Neo4j + 预定义 Cypher 查询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333875" y="1409700"/>
            <a:ext cx="3571875" cy="2667000"/>
            <a:chOff x="4333875" y="1409700"/>
            <a:chExt cx="3571875" cy="2667000"/>
          </a:xfrm>
        </p:grpSpPr>
        <p:sp>
          <p:nvSpPr>
            <p:cNvPr id="33" name="Freeform 33"/>
            <p:cNvSpPr/>
            <p:nvPr/>
          </p:nvSpPr>
          <p:spPr>
            <a:xfrm>
              <a:off x="4333875" y="1409700"/>
              <a:ext cx="3571875" cy="2667000"/>
            </a:xfrm>
            <a:custGeom>
              <a:avLst/>
              <a:gdLst/>
              <a:ahLst/>
              <a:cxnLst/>
              <a:rect l="l" t="t" r="r" b="b"/>
              <a:pathLst>
                <a:path w="3571875" h="2667000">
                  <a:moveTo>
                    <a:pt x="95250" y="0"/>
                  </a:moveTo>
                  <a:lnTo>
                    <a:pt x="3476625" y="0"/>
                  </a:lnTo>
                  <a:cubicBezTo>
                    <a:pt x="3529230" y="0"/>
                    <a:pt x="3571875" y="42645"/>
                    <a:pt x="3571875" y="95250"/>
                  </a:cubicBezTo>
                  <a:lnTo>
                    <a:pt x="3571875" y="2571750"/>
                  </a:lnTo>
                  <a:cubicBezTo>
                    <a:pt x="3571875" y="2624355"/>
                    <a:pt x="3529230" y="2667000"/>
                    <a:pt x="3476625" y="2667000"/>
                  </a:cubicBezTo>
                  <a:lnTo>
                    <a:pt x="95250" y="2667000"/>
                  </a:lnTo>
                  <a:cubicBezTo>
                    <a:pt x="42645" y="2667000"/>
                    <a:pt x="0" y="2624355"/>
                    <a:pt x="0" y="2571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52400" dist="38100" dir="10799140" algn="t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4" name="Freeform 34"/>
            <p:cNvSpPr/>
            <p:nvPr/>
          </p:nvSpPr>
          <p:spPr>
            <a:xfrm>
              <a:off x="4333875" y="1409700"/>
              <a:ext cx="3571875" cy="571500"/>
            </a:xfrm>
            <a:custGeom>
              <a:avLst/>
              <a:gdLst/>
              <a:ahLst/>
              <a:cxnLst/>
              <a:rect l="l" t="t" r="r" b="b"/>
              <a:pathLst>
                <a:path w="3571875" h="571500">
                  <a:moveTo>
                    <a:pt x="95250" y="0"/>
                  </a:moveTo>
                  <a:lnTo>
                    <a:pt x="3476625" y="0"/>
                  </a:lnTo>
                  <a:cubicBezTo>
                    <a:pt x="3529230" y="0"/>
                    <a:pt x="3571875" y="42645"/>
                    <a:pt x="3571875" y="95250"/>
                  </a:cubicBezTo>
                  <a:lnTo>
                    <a:pt x="3571875" y="476250"/>
                  </a:lnTo>
                  <a:cubicBezTo>
                    <a:pt x="3571875" y="528855"/>
                    <a:pt x="3529230" y="571500"/>
                    <a:pt x="3476625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33875" y="1790700"/>
              <a:ext cx="3571875" cy="1905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4457700" y="1485900"/>
              <a:ext cx="419100" cy="41910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593173" y="161639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94910" y="149923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三层分级记忆架构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97768" y="1723549"/>
              <a:ext cx="23672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CE5FF"/>
                  </a:solidFill>
                  <a:latin typeface="Arial"/>
                  <a:ea typeface="Microsoft YaHei"/>
                  <a:cs typeface="Arial"/>
                </a:rPr>
                <a:t>Hierarchical Memory Organization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4557712" y="2147888"/>
              <a:ext cx="200026" cy="200024"/>
              <a:chOff x="4557712" y="2147888"/>
              <a:chExt cx="200026" cy="200024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4657725" y="2259012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17413" y="0"/>
                      <a:pt x="0" y="17413"/>
                      <a:pt x="0" y="38894"/>
                    </a:cubicBezTo>
                    <a:lnTo>
                      <a:pt x="0" y="50006"/>
                    </a:lnTo>
                    <a:cubicBezTo>
                      <a:pt x="0" y="71487"/>
                      <a:pt x="17413" y="88900"/>
                      <a:pt x="38894" y="88900"/>
                    </a:cubicBezTo>
                    <a:cubicBezTo>
                      <a:pt x="60374" y="88900"/>
                      <a:pt x="77788" y="71487"/>
                      <a:pt x="77788" y="50006"/>
                    </a:cubicBezTo>
                    <a:lnTo>
                      <a:pt x="77788" y="30004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579938" y="2259012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50006"/>
                    </a:lnTo>
                    <a:cubicBezTo>
                      <a:pt x="77788" y="71487"/>
                      <a:pt x="60374" y="88900"/>
                      <a:pt x="38894" y="88900"/>
                    </a:cubicBezTo>
                    <a:cubicBezTo>
                      <a:pt x="17413" y="88900"/>
                      <a:pt x="0" y="71487"/>
                      <a:pt x="0" y="50006"/>
                    </a:cubicBezTo>
                    <a:lnTo>
                      <a:pt x="0" y="30004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713288" y="2214562"/>
                <a:ext cx="44450" cy="77787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7">
                    <a:moveTo>
                      <a:pt x="5556" y="77787"/>
                    </a:moveTo>
                    <a:cubicBezTo>
                      <a:pt x="27037" y="77787"/>
                      <a:pt x="44450" y="60374"/>
                      <a:pt x="44450" y="38894"/>
                    </a:cubicBezTo>
                    <a:cubicBezTo>
                      <a:pt x="44450" y="17413"/>
                      <a:pt x="27037" y="0"/>
                      <a:pt x="555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657725" y="2147888"/>
                <a:ext cx="77788" cy="7000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70009">
                    <a:moveTo>
                      <a:pt x="77788" y="70009"/>
                    </a:moveTo>
                    <a:lnTo>
                      <a:pt x="77788" y="38894"/>
                    </a:lnTo>
                    <a:cubicBezTo>
                      <a:pt x="77788" y="17413"/>
                      <a:pt x="60374" y="0"/>
                      <a:pt x="38894" y="0"/>
                    </a:cubicBezTo>
                    <a:cubicBezTo>
                      <a:pt x="17413" y="0"/>
                      <a:pt x="0" y="17413"/>
                      <a:pt x="0" y="38894"/>
                    </a:cubicBez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557712" y="2214562"/>
                <a:ext cx="44450" cy="77787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7">
                    <a:moveTo>
                      <a:pt x="38894" y="77787"/>
                    </a:moveTo>
                    <a:cubicBezTo>
                      <a:pt x="17413" y="77787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579938" y="2147888"/>
                <a:ext cx="777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50019">
                    <a:moveTo>
                      <a:pt x="0" y="70009"/>
                    </a:moveTo>
                    <a:lnTo>
                      <a:pt x="0" y="38894"/>
                    </a:lnTo>
                    <a:cubicBezTo>
                      <a:pt x="0" y="17413"/>
                      <a:pt x="17413" y="0"/>
                      <a:pt x="38894" y="0"/>
                    </a:cubicBez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150019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4892040" y="2182178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类比人类记忆结构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11040" y="24393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情节子图（原始事件）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11040" y="264890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语义实体（关联概念）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11040" y="285845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社区摘要（全局理解）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4524375" y="3095625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14288">
              <a:solidFill>
                <a:srgbClr val="E8F4FC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4546600" y="3201718"/>
              <a:ext cx="222250" cy="214582"/>
              <a:chOff x="4546600" y="3201718"/>
              <a:chExt cx="222250" cy="214582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557712" y="3394075"/>
                <a:ext cx="777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9525">
                    <a:moveTo>
                      <a:pt x="0" y="0"/>
                    </a:moveTo>
                    <a:lnTo>
                      <a:pt x="77788" y="0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679950" y="3394075"/>
                <a:ext cx="777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9525">
                    <a:moveTo>
                      <a:pt x="0" y="0"/>
                    </a:moveTo>
                    <a:lnTo>
                      <a:pt x="77788" y="0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4635500" y="33718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657725" y="33496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546600" y="3201718"/>
                <a:ext cx="222250" cy="147952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47952">
                    <a:moveTo>
                      <a:pt x="66675" y="147952"/>
                    </a:moveTo>
                    <a:lnTo>
                      <a:pt x="51751" y="147952"/>
                    </a:lnTo>
                    <a:cubicBezTo>
                      <a:pt x="23170" y="147907"/>
                      <a:pt x="0" y="125605"/>
                      <a:pt x="0" y="98090"/>
                    </a:cubicBezTo>
                    <a:cubicBezTo>
                      <a:pt x="0" y="70587"/>
                      <a:pt x="23170" y="48284"/>
                      <a:pt x="51751" y="48284"/>
                    </a:cubicBezTo>
                    <a:cubicBezTo>
                      <a:pt x="56118" y="28704"/>
                      <a:pt x="71687" y="12724"/>
                      <a:pt x="92589" y="6356"/>
                    </a:cubicBezTo>
                    <a:cubicBezTo>
                      <a:pt x="113481" y="0"/>
                      <a:pt x="136550" y="4212"/>
                      <a:pt x="153086" y="17469"/>
                    </a:cubicBezTo>
                    <a:cubicBezTo>
                      <a:pt x="169621" y="30693"/>
                      <a:pt x="177111" y="50884"/>
                      <a:pt x="172755" y="70464"/>
                    </a:cubicBezTo>
                    <a:lnTo>
                      <a:pt x="183756" y="70464"/>
                    </a:lnTo>
                    <a:cubicBezTo>
                      <a:pt x="205015" y="70464"/>
                      <a:pt x="222250" y="87800"/>
                      <a:pt x="222250" y="109203"/>
                    </a:cubicBezTo>
                    <a:cubicBezTo>
                      <a:pt x="222250" y="130616"/>
                      <a:pt x="205015" y="147952"/>
                      <a:pt x="183745" y="147952"/>
                    </a:cubicBezTo>
                    <a:lnTo>
                      <a:pt x="155575" y="147952"/>
                    </a:lnTo>
                  </a:path>
                </a:pathLst>
              </a:custGeom>
              <a:noFill/>
              <a:ln w="9525">
                <a:solidFill>
                  <a:srgbClr val="0066C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4892040" y="32394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标签传播动态社区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11040" y="34871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增量更新无需全量重算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511040" y="36776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支持流式数据持续摄入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143875" y="1409700"/>
            <a:ext cx="3571875" cy="2667000"/>
            <a:chOff x="8143875" y="1409700"/>
            <a:chExt cx="3571875" cy="2667000"/>
          </a:xfrm>
        </p:grpSpPr>
        <p:sp>
          <p:nvSpPr>
            <p:cNvPr id="62" name="Freeform 62"/>
            <p:cNvSpPr/>
            <p:nvPr/>
          </p:nvSpPr>
          <p:spPr>
            <a:xfrm>
              <a:off x="8143875" y="1409700"/>
              <a:ext cx="3571875" cy="2667000"/>
            </a:xfrm>
            <a:custGeom>
              <a:avLst/>
              <a:gdLst/>
              <a:ahLst/>
              <a:cxnLst/>
              <a:rect l="l" t="t" r="r" b="b"/>
              <a:pathLst>
                <a:path w="3571875" h="2667000">
                  <a:moveTo>
                    <a:pt x="95250" y="0"/>
                  </a:moveTo>
                  <a:lnTo>
                    <a:pt x="3476625" y="0"/>
                  </a:lnTo>
                  <a:cubicBezTo>
                    <a:pt x="3529230" y="0"/>
                    <a:pt x="3571875" y="42645"/>
                    <a:pt x="3571875" y="95250"/>
                  </a:cubicBezTo>
                  <a:lnTo>
                    <a:pt x="3571875" y="2571750"/>
                  </a:lnTo>
                  <a:cubicBezTo>
                    <a:pt x="3571875" y="2624355"/>
                    <a:pt x="3529230" y="2667000"/>
                    <a:pt x="3476625" y="2667000"/>
                  </a:cubicBezTo>
                  <a:lnTo>
                    <a:pt x="95250" y="2667000"/>
                  </a:lnTo>
                  <a:cubicBezTo>
                    <a:pt x="42645" y="2667000"/>
                    <a:pt x="0" y="2624355"/>
                    <a:pt x="0" y="2571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0D7E0"/>
              </a:solidFill>
            </a:ln>
            <a:effectLst>
              <a:outerShdw blurRad="152400" dist="38100" dir="10799140" algn="t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3" name="Freeform 63"/>
            <p:cNvSpPr/>
            <p:nvPr/>
          </p:nvSpPr>
          <p:spPr>
            <a:xfrm>
              <a:off x="8143875" y="1409700"/>
              <a:ext cx="3571875" cy="571500"/>
            </a:xfrm>
            <a:custGeom>
              <a:avLst/>
              <a:gdLst/>
              <a:ahLst/>
              <a:cxnLst/>
              <a:rect l="l" t="t" r="r" b="b"/>
              <a:pathLst>
                <a:path w="3571875" h="571500">
                  <a:moveTo>
                    <a:pt x="95250" y="0"/>
                  </a:moveTo>
                  <a:lnTo>
                    <a:pt x="3476625" y="0"/>
                  </a:lnTo>
                  <a:cubicBezTo>
                    <a:pt x="3529230" y="0"/>
                    <a:pt x="3571875" y="42645"/>
                    <a:pt x="3571875" y="95250"/>
                  </a:cubicBezTo>
                  <a:lnTo>
                    <a:pt x="3571875" y="476250"/>
                  </a:lnTo>
                  <a:cubicBezTo>
                    <a:pt x="3571875" y="528855"/>
                    <a:pt x="3529230" y="571500"/>
                    <a:pt x="3476625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28A74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143875" y="1790700"/>
              <a:ext cx="3571875" cy="190500"/>
            </a:xfrm>
            <a:prstGeom prst="rect">
              <a:avLst/>
            </a:prstGeom>
            <a:solidFill>
              <a:srgbClr val="28A745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8267700" y="1485900"/>
              <a:ext cx="419100" cy="419100"/>
            </a:xfrm>
            <a:prstGeom prst="ellipse">
              <a:avLst/>
            </a:prstGeom>
            <a:solidFill>
              <a:srgbClr val="1B5E2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03173" y="161639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04910" y="1499235"/>
              <a:ext cx="17142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混合检索 + 重排管道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807768" y="172354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AEEBB"/>
                  </a:solidFill>
                  <a:latin typeface="Arial"/>
                  <a:ea typeface="Microsoft YaHei"/>
                  <a:cs typeface="Arial"/>
                </a:rPr>
                <a:t>Hybrid Retrieval + Reranking</a:t>
              </a:r>
            </a:p>
          </p:txBody>
        </p:sp>
        <p:grpSp>
          <p:nvGrpSpPr>
            <p:cNvPr id="79" name="Group 79"/>
            <p:cNvGrpSpPr/>
            <p:nvPr/>
          </p:nvGrpSpPr>
          <p:grpSpPr>
            <a:xfrm>
              <a:off x="8378825" y="2159000"/>
              <a:ext cx="200025" cy="200024"/>
              <a:chOff x="8378825" y="2159000"/>
              <a:chExt cx="200025" cy="200024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8378825" y="22034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9525">
                <a:solidFill>
                  <a:srgbClr val="28A745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401050" y="21590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9525">
                <a:solidFill>
                  <a:srgbClr val="28A745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401050" y="22479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9525">
                <a:solidFill>
                  <a:srgbClr val="28A745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443637" y="2270125"/>
                <a:ext cx="24088" cy="41194"/>
              </a:xfrm>
              <a:custGeom>
                <a:avLst/>
                <a:gdLst/>
                <a:ahLst/>
                <a:cxnLst/>
                <a:rect l="l" t="t" r="r" b="b"/>
                <a:pathLst>
                  <a:path w="24088" h="41194">
                    <a:moveTo>
                      <a:pt x="24088" y="0"/>
                    </a:moveTo>
                    <a:cubicBezTo>
                      <a:pt x="14131" y="1"/>
                      <a:pt x="5389" y="6625"/>
                      <a:pt x="2695" y="16211"/>
                    </a:cubicBezTo>
                    <a:cubicBezTo>
                      <a:pt x="0" y="25797"/>
                      <a:pt x="4010" y="36005"/>
                      <a:pt x="12509" y="41194"/>
                    </a:cubicBezTo>
                  </a:path>
                </a:pathLst>
              </a:custGeom>
              <a:noFill/>
              <a:ln w="9525">
                <a:solidFill>
                  <a:srgbClr val="28A745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467725" y="215900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9525">
                <a:solidFill>
                  <a:srgbClr val="28A745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512175" y="217011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9525">
                <a:solidFill>
                  <a:srgbClr val="28A745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534400" y="2159000"/>
                <a:ext cx="9525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3">
                    <a:moveTo>
                      <a:pt x="0" y="0"/>
                    </a:moveTo>
                    <a:lnTo>
                      <a:pt x="0" y="11113"/>
                    </a:lnTo>
                  </a:path>
                </a:pathLst>
              </a:custGeom>
              <a:noFill/>
              <a:ln w="9525">
                <a:solidFill>
                  <a:srgbClr val="28A745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534400" y="2214562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525">
                <a:solidFill>
                  <a:srgbClr val="28A745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501062" y="22812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9525">
                <a:solidFill>
                  <a:srgbClr val="28A745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558848" y="2339022"/>
                <a:ext cx="20002" cy="20002"/>
              </a:xfrm>
              <a:custGeom>
                <a:avLst/>
                <a:gdLst/>
                <a:ahLst/>
                <a:cxnLst/>
                <a:rect l="l" t="t" r="r" b="b"/>
                <a:pathLst>
                  <a:path w="20002" h="20002">
                    <a:moveTo>
                      <a:pt x="0" y="0"/>
                    </a:moveTo>
                    <a:lnTo>
                      <a:pt x="20002" y="20002"/>
                    </a:lnTo>
                  </a:path>
                </a:pathLst>
              </a:custGeom>
              <a:noFill/>
              <a:ln w="9525">
                <a:solidFill>
                  <a:srgbClr val="28A745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8702040" y="21821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三路搜索召回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21040" y="2439352"/>
              <a:ext cx="21275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cosine + BM25 + BFS 三维并行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321040" y="2648902"/>
              <a:ext cx="2035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覆盖语义/词汇/图结构相似性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8334375" y="29146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14288">
              <a:solidFill>
                <a:srgbClr val="E8F4FC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8389938" y="3024188"/>
              <a:ext cx="155575" cy="200025"/>
            </a:xfrm>
            <a:custGeom>
              <a:avLst/>
              <a:gdLst/>
              <a:ahLst/>
              <a:cxnLst/>
              <a:rect l="l" t="t" r="r" b="b"/>
              <a:pathLst>
                <a:path w="155575" h="200025">
                  <a:moveTo>
                    <a:pt x="88900" y="0"/>
                  </a:moveTo>
                  <a:lnTo>
                    <a:pt x="88900" y="77788"/>
                  </a:lnTo>
                  <a:lnTo>
                    <a:pt x="155575" y="77788"/>
                  </a:lnTo>
                  <a:lnTo>
                    <a:pt x="66675" y="200025"/>
                  </a:lnTo>
                  <a:lnTo>
                    <a:pt x="66675" y="122237"/>
                  </a:lnTo>
                  <a:lnTo>
                    <a:pt x="0" y="122237"/>
                  </a:lnTo>
                  <a:lnTo>
                    <a:pt x="88900" y="0"/>
                  </a:lnTo>
                </a:path>
              </a:pathLst>
            </a:custGeom>
            <a:noFill/>
            <a:ln w="9525">
              <a:solidFill>
                <a:srgbClr val="28A745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702040" y="305847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多策略重排精化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321040" y="32966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RRF / MMR / 频率重排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321040" y="34871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交叉编码器精排（最高精度）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321040" y="367760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f(α) = χ(ρ(φ(α)))</a:t>
              </a:r>
            </a:p>
          </p:txBody>
        </p:sp>
      </p:grpSp>
      <p:sp>
        <p:nvSpPr>
          <p:cNvPr id="90" name="Freeform 90"/>
          <p:cNvSpPr/>
          <p:nvPr/>
        </p:nvSpPr>
        <p:spPr>
          <a:xfrm>
            <a:off x="523875" y="4286250"/>
            <a:ext cx="11144250" cy="952500"/>
          </a:xfrm>
          <a:custGeom>
            <a:avLst/>
            <a:gdLst/>
            <a:ahLst/>
            <a:cxnLst/>
            <a:rect l="l" t="t" r="r" b="b"/>
            <a:pathLst>
              <a:path w="11144250" h="952500">
                <a:moveTo>
                  <a:pt x="95250" y="0"/>
                </a:moveTo>
                <a:lnTo>
                  <a:pt x="11049000" y="0"/>
                </a:lnTo>
                <a:cubicBezTo>
                  <a:pt x="11101605" y="0"/>
                  <a:pt x="11144250" y="42645"/>
                  <a:pt x="11144250" y="95250"/>
                </a:cubicBezTo>
                <a:lnTo>
                  <a:pt x="11144250" y="857250"/>
                </a:lnTo>
                <a:cubicBezTo>
                  <a:pt x="11144250" y="909855"/>
                  <a:pt x="11101605" y="952500"/>
                  <a:pt x="1104900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grpSp>
        <p:nvGrpSpPr>
          <p:cNvPr id="106" name="Group 106"/>
          <p:cNvGrpSpPr/>
          <p:nvPr/>
        </p:nvGrpSpPr>
        <p:grpSpPr>
          <a:xfrm>
            <a:off x="1200388" y="4400550"/>
            <a:ext cx="10311693" cy="809625"/>
            <a:chOff x="1200388" y="4400550"/>
            <a:chExt cx="10311693" cy="809625"/>
          </a:xfrm>
        </p:grpSpPr>
        <p:sp>
          <p:nvSpPr>
            <p:cNvPr id="91" name="TextBox 91"/>
            <p:cNvSpPr txBox="1"/>
            <p:nvPr/>
          </p:nvSpPr>
          <p:spPr>
            <a:xfrm>
              <a:off x="1429781" y="4423410"/>
              <a:ext cx="1331438" cy="548640"/>
            </a:xfrm>
            <a:prstGeom prst="rect">
              <a:avLst/>
            </a:prstGeom>
            <a:noFill/>
            <a:ln>
              <a:noFill/>
            </a:ln>
            <a:effectLst>
              <a:glow rad="95250">
                <a:srgbClr val="F07C00">
                  <a:alpha val="35000"/>
                </a:srgbClr>
              </a:glo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+18.5%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200388" y="4839652"/>
              <a:ext cx="17902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ACCEE"/>
                  </a:solidFill>
                  <a:latin typeface="Arial"/>
                  <a:ea typeface="Microsoft YaHei"/>
                  <a:cs typeface="Arial"/>
                </a:rPr>
                <a:t>LongMemEval 准确率提升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716024" y="5027295"/>
              <a:ext cx="758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799BB"/>
                  </a:solidFill>
                  <a:latin typeface="Arial"/>
                  <a:ea typeface="Microsoft YaHei"/>
                  <a:cs typeface="Arial"/>
                </a:rPr>
                <a:t>gpt-4o 模型</a:t>
              </a:r>
            </a:p>
          </p:txBody>
        </p:sp>
        <p:sp>
          <p:nvSpPr>
            <p:cNvPr id="94" name="Line 94"/>
            <p:cNvSpPr/>
            <p:nvPr/>
          </p:nvSpPr>
          <p:spPr>
            <a:xfrm>
              <a:off x="3524250" y="4400550"/>
              <a:ext cx="9525" cy="695325"/>
            </a:xfrm>
            <a:custGeom>
              <a:avLst/>
              <a:gdLst/>
              <a:ahLst/>
              <a:cxnLst/>
              <a:rect l="l" t="t" r="r" b="b"/>
              <a:pathLst>
                <a:path w="9525" h="695325">
                  <a:moveTo>
                    <a:pt x="0" y="0"/>
                  </a:moveTo>
                  <a:lnTo>
                    <a:pt x="0" y="695325"/>
                  </a:lnTo>
                </a:path>
              </a:pathLst>
            </a:custGeom>
            <a:noFill/>
            <a:ln w="9525">
              <a:solidFill>
                <a:srgbClr val="FFFFFF">
                  <a:alpha val="15000"/>
                </a:srgbClr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4558503" y="4423410"/>
              <a:ext cx="979494" cy="548640"/>
            </a:xfrm>
            <a:prstGeom prst="rect">
              <a:avLst/>
            </a:prstGeom>
            <a:noFill/>
            <a:ln>
              <a:noFill/>
            </a:ln>
            <a:effectLst>
              <a:glow rad="95250">
                <a:srgbClr val="F07C00">
                  <a:alpha val="35000"/>
                </a:srgbClr>
              </a:glo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-90%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4574858" y="48396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ACCEE"/>
                  </a:solidFill>
                  <a:latin typeface="Arial"/>
                  <a:ea typeface="Microsoft YaHei"/>
                  <a:cs typeface="Arial"/>
                </a:rPr>
                <a:t>响应延迟降低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616196" y="5027295"/>
              <a:ext cx="8641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799BB"/>
                  </a:solidFill>
                  <a:latin typeface="Arial"/>
                  <a:ea typeface="Microsoft YaHei"/>
                  <a:cs typeface="Arial"/>
                </a:rPr>
                <a:t>31.3s → 3.20s</a:t>
              </a:r>
            </a:p>
          </p:txBody>
        </p:sp>
        <p:sp>
          <p:nvSpPr>
            <p:cNvPr id="98" name="Line 98"/>
            <p:cNvSpPr/>
            <p:nvPr/>
          </p:nvSpPr>
          <p:spPr>
            <a:xfrm>
              <a:off x="6477000" y="4400550"/>
              <a:ext cx="9525" cy="695325"/>
            </a:xfrm>
            <a:custGeom>
              <a:avLst/>
              <a:gdLst/>
              <a:ahLst/>
              <a:cxnLst/>
              <a:rect l="l" t="t" r="r" b="b"/>
              <a:pathLst>
                <a:path w="9525" h="695325">
                  <a:moveTo>
                    <a:pt x="0" y="0"/>
                  </a:moveTo>
                  <a:lnTo>
                    <a:pt x="0" y="695325"/>
                  </a:lnTo>
                </a:path>
              </a:pathLst>
            </a:custGeom>
            <a:noFill/>
            <a:ln w="9525">
              <a:solidFill>
                <a:srgbClr val="FFFFFF">
                  <a:alpha val="15000"/>
                </a:srgbClr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397389" y="4423410"/>
              <a:ext cx="1207222" cy="548640"/>
            </a:xfrm>
            <a:prstGeom prst="rect">
              <a:avLst/>
            </a:prstGeom>
            <a:noFill/>
            <a:ln>
              <a:noFill/>
            </a:ln>
            <a:effectLst>
              <a:glow rad="95250">
                <a:srgbClr val="F07C00">
                  <a:alpha val="35000"/>
                </a:srgbClr>
              </a:glo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94.8%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592782" y="4839652"/>
              <a:ext cx="816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ACCEE"/>
                  </a:solidFill>
                  <a:latin typeface="Arial"/>
                  <a:ea typeface="Microsoft YaHei"/>
                  <a:cs typeface="Arial"/>
                </a:rPr>
                <a:t>DMR 准确率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394781" y="5027295"/>
              <a:ext cx="12124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799BB"/>
                  </a:solidFill>
                  <a:latin typeface="Arial"/>
                  <a:ea typeface="Microsoft YaHei"/>
                  <a:cs typeface="Arial"/>
                </a:rPr>
                <a:t>超越 MemGPT 93.4%</a:t>
              </a:r>
            </a:p>
          </p:txBody>
        </p:sp>
        <p:sp>
          <p:nvSpPr>
            <p:cNvPr id="102" name="Line 102"/>
            <p:cNvSpPr/>
            <p:nvPr/>
          </p:nvSpPr>
          <p:spPr>
            <a:xfrm>
              <a:off x="9429750" y="4400550"/>
              <a:ext cx="9525" cy="695325"/>
            </a:xfrm>
            <a:custGeom>
              <a:avLst/>
              <a:gdLst/>
              <a:ahLst/>
              <a:cxnLst/>
              <a:rect l="l" t="t" r="r" b="b"/>
              <a:pathLst>
                <a:path w="9525" h="695325">
                  <a:moveTo>
                    <a:pt x="0" y="0"/>
                  </a:moveTo>
                  <a:lnTo>
                    <a:pt x="0" y="695325"/>
                  </a:lnTo>
                </a:path>
              </a:pathLst>
            </a:custGeom>
            <a:noFill/>
            <a:ln w="9525">
              <a:solidFill>
                <a:srgbClr val="FFFFFF">
                  <a:alpha val="15000"/>
                </a:srgbClr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0368753" y="4423410"/>
              <a:ext cx="979494" cy="548640"/>
            </a:xfrm>
            <a:prstGeom prst="rect">
              <a:avLst/>
            </a:prstGeom>
            <a:noFill/>
            <a:ln>
              <a:noFill/>
            </a:ln>
            <a:effectLst>
              <a:glow rad="95250">
                <a:srgbClr val="F07C00">
                  <a:alpha val="35000"/>
                </a:srgbClr>
              </a:glo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07C00"/>
                  </a:solidFill>
                  <a:latin typeface="Arial"/>
                  <a:ea typeface="Microsoft YaHei"/>
                  <a:cs typeface="Arial"/>
                </a:rPr>
                <a:t>-99%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0204918" y="4839652"/>
              <a:ext cx="13071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ACCEE"/>
                  </a:solidFill>
                  <a:latin typeface="Arial"/>
                  <a:ea typeface="Microsoft YaHei"/>
                  <a:cs typeface="Arial"/>
                </a:rPr>
                <a:t>上下文 Token 压缩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0295001" y="5027295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799BB"/>
                  </a:solidFill>
                  <a:latin typeface="Arial"/>
                  <a:ea typeface="Microsoft YaHei"/>
                  <a:cs typeface="Arial"/>
                </a:rPr>
                <a:t>115k → 1.6k tokens</a:t>
              </a:r>
            </a:p>
          </p:txBody>
        </p:sp>
      </p:grpSp>
      <p:sp>
        <p:nvSpPr>
          <p:cNvPr id="107" name="Freeform 107"/>
          <p:cNvSpPr/>
          <p:nvPr/>
        </p:nvSpPr>
        <p:spPr>
          <a:xfrm>
            <a:off x="523875" y="5381625"/>
            <a:ext cx="11144250" cy="476250"/>
          </a:xfrm>
          <a:custGeom>
            <a:avLst/>
            <a:gdLst/>
            <a:ahLst/>
            <a:cxnLst/>
            <a:rect l="l" t="t" r="r" b="b"/>
            <a:pathLst>
              <a:path w="11144250" h="476250">
                <a:moveTo>
                  <a:pt x="76200" y="0"/>
                </a:moveTo>
                <a:lnTo>
                  <a:pt x="11068050" y="0"/>
                </a:lnTo>
                <a:cubicBezTo>
                  <a:pt x="11110134" y="0"/>
                  <a:pt x="11144250" y="34116"/>
                  <a:pt x="11144250" y="76200"/>
                </a:cubicBezTo>
                <a:lnTo>
                  <a:pt x="11144250" y="400050"/>
                </a:lnTo>
                <a:cubicBezTo>
                  <a:pt x="11144250" y="442134"/>
                  <a:pt x="11110134" y="476250"/>
                  <a:pt x="1106805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08" name="Freeform 108"/>
          <p:cNvSpPr/>
          <p:nvPr/>
        </p:nvSpPr>
        <p:spPr>
          <a:xfrm>
            <a:off x="523875" y="5381625"/>
            <a:ext cx="57150" cy="476250"/>
          </a:xfrm>
          <a:custGeom>
            <a:avLst/>
            <a:gdLst/>
            <a:ahLst/>
            <a:cxnLst/>
            <a:rect l="l" t="t" r="r" b="b"/>
            <a:pathLst>
              <a:path w="57150" h="4762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447675"/>
                </a:lnTo>
                <a:cubicBezTo>
                  <a:pt x="57150" y="463457"/>
                  <a:pt x="44357" y="476250"/>
                  <a:pt x="28575" y="476250"/>
                </a:cubicBezTo>
                <a:lnTo>
                  <a:pt x="28575" y="476250"/>
                </a:lnTo>
                <a:cubicBezTo>
                  <a:pt x="12793" y="476250"/>
                  <a:pt x="0" y="463457"/>
                  <a:pt x="0" y="4476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07C00"/>
          </a:solidFill>
          <a:ln>
            <a:noFill/>
          </a:ln>
        </p:spPr>
      </p:sp>
      <p:sp>
        <p:nvSpPr>
          <p:cNvPr id="109" name="TextBox 109"/>
          <p:cNvSpPr txBox="1"/>
          <p:nvPr/>
        </p:nvSpPr>
        <p:spPr>
          <a:xfrm>
            <a:off x="3131594" y="5555456"/>
            <a:ext cx="59288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Zep 开源于 GitHub | Production-grade 生产可用 | 集成 Zep 云服务或自部署</a:t>
            </a:r>
          </a:p>
        </p:txBody>
      </p:sp>
      <p:sp>
        <p:nvSpPr>
          <p:cNvPr id="110" name="Line 11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369570" y="6522720"/>
            <a:ext cx="1587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来源：arXiv:2501.13956v1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5755958" y="65227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结论与贡献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1237881" y="6514624"/>
            <a:ext cx="3950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11 / 12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055AA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1047750"/>
          </a:xfrm>
          <a:prstGeom prst="rect">
            <a:avLst/>
          </a:prstGeom>
          <a:solidFill>
            <a:srgbClr val="F07C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833183" y="444818"/>
            <a:ext cx="6139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ZEP AI</a:t>
            </a:r>
          </a:p>
        </p:txBody>
      </p:sp>
      <p:sp>
        <p:nvSpPr>
          <p:cNvPr id="6" name="Ellipse 6"/>
          <p:cNvSpPr/>
          <p:nvPr/>
        </p:nvSpPr>
        <p:spPr>
          <a:xfrm>
            <a:off x="9048750" y="2381250"/>
            <a:ext cx="3810000" cy="3810000"/>
          </a:xfrm>
          <a:prstGeom prst="ellipse">
            <a:avLst/>
          </a:prstGeom>
          <a:solidFill>
            <a:srgbClr val="003366">
              <a:alpha val="4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-666750" y="4286250"/>
            <a:ext cx="2857500" cy="2857500"/>
          </a:xfrm>
          <a:prstGeom prst="ellipse">
            <a:avLst/>
          </a:prstGeom>
          <a:solidFill>
            <a:srgbClr val="E8F4FC">
              <a:alpha val="5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144298" y="211836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感谢聆听！欢迎提问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83255" y="2965132"/>
            <a:ext cx="582549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Zep: Empowering AI Agents with Temporal Memory</a:t>
            </a:r>
          </a:p>
        </p:txBody>
      </p:sp>
      <p:sp>
        <p:nvSpPr>
          <p:cNvPr id="10" name="Line 10"/>
          <p:cNvSpPr/>
          <p:nvPr/>
        </p:nvSpPr>
        <p:spPr>
          <a:xfrm>
            <a:off x="4000500" y="350520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6048375" y="3457575"/>
            <a:ext cx="95250" cy="95250"/>
          </a:xfrm>
          <a:prstGeom prst="ellipse">
            <a:avLst/>
          </a:prstGeom>
          <a:solidFill>
            <a:srgbClr val="F07C00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3971925" y="3476625"/>
            <a:ext cx="57150" cy="571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162925" y="3476625"/>
            <a:ext cx="57150" cy="571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3238500" y="3733800"/>
            <a:ext cx="5715000" cy="1409700"/>
          </a:xfrm>
          <a:custGeom>
            <a:avLst/>
            <a:gdLst/>
            <a:ahLst/>
            <a:cxnLst/>
            <a:rect l="l" t="t" r="r" b="b"/>
            <a:pathLst>
              <a:path w="5715000" h="1409700">
                <a:moveTo>
                  <a:pt x="952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1314450"/>
                </a:lnTo>
                <a:cubicBezTo>
                  <a:pt x="5715000" y="1367055"/>
                  <a:pt x="5672355" y="1409700"/>
                  <a:pt x="5619750" y="1409700"/>
                </a:cubicBezTo>
                <a:lnTo>
                  <a:pt x="95250" y="1409700"/>
                </a:lnTo>
                <a:cubicBezTo>
                  <a:pt x="42645" y="1409700"/>
                  <a:pt x="0" y="1367055"/>
                  <a:pt x="0" y="13144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  <a:effectLst>
            <a:outerShdw blurRad="152400" dist="38100" dir="10799140" algn="tl" rotWithShape="0">
              <a:srgbClr val="000000">
                <a:alpha val="12000"/>
              </a:srgbClr>
            </a:outerShdw>
          </a:effectLst>
        </p:spPr>
      </p:sp>
      <p:sp>
        <p:nvSpPr>
          <p:cNvPr id="15" name="Freeform 15"/>
          <p:cNvSpPr/>
          <p:nvPr/>
        </p:nvSpPr>
        <p:spPr>
          <a:xfrm>
            <a:off x="3238500" y="3733800"/>
            <a:ext cx="57150" cy="1409700"/>
          </a:xfrm>
          <a:custGeom>
            <a:avLst/>
            <a:gdLst/>
            <a:ahLst/>
            <a:cxnLst/>
            <a:rect l="l" t="t" r="r" b="b"/>
            <a:pathLst>
              <a:path w="57150" h="14097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381125"/>
                </a:lnTo>
                <a:cubicBezTo>
                  <a:pt x="57150" y="1396907"/>
                  <a:pt x="44357" y="1409700"/>
                  <a:pt x="28575" y="1409700"/>
                </a:cubicBezTo>
                <a:lnTo>
                  <a:pt x="28575" y="1409700"/>
                </a:lnTo>
                <a:cubicBezTo>
                  <a:pt x="12793" y="1409700"/>
                  <a:pt x="0" y="1396907"/>
                  <a:pt x="0" y="13811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664803" y="3950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论文信息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21720" y="4251960"/>
            <a:ext cx="29485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arXiv:2501.13956v1 · 2025年1月20日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16978" y="4526756"/>
            <a:ext cx="43580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Rasmussen, Paliychuk, Beauvais, Ryan, Chalef · Zep AI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75478" y="4793456"/>
            <a:ext cx="26410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u="sng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getzep.com | github.com/getzep</a:t>
            </a:r>
          </a:p>
        </p:txBody>
      </p:sp>
      <p:sp>
        <p:nvSpPr>
          <p:cNvPr id="20" name="Freeform 20"/>
          <p:cNvSpPr/>
          <p:nvPr/>
        </p:nvSpPr>
        <p:spPr>
          <a:xfrm>
            <a:off x="4953000" y="5286375"/>
            <a:ext cx="2286000" cy="457200"/>
          </a:xfrm>
          <a:custGeom>
            <a:avLst/>
            <a:gdLst/>
            <a:ahLst/>
            <a:cxnLst/>
            <a:rect l="l" t="t" r="r" b="b"/>
            <a:pathLst>
              <a:path w="2286000" h="457200">
                <a:moveTo>
                  <a:pt x="228600" y="0"/>
                </a:moveTo>
                <a:lnTo>
                  <a:pt x="2057400" y="0"/>
                </a:lnTo>
                <a:cubicBezTo>
                  <a:pt x="2183652" y="0"/>
                  <a:pt x="2286000" y="102348"/>
                  <a:pt x="2286000" y="228600"/>
                </a:cubicBezTo>
                <a:lnTo>
                  <a:pt x="2286000" y="228600"/>
                </a:lnTo>
                <a:cubicBezTo>
                  <a:pt x="2286000" y="354852"/>
                  <a:pt x="2183652" y="457200"/>
                  <a:pt x="2057400" y="457200"/>
                </a:cubicBezTo>
                <a:lnTo>
                  <a:pt x="228600" y="457200"/>
                </a:lnTo>
                <a:cubicBezTo>
                  <a:pt x="102348" y="457200"/>
                  <a:pt x="0" y="354852"/>
                  <a:pt x="0" y="2286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795165" y="5410200"/>
            <a:ext cx="6016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396544" y="6543199"/>
            <a:ext cx="13989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2026年5月 | 论文汇报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02281" y="654319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12 / 12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