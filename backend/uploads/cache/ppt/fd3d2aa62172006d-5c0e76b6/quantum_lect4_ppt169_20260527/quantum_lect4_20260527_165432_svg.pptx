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这是本讲的开场。</a:t>
            </a:r>
          </a:p>
          <a:p>
            <a:endParaRPr lang="zh-CN" dirty="0"/>
          </a:p>
          <a:p>
            <a:r>
              <a:rPr lang="zh-CN" dirty="0"/>
              <a:t>同学们好，欢迎来到量子力学第四讲。今天我们要进入一个非常核心的主题——定态，以及量子力学中最经典的模型：一维无限深方势阱。</a:t>
            </a:r>
          </a:p>
          <a:p>
            <a:endParaRPr lang="zh-CN" dirty="0"/>
          </a:p>
          <a:p>
            <a:r>
              <a:rPr lang="zh-CN" dirty="0"/>
              <a:t>【停顿】在我们开始之前，我想先问大家一个问题：【提问】你们觉得，一个粒子被"关"在一个盒子里，它的能量可以是任意值吗？先不要急着回答，带着这个问题，我们一起来看今天的内容。</a:t>
            </a:r>
          </a:p>
          <a:p>
            <a:endParaRPr lang="zh-CN" dirty="0"/>
          </a:p>
          <a:p>
            <a:r>
              <a:rPr lang="zh-CN" dirty="0"/>
              <a:t>本讲的内容分两大块：第一块是定态的概念和性质，第二块是无限深方势阱这个具体模型。这两块内容是紧密相连的——我们会用定态的理论框架来分析势阱问题。</a:t>
            </a:r>
          </a:p>
          <a:p>
            <a:endParaRPr lang="zh-CN" dirty="0"/>
          </a:p>
          <a:p>
            <a:r>
              <a:rPr lang="zh-CN" dirty="0"/>
              <a:t>要点：① 定态是量子力学的核心概念 ② 无限深方势阱是最简单的量子模型 ③ 两者通过定态薛定谔方程联系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在正式讲课之前，我们先来明确今天的学习目标。</a:t>
            </a:r>
          </a:p>
          <a:p>
            <a:endParaRPr lang="zh-CN" dirty="0"/>
          </a:p>
          <a:p>
            <a:r>
              <a:rPr lang="zh-CN" dirty="0"/>
              <a:t>同学们，我把今天的目标用四个动词来概括：能说出、能解释、会运用、会判断。注意，我没有用"了解"或者"掌握"这样模糊的词——我希望大家学完之后，能够做到这四件具体的事情。</a:t>
            </a:r>
          </a:p>
          <a:p>
            <a:endParaRPr lang="zh-CN" dirty="0"/>
          </a:p>
          <a:p>
            <a:r>
              <a:rPr lang="zh-CN" dirty="0"/>
              <a:t>【板书】第一，能说出定态的定义和三个核心特征。第二，能解释为什么定态的概率密度不随时间变化——这个"为什么"很重要，不是死记结论，而是要理解背后的数学原因。第三，会运用分离变量法推导定态薛定谔方程。第四，会判断无限深方势阱中粒子的允许能级和波函数形式。</a:t>
            </a:r>
          </a:p>
          <a:p>
            <a:endParaRPr lang="zh-CN" dirty="0"/>
          </a:p>
          <a:p>
            <a:r>
              <a:rPr lang="zh-CN" dirty="0"/>
              <a:t>【提问】大家现在对这四个目标有没有感觉哪个最难？【停顿 5秒】好，不管你觉得哪个难，我们今天都会一步一步把它讲清楚。</a:t>
            </a:r>
          </a:p>
          <a:p>
            <a:endParaRPr lang="zh-CN" dirty="0"/>
          </a:p>
          <a:p>
            <a:r>
              <a:rPr lang="zh-CN" dirty="0"/>
              <a:t>要点：① 四个具体可检验的学习目标 ② 强调理解而非死记 ③ 激发学生预期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好，目标明确了，我们来看第一个问题：一个粒子被关在盒子里，会发生什么？</a:t>
            </a:r>
          </a:p>
          <a:p>
            <a:endParaRPr lang="zh-CN" dirty="0"/>
          </a:p>
          <a:p>
            <a:r>
              <a:rPr lang="zh-CN" dirty="0"/>
              <a:t>同学们，我们先来做一个对比。【板书】左边是经典粒子，右边是量子粒子。</a:t>
            </a:r>
          </a:p>
          <a:p>
            <a:endParaRPr lang="zh-CN" dirty="0"/>
          </a:p>
          <a:p>
            <a:r>
              <a:rPr lang="zh-CN" dirty="0"/>
              <a:t>经典粒子的情况大家都很熟悉——一个小球在盒子里弹来弹去，速度可以是任意值，能量可以连续变化，理论上可以静止，位置可以精确确定。这完全符合我们的日常直觉。</a:t>
            </a:r>
          </a:p>
          <a:p>
            <a:endParaRPr lang="zh-CN" dirty="0"/>
          </a:p>
          <a:p>
            <a:r>
              <a:rPr lang="zh-CN" dirty="0"/>
              <a:t>【停顿】但是量子粒子呢？【提问】如果我告诉你，量子粒子在盒子里只能有特定的速度，能量只能取离散的值，而且永远不能静止——你相信吗？</a:t>
            </a:r>
          </a:p>
          <a:p>
            <a:endParaRPr lang="zh-CN" dirty="0"/>
          </a:p>
          <a:p>
            <a:r>
              <a:rPr lang="zh-CN" dirty="0"/>
              <a:t>这不是科幻，这是实验事实。【强调】量子粒子的能量是量子化的，这是量子力学最根本的特征之一。今天我们就要从数学上推导出这个结论，看看它是怎么来的。</a:t>
            </a:r>
          </a:p>
          <a:p>
            <a:endParaRPr lang="zh-CN" dirty="0"/>
          </a:p>
          <a:p>
            <a:r>
              <a:rPr lang="zh-CN" dirty="0"/>
              <a:t>这里学生很容易觉得"量子化"是人为假设的，可以强调：量子化是边界条件的数学必然结果，不是假设。</a:t>
            </a:r>
          </a:p>
          <a:p>
            <a:endParaRPr lang="zh-CN" dirty="0"/>
          </a:p>
          <a:p>
            <a:r>
              <a:rPr lang="zh-CN" dirty="0"/>
              <a:t>要点：① 经典与量子的鲜明对比 ② 激发认知冲突 ③ 预告推导方向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好，我们现在开始正式推导。第一步，我们要解决一个问题：含时薛定谔方程怎么求解？</a:t>
            </a:r>
          </a:p>
          <a:p>
            <a:endParaRPr lang="zh-CN" dirty="0"/>
          </a:p>
          <a:p>
            <a:r>
              <a:rPr lang="zh-CN" dirty="0"/>
              <a:t>同学们，含时薛定谔方程是一个偏微分方程，同时含有空间变量 r 和时间变量 t，直接求解很困难。【板书】我们用一个经典的数学技巧——分离变量法。</a:t>
            </a:r>
          </a:p>
          <a:p>
            <a:endParaRPr lang="zh-CN" dirty="0"/>
          </a:p>
          <a:p>
            <a:r>
              <a:rPr lang="zh-CN" dirty="0"/>
              <a:t>核心假设是：假设波函数可以写成空间部分和时间部分的乘积，Ψ(r,t) = ψ(r)·f(t)。【提问】大家想想，为什么可以这样假设？【停顿 10秒】</a:t>
            </a:r>
          </a:p>
          <a:p>
            <a:endParaRPr lang="zh-CN" dirty="0"/>
          </a:p>
          <a:p>
            <a:r>
              <a:rPr lang="zh-CN" dirty="0"/>
              <a:t>这个假设不是对所有情况都成立，但对于我们要找的"定态"解，它是成立的。把这个假设代入薛定谔方程，神奇的事情发生了——方程的左边只含 t，右边只含 r。</a:t>
            </a:r>
          </a:p>
          <a:p>
            <a:endParaRPr lang="zh-CN" dirty="0"/>
          </a:p>
          <a:p>
            <a:r>
              <a:rPr lang="zh-CN" dirty="0"/>
              <a:t>【强调】两边各自只含一个变量，但它们相等，这意味着两边都必须等于同一个常数。我们把这个常数叫做 E——它就是粒子的能量！</a:t>
            </a:r>
          </a:p>
          <a:p>
            <a:endParaRPr lang="zh-CN" dirty="0"/>
          </a:p>
          <a:p>
            <a:r>
              <a:rPr lang="zh-CN" dirty="0"/>
              <a:t>这样，一个偏微分方程就分解成了两个常微分方程：时间方程给出 f(t) = e^(-iEt/ℏ)，空间方程就是我们下一页要讲的定态薛定谔方程。</a:t>
            </a:r>
          </a:p>
          <a:p>
            <a:endParaRPr lang="zh-CN" dirty="0"/>
          </a:p>
          <a:p>
            <a:r>
              <a:rPr lang="zh-CN" dirty="0"/>
              <a:t>要点：① 分离变量法的核心思路 ② 分离常数 E 的物理意义 ③ 为下一页铺垫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上一步我们得到了空间方程，现在我们来仔细看看这个方程——它就是大名鼎鼎的定态薛定谔方程。</a:t>
            </a:r>
          </a:p>
          <a:p>
            <a:endParaRPr lang="zh-CN" dirty="0"/>
          </a:p>
          <a:p>
            <a:r>
              <a:rPr lang="zh-CN" dirty="0"/>
              <a:t>同学们，【板书】Ĥψ = Eψ。这个方程看起来很简单，但它是量子力学中最重要的方程之一。</a:t>
            </a:r>
          </a:p>
          <a:p>
            <a:endParaRPr lang="zh-CN" dirty="0"/>
          </a:p>
          <a:p>
            <a:r>
              <a:rPr lang="zh-CN" dirty="0"/>
              <a:t>我们来拆解它的三个关键词。第一，这是一个本征方程——算符 Ĥ 作用于函数 ψ，等于一个常数乘以 ψ 本身。【举例】这就像矩阵乘以向量等于数乘以向量，那个向量就叫本征向量。第二，E 是本征值，也就是能量——它不是任意的，只有特定的值才能满足方程。第三，ψ_E 是本征函数，也就是对应能量 E 的空间波函数。</a:t>
            </a:r>
          </a:p>
          <a:p>
            <a:endParaRPr lang="zh-CN" dirty="0"/>
          </a:p>
          <a:p>
            <a:r>
              <a:rPr lang="zh-CN" dirty="0"/>
              <a:t>【提问】大家有没有学过弦的振动？【停顿 5秒】弦只有在特定频率下才能形成驻波，量子粒子也是一样——只有特定能量才能形成稳定的定态。这个类比很有帮助。</a:t>
            </a:r>
          </a:p>
          <a:p>
            <a:endParaRPr lang="zh-CN" dirty="0"/>
          </a:p>
          <a:p>
            <a:r>
              <a:rPr lang="zh-CN" dirty="0"/>
              <a:t>展开形式是 [-ℏ²/2m·∇² + V(r)]ψ = Eψ，这是一个二阶微分方程，具体形式取决于势能 V(r)。</a:t>
            </a:r>
          </a:p>
          <a:p>
            <a:endParaRPr lang="zh-CN" dirty="0"/>
          </a:p>
          <a:p>
            <a:r>
              <a:rPr lang="zh-CN" dirty="0"/>
              <a:t>这里学生容易混淆本征值和本征函数，可以强调：E 是数，ψ 是函数，两者是不同的东西。</a:t>
            </a:r>
          </a:p>
          <a:p>
            <a:endParaRPr lang="zh-CN" dirty="0"/>
          </a:p>
          <a:p>
            <a:r>
              <a:rPr lang="zh-CN" dirty="0"/>
              <a:t>要点：① 本征方程的三个关键词 ② 弦振动类比 ③ 展开形式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现在我们知道了定态薛定谔方程，那么满足这个方程的解——定态——有什么特别的性质呢？</a:t>
            </a:r>
          </a:p>
          <a:p>
            <a:endParaRPr lang="zh-CN" dirty="0"/>
          </a:p>
          <a:p>
            <a:r>
              <a:rPr lang="zh-CN" dirty="0"/>
              <a:t>同学们，定态有三个核心特征，我们一个一个来看。</a:t>
            </a:r>
          </a:p>
          <a:p>
            <a:endParaRPr lang="zh-CN" dirty="0"/>
          </a:p>
          <a:p>
            <a:r>
              <a:rPr lang="zh-CN" dirty="0"/>
              <a:t>【板书】第一个特征：概率密度不随时间变化。完整的定态波函数是 Ψ = ψ(r)·e^(-iEt/ℏ)，取模平方得到 |Ψ|² = |ψ(r)|²。【强调】时间因子 e^(-iEt/ℏ) 的模是 1，所以取模平方后时间完全消失了！这就是"定"的含义——概率分布是固定的。</a:t>
            </a:r>
          </a:p>
          <a:p>
            <a:endParaRPr lang="zh-CN" dirty="0"/>
          </a:p>
          <a:p>
            <a:r>
              <a:rPr lang="zh-CN" dirty="0"/>
              <a:t>【板书】第二个特征：能量具有确定值。在定态中，每次测量能量都会得到同一个值 E，能量的涨落 σ_H = 0。【提问】这和叠加态有什么区别？【停顿 8秒】叠加态测量能量会得到不同结果，但定态不会。</a:t>
            </a:r>
          </a:p>
          <a:p>
            <a:endParaRPr lang="zh-CN" dirty="0"/>
          </a:p>
          <a:p>
            <a:r>
              <a:rPr lang="zh-CN" dirty="0"/>
              <a:t>【板书】第三个特征：任意力学量的期望值不随时间变化。不只是能量，位置、动量等所有可观测量的期望值都是常数。</a:t>
            </a:r>
          </a:p>
          <a:p>
            <a:endParaRPr lang="zh-CN" dirty="0"/>
          </a:p>
          <a:p>
            <a:r>
              <a:rPr lang="zh-CN" dirty="0"/>
              <a:t>这里学生很容易混淆"定态"和"静止"，可以强调：定态的概率分布不变，但粒子并不是静止的，它仍然有动量。</a:t>
            </a:r>
          </a:p>
          <a:p>
            <a:endParaRPr lang="zh-CN" dirty="0"/>
          </a:p>
          <a:p>
            <a:r>
              <a:rPr lang="zh-CN" dirty="0"/>
              <a:t>要点：① 三个特征的数学来源 ② 定态 ≠ 静止 ③ 与叠加态的对比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好，定态的理论我们讲完了。现在我们来看一个具体的模型，把理论用起来。</a:t>
            </a:r>
          </a:p>
          <a:p>
            <a:endParaRPr lang="zh-CN" dirty="0"/>
          </a:p>
          <a:p>
            <a:r>
              <a:rPr lang="zh-CN" dirty="0"/>
              <a:t>同学们，无限深方势阱是量子力学中最简单、最经典的模型。【板书】势能函数：在 0 到 a 之间 V=0，在外面 V=∞。</a:t>
            </a:r>
          </a:p>
          <a:p>
            <a:endParaRPr lang="zh-CN" dirty="0"/>
          </a:p>
          <a:p>
            <a:r>
              <a:rPr lang="zh-CN" dirty="0"/>
              <a:t>【举例】你可以把它想象成一个完美的盒子——盒子里面没有任何力，粒子自由运动；但盒子的墙是无限厚的，粒子绝对不可能穿出去。</a:t>
            </a:r>
          </a:p>
          <a:p>
            <a:endParaRPr lang="zh-CN" dirty="0"/>
          </a:p>
          <a:p>
            <a:r>
              <a:rPr lang="zh-CN" dirty="0"/>
              <a:t>物理上，这意味着粒子在边界处的波函数必须为零：ψ(0) = 0，ψ(a) = 0。【提问】为什么边界处波函数为零？【停顿 8秒】因为势阱外面 V=∞，波函数在外面为零，而波函数必须连续，所以边界处也为零。</a:t>
            </a:r>
          </a:p>
          <a:p>
            <a:endParaRPr lang="zh-CN" dirty="0"/>
          </a:p>
          <a:p>
            <a:r>
              <a:rPr lang="zh-CN" dirty="0"/>
              <a:t>在势阱内部，V=0，定态薛定谔方程变成 ψ'' + k²ψ = 0，这是一个简谐振动方程，通解是 A sin(kx + δ)。代入边界条件 ψ(0) = 0，得到 δ = 0，所以 ψ(x) = A sin(kx)。</a:t>
            </a:r>
          </a:p>
          <a:p>
            <a:endParaRPr lang="zh-CN" dirty="0"/>
          </a:p>
          <a:p>
            <a:r>
              <a:rPr lang="zh-CN" dirty="0"/>
              <a:t>下一步，我们用另一个边界条件 ψ(a) = 0 来确定 k 的值——这就是能量量子化的来源！</a:t>
            </a:r>
          </a:p>
          <a:p>
            <a:endParaRPr lang="zh-CN" dirty="0"/>
          </a:p>
          <a:p>
            <a:r>
              <a:rPr lang="zh-CN" dirty="0"/>
              <a:t>要点：① 势阱模型的物理图像 ② 边界条件的物理来源 ③ 为能量量子化铺垫</a:t>
            </a:r>
          </a:p>
          <a:p>
            <a:r>
              <a:rPr lang="zh-CN" dirty="0"/>
              <a:t>时长：4分钟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上一页我们得到了 ψ(x) = A sin(kx)，现在用边界条件 ψ(a) = 0 来确定 k。</a:t>
            </a:r>
          </a:p>
          <a:p>
            <a:endParaRPr lang="zh-CN" dirty="0"/>
          </a:p>
          <a:p>
            <a:r>
              <a:rPr lang="zh-CN" dirty="0"/>
              <a:t>同学们，这一步是整个推导的关键。【板书】ψ(a) = A sin(ka) = 0。A 不能为零（否则波函数处处为零，没有物理意义），所以必须 sin(ka) = 0。</a:t>
            </a:r>
          </a:p>
          <a:p>
            <a:endParaRPr lang="zh-CN" dirty="0"/>
          </a:p>
          <a:p>
            <a:r>
              <a:rPr lang="zh-CN" dirty="0"/>
              <a:t>【提问】sin(ka) = 0 意味着什么？【停顿 5秒】意味着 ka = nπ，其中 n 是整数。所以 k = nπ/a，n = 1, 2, 3, ...</a:t>
            </a:r>
          </a:p>
          <a:p>
            <a:endParaRPr lang="zh-CN" dirty="0"/>
          </a:p>
          <a:p>
            <a:r>
              <a:rPr lang="zh-CN" dirty="0"/>
              <a:t>【强调】注意 n 不能取 0，因为那样波函数处处为零；n 也不取负数，因为负数给出的波函数只是正数的负值，物理上等价。</a:t>
            </a:r>
          </a:p>
          <a:p>
            <a:endParaRPr lang="zh-CN" dirty="0"/>
          </a:p>
          <a:p>
            <a:r>
              <a:rPr lang="zh-CN" dirty="0"/>
              <a:t>把 k = nπ/a 代入 k = √(2mE)/ℏ，解出能量：【板书】E_n = n²π²ℏ²/(2ma²) = n²E₁。</a:t>
            </a:r>
          </a:p>
          <a:p>
            <a:endParaRPr lang="zh-CN" dirty="0"/>
          </a:p>
          <a:p>
            <a:r>
              <a:rPr lang="zh-CN" dirty="0"/>
              <a:t>这就是能量量子化！能量只能取 E₁, 4E₁, 9E₁, 16E₁...这些离散的值。</a:t>
            </a:r>
          </a:p>
          <a:p>
            <a:endParaRPr lang="zh-CN" dirty="0"/>
          </a:p>
          <a:p>
            <a:r>
              <a:rPr lang="zh-CN" dirty="0"/>
              <a:t>【强调】特别注意基态能量 E₁ &gt; 0！粒子即使在最低能量状态，也有非零的能量。这就是零点能，是量子力学的独特预言，经典力学中不存在。</a:t>
            </a:r>
          </a:p>
          <a:p>
            <a:endParaRPr lang="zh-CN" dirty="0"/>
          </a:p>
          <a:p>
            <a:r>
              <a:rPr lang="zh-CN" dirty="0"/>
              <a:t>这里学生很容易忘记 n 从 1 开始，可以强调：n=0 时 ψ=0，无物理意义，所以最小量子数是 1。</a:t>
            </a:r>
          </a:p>
          <a:p>
            <a:endParaRPr lang="zh-CN" dirty="0"/>
          </a:p>
          <a:p>
            <a:r>
              <a:rPr lang="zh-CN" dirty="0"/>
              <a:t>要点：① 边界条件导致能量量子化 ② 零点能的存在 ③ 能级间距越来越大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能量量子化了，对应的波函数是什么样的？</a:t>
            </a:r>
          </a:p>
          <a:p>
            <a:endParaRPr lang="zh-CN" dirty="0"/>
          </a:p>
          <a:p>
            <a:r>
              <a:rPr lang="zh-CN" dirty="0"/>
              <a:t>同学们，每个量子数 n 对应一个波函数 ψ_n(x)。【板书】ψ_n(x) = A sin(nπx/a)。归一化后，A = √(2/a)，所以完整形式是 ψ_n(x) = √(2/a)·sin(nπx/a)。</a:t>
            </a:r>
          </a:p>
          <a:p>
            <a:endParaRPr lang="zh-CN" dirty="0"/>
          </a:p>
          <a:p>
            <a:r>
              <a:rPr lang="zh-CN" dirty="0"/>
              <a:t>我们来看图像。n=1 是基态，波函数是半个正弦波，没有节点。n=2 是第一激发态，是一个完整正弦波，有一个节点。n=3 有两个节点。【规律】n 阶波函数有 n-1 个节点。</a:t>
            </a:r>
          </a:p>
          <a:p>
            <a:endParaRPr lang="zh-CN" dirty="0"/>
          </a:p>
          <a:p>
            <a:r>
              <a:rPr lang="zh-CN" dirty="0"/>
              <a:t>这些波函数有四个重要性质。第一，归一化：∫|ψ_n|²dx = 1。第二，正交归一性：∫ψ_m*ψ_n dx = δ_mn，不同能级的波函数互相正交。【举例】这就像坐标轴的单位向量，x轴和y轴互相垂直。</a:t>
            </a:r>
          </a:p>
          <a:p>
            <a:endParaRPr lang="zh-CN" dirty="0"/>
          </a:p>
          <a:p>
            <a:r>
              <a:rPr lang="zh-CN" dirty="0"/>
              <a:t>第三，完备性：任意函数都可以用这些波函数展开，f(x) = Σ c_n ψ_n(x)。第四，展开系数 c_n = ∫ψ_n*f dx，而 |c_n|² 是测量得到能量 E_n 的概率。</a:t>
            </a:r>
          </a:p>
          <a:p>
            <a:endParaRPr lang="zh-CN" dirty="0"/>
          </a:p>
          <a:p>
            <a:r>
              <a:rPr lang="zh-CN" dirty="0"/>
              <a:t>【提问】大家想想，如果 Σ|c_n|² 不等于 1，说明什么？【停顿 8秒】说明波函数没有归一化，概率总和不为 1，这在物理上是不允许的。</a:t>
            </a:r>
          </a:p>
          <a:p>
            <a:endParaRPr lang="zh-CN" dirty="0"/>
          </a:p>
          <a:p>
            <a:r>
              <a:rPr lang="zh-CN" dirty="0"/>
              <a:t>要点：① 波函数的图像规律 ② 正交归一性的类比 ③ 展开系数与概率的关系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理论讲完了，我们来做一道例题，把今天学的内容综合运用一下。</a:t>
            </a:r>
          </a:p>
          <a:p>
            <a:endParaRPr lang="zh-CN" dirty="0"/>
          </a:p>
          <a:p>
            <a:r>
              <a:rPr lang="zh-CN" dirty="0"/>
              <a:t>同学们，我们一起来看这道题。【板书】已知 t=0 时 Ψ(x,0) = Ax(a-x)，求归一化常数 A 和展开系数 c_n。</a:t>
            </a:r>
          </a:p>
          <a:p>
            <a:endParaRPr lang="zh-CN" dirty="0"/>
          </a:p>
          <a:p>
            <a:r>
              <a:rPr lang="zh-CN" dirty="0"/>
              <a:t>第一步，归一化。【板书】∫₀ᵃ |Ax(a-x)|² dx = 1。计算这个积分，用换元法或者直接展开，得到 A²·a⁵/30 = 1，所以 A = √(30/a⁵)。</a:t>
            </a:r>
          </a:p>
          <a:p>
            <a:endParaRPr lang="zh-CN" dirty="0"/>
          </a:p>
          <a:p>
            <a:r>
              <a:rPr lang="zh-CN" dirty="0"/>
              <a:t>第二步，求 c_n。【板书】c_n = ∫₀ᵃ ψ_n*(x)·Ψ(x,0) dx = ∫₀ᵃ √(2/a)·sin(nπx/a)·Ax(a-x) dx。这个积分需要分部积分，计算过程有点繁琐，但结果很漂亮。</a:t>
            </a:r>
          </a:p>
          <a:p>
            <a:endParaRPr lang="zh-CN" dirty="0"/>
          </a:p>
          <a:p>
            <a:r>
              <a:rPr lang="zh-CN" dirty="0"/>
              <a:t>第三步，结果。当 n 为偶数时，c_n = 0。【提问】为什么偶数项为零？【停顿 8秒】因为 sin(nπx/a) 在 n 为偶数时是奇函数（关于 x=a/2 对称），而 x(a-x) 是偶函数，奇偶乘积积分为零。当 n 为奇数时，c_n = 8√15/(nπ)³。</a:t>
            </a:r>
          </a:p>
          <a:p>
            <a:endParaRPr lang="zh-CN" dirty="0"/>
          </a:p>
          <a:p>
            <a:r>
              <a:rPr lang="zh-CN" dirty="0"/>
              <a:t>【强调】这里有两个易错点。第一，n 从 1 开始，不是 0！第二，c_n 不是概率，|c_n|² 才是概率，而且所有 |c_n|² 之和必须等于 1。</a:t>
            </a:r>
          </a:p>
          <a:p>
            <a:endParaRPr lang="zh-CN" dirty="0"/>
          </a:p>
          <a:p>
            <a:r>
              <a:rPr lang="zh-CN" dirty="0"/>
              <a:t>要点：① 三步解题流程 ② 奇偶性分析技巧 ③ 两个易错点</a:t>
            </a:r>
          </a:p>
          <a:p>
            <a:r>
              <a:rPr lang="zh-CN" dirty="0"/>
              <a:t>时长：6分钟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好，例题讲完了，现在轮到大家自己来试试。</a:t>
            </a:r>
          </a:p>
          <a:p>
            <a:endParaRPr lang="zh-CN" dirty="0"/>
          </a:p>
          <a:p>
            <a:r>
              <a:rPr lang="zh-CN" dirty="0"/>
              <a:t>同学们，我给大家两道练习题，请先独立思考两分钟，然后和同桌讨论，最后我们一起来看答案。</a:t>
            </a:r>
          </a:p>
          <a:p>
            <a:endParaRPr lang="zh-CN" dirty="0"/>
          </a:p>
          <a:p>
            <a:r>
              <a:rPr lang="zh-CN" dirty="0"/>
              <a:t>【停顿 2分钟，让学生思考】</a:t>
            </a:r>
          </a:p>
          <a:p>
            <a:endParaRPr lang="zh-CN" dirty="0"/>
          </a:p>
          <a:p>
            <a:r>
              <a:rPr lang="zh-CN" dirty="0"/>
              <a:t>好，我们来看第一题。叠加态 Ψ = (1/√2)ψ₁ + (1/√2)ψ₂，测量能量。【提问】可能得到哪些值？【停顿 5秒】只能得到 E₁ 或 E₂，因为这个叠加态只包含这两个本征态。得到 E₁ 的概率是 |1/√2|² = 1/2，得到 E₂ 的概率也是 1/2。</a:t>
            </a:r>
          </a:p>
          <a:p>
            <a:endParaRPr lang="zh-CN" dirty="0"/>
          </a:p>
          <a:p>
            <a:r>
              <a:rPr lang="zh-CN" dirty="0"/>
              <a:t>第二题，势阱宽度减半。【板书】E₁ = π²ℏ²/(2ma²)，a 变成 a/2，E₁ 变成 π²ℏ²/(2m(a/2)²) = 4·π²ℏ²/(2ma²) = 4E₁。【强调】能量变为原来的 4 倍！</a:t>
            </a:r>
          </a:p>
          <a:p>
            <a:endParaRPr lang="zh-CN" dirty="0"/>
          </a:p>
          <a:p>
            <a:r>
              <a:rPr lang="zh-CN" dirty="0"/>
              <a:t>这说明什么？【提问】把粒子限制得越紧，它的能量越高。这正是不确定性原理的体现——位置不确定度越小，动量不确定度越大，能量越高。</a:t>
            </a:r>
          </a:p>
          <a:p>
            <a:endParaRPr lang="zh-CN" dirty="0"/>
          </a:p>
          <a:p>
            <a:r>
              <a:rPr lang="zh-CN" dirty="0"/>
              <a:t>这里学生很容易在第二题中算错，把 a/2 代入时忘记平方，可以强调：a 在分母的平方位置，所以 a 减半，E 变为 4 倍。</a:t>
            </a:r>
          </a:p>
          <a:p>
            <a:endParaRPr lang="zh-CN" dirty="0"/>
          </a:p>
          <a:p>
            <a:r>
              <a:rPr lang="zh-CN" dirty="0"/>
              <a:t>要点：① 叠加态的概率计算 ② 势阱宽度与能量的反比平方关系 ③ 联系不确定性原理</a:t>
            </a:r>
          </a:p>
          <a:p>
            <a:r>
              <a:rPr lang="zh-CN" dirty="0"/>
              <a:t>时长：5分钟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好，今天的内容我们全部讲完了，最后来做一个总结。</a:t>
            </a:r>
          </a:p>
          <a:p>
            <a:endParaRPr lang="zh-CN" dirty="0"/>
          </a:p>
          <a:p>
            <a:r>
              <a:rPr lang="zh-CN" dirty="0"/>
              <a:t>同学们，我们回头看看今天的四个学习目标，一一对照。</a:t>
            </a:r>
          </a:p>
          <a:p>
            <a:endParaRPr lang="zh-CN" dirty="0"/>
          </a:p>
          <a:p>
            <a:r>
              <a:rPr lang="zh-CN" dirty="0"/>
              <a:t>第一，能说出定态的定义和三个特征——概率密度不变、能量确定、期望值不随时间变化。【提问】大家现在能说出来吗？【停顿 5秒】</a:t>
            </a:r>
          </a:p>
          <a:p>
            <a:endParaRPr lang="zh-CN" dirty="0"/>
          </a:p>
          <a:p>
            <a:r>
              <a:rPr lang="zh-CN" dirty="0"/>
              <a:t>第二，能解释概率密度为何不随时间变化——时间因子 e^(-iEt/ℏ) 取模平方等于 1，时间消失了。</a:t>
            </a:r>
          </a:p>
          <a:p>
            <a:endParaRPr lang="zh-CN" dirty="0"/>
          </a:p>
          <a:p>
            <a:r>
              <a:rPr lang="zh-CN" dirty="0"/>
              <a:t>第三，会运用分离变量法——Ψ = ψ·f，代入方程，分离常数就是能量 E。</a:t>
            </a:r>
          </a:p>
          <a:p>
            <a:endParaRPr lang="zh-CN" dirty="0"/>
          </a:p>
          <a:p>
            <a:r>
              <a:rPr lang="zh-CN" dirty="0"/>
              <a:t>第四，会判断无限深方势阱的能级和波函数——E_n = n²E₁，ψ_n = √(2/a)·sin(nπx/a)。</a:t>
            </a:r>
          </a:p>
          <a:p>
            <a:endParaRPr lang="zh-CN" dirty="0"/>
          </a:p>
          <a:p>
            <a:r>
              <a:rPr lang="zh-CN" dirty="0"/>
              <a:t>【强调】今天最重要的一个物理洞察是：能量量子化不是人为假设，而是边界条件的数学必然结果。这个思想贯穿整个量子力学。</a:t>
            </a:r>
          </a:p>
          <a:p>
            <a:endParaRPr lang="zh-CN" dirty="0"/>
          </a:p>
          <a:p>
            <a:r>
              <a:rPr lang="zh-CN" dirty="0"/>
              <a:t>课后作业是 Griffiths 2.2 和 2.3，还有一道思考题：为什么量子粒子不能静止？请联系不确定性原理来思考。</a:t>
            </a:r>
          </a:p>
          <a:p>
            <a:endParaRPr lang="zh-CN" dirty="0"/>
          </a:p>
          <a:p>
            <a:r>
              <a:rPr lang="zh-CN" dirty="0"/>
              <a:t>下一讲我们会学量子谐振子，会用到今天学的本征函数展开方法，请大家预习 Griffiths 2.3 节。</a:t>
            </a:r>
          </a:p>
          <a:p>
            <a:endParaRPr lang="zh-CN" dirty="0"/>
          </a:p>
          <a:p>
            <a:r>
              <a:rPr lang="zh-CN" dirty="0"/>
              <a:t>【停顿】好，今天的课就到这里，有问题的同学课后来找我。下课！</a:t>
            </a:r>
          </a:p>
          <a:p>
            <a:endParaRPr lang="zh-CN" dirty="0"/>
          </a:p>
          <a:p>
            <a:r>
              <a:rPr lang="zh-CN" dirty="0"/>
              <a:t>要点：① 对照学习目标逐一回顾 ② 强调核心物理洞察 ③ 布置作业和预习任务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