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这是本讲的开场。</a:t>
            </a:r>
          </a:p>
          <a:p>
            <a:endParaRPr lang="zh-CN" dirty="0"/>
          </a:p>
          <a:p>
            <a:r>
              <a:rPr lang="zh-CN" dirty="0"/>
              <a:t>同学们好，欢迎来到量子力学第四讲。今天我们要进入一个非常核心的主题——定态，以及量子力学中最经典的模型：一维无限深方势阱。</a:t>
            </a:r>
          </a:p>
          <a:p>
            <a:endParaRPr lang="zh-CN" dirty="0"/>
          </a:p>
          <a:p>
            <a:r>
              <a:rPr lang="zh-CN" dirty="0"/>
              <a:t>【停顿】在我们开始之前，我想先问大家一个问题：【提问】你们觉得，一个粒子被"关"在一个盒子里，它的能量可以是任意值吗？先不要急着回答，带着这个问题，我们一起来看今天的内容。</a:t>
            </a:r>
          </a:p>
          <a:p>
            <a:endParaRPr lang="zh-CN" dirty="0"/>
          </a:p>
          <a:p>
            <a:r>
              <a:rPr lang="zh-CN" dirty="0"/>
              <a:t>本讲的内容分两大块：第一块是定态的概念和性质，第二块是无限深方势阱这个具体模型。这两块内容是紧密相连的——我们会用定态的理论框架来分析势阱问题。</a:t>
            </a:r>
          </a:p>
          <a:p>
            <a:endParaRPr lang="zh-CN" dirty="0"/>
          </a:p>
          <a:p>
            <a:r>
              <a:rPr lang="zh-CN" dirty="0"/>
              <a:t>要点：① 定态是量子力学的核心概念 ② 无限深方势阱是最简单的量子模型 ③ 两者通过定态薛定谔方程联系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在正式讲课之前，我们先来明确今天的学习目标。</a:t>
            </a:r>
          </a:p>
          <a:p>
            <a:endParaRPr lang="zh-CN" dirty="0"/>
          </a:p>
          <a:p>
            <a:r>
              <a:rPr lang="zh-CN" dirty="0"/>
              <a:t>同学们，我把今天的目标用四个动词来概括：能说出、能解释、会运用、会判断。注意，我没有用"了解"或者"掌握"这样模糊的词——我希望大家学完之后，能够做到这四件具体的事情。</a:t>
            </a:r>
          </a:p>
          <a:p>
            <a:endParaRPr lang="zh-CN" dirty="0"/>
          </a:p>
          <a:p>
            <a:r>
              <a:rPr lang="zh-CN" dirty="0"/>
              <a:t>【板书】第一，能说出定态的定义和三个核心特征。第二，能解释为什么定态的概率密度不随时间变化——这个"为什么"很重要，不是死记结论，而是要理解背后的数学原因。第三，会运用分离变量法推导定态薛定谔方程。第四，会判断无限深方势阱中粒子的允许能级和波函数形式。</a:t>
            </a:r>
          </a:p>
          <a:p>
            <a:endParaRPr lang="zh-CN" dirty="0"/>
          </a:p>
          <a:p>
            <a:r>
              <a:rPr lang="zh-CN" dirty="0"/>
              <a:t>【提问】大家现在对这四个目标有没有感觉哪个最难？【停顿 5秒】好，不管你觉得哪个难，我们今天都会一步一步把它讲清楚。</a:t>
            </a:r>
          </a:p>
          <a:p>
            <a:endParaRPr lang="zh-CN" dirty="0"/>
          </a:p>
          <a:p>
            <a:r>
              <a:rPr lang="zh-CN" dirty="0"/>
              <a:t>要点：① 四个具体可检验的学习目标 ② 强调理解而非死记 ③ 激发学生预期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好，目标明确了，我们来看第一个问题：一个粒子被关在盒子里，会发生什么？</a:t>
            </a:r>
          </a:p>
          <a:p>
            <a:endParaRPr lang="zh-CN" dirty="0"/>
          </a:p>
          <a:p>
            <a:r>
              <a:rPr lang="zh-CN" dirty="0"/>
              <a:t>同学们，我们先来做一个对比。【板书】左边是经典粒子，右边是量子粒子。</a:t>
            </a:r>
          </a:p>
          <a:p>
            <a:endParaRPr lang="zh-CN" dirty="0"/>
          </a:p>
          <a:p>
            <a:r>
              <a:rPr lang="zh-CN" dirty="0"/>
              <a:t>经典粒子的情况大家都很熟悉——一个小球在盒子里弹来弹去，速度可以是任意值，能量可以连续变化，理论上可以静止，位置可以精确确定。这完全符合我们的日常直觉。</a:t>
            </a:r>
          </a:p>
          <a:p>
            <a:endParaRPr lang="zh-CN" dirty="0"/>
          </a:p>
          <a:p>
            <a:r>
              <a:rPr lang="zh-CN" dirty="0"/>
              <a:t>【停顿】但是量子粒子呢？【提问】如果我告诉你，量子粒子在盒子里只能有特定的速度，能量只能取离散的值，而且永远不能静止——你相信吗？</a:t>
            </a:r>
          </a:p>
          <a:p>
            <a:endParaRPr lang="zh-CN" dirty="0"/>
          </a:p>
          <a:p>
            <a:r>
              <a:rPr lang="zh-CN" dirty="0"/>
              <a:t>这不是科幻，这是实验事实。【强调】量子粒子的能量是量子化的，这是量子力学最根本的特征之一。今天我们就要从数学上推导出这个结论，看看它是怎么来的。</a:t>
            </a:r>
          </a:p>
          <a:p>
            <a:endParaRPr lang="zh-CN" dirty="0"/>
          </a:p>
          <a:p>
            <a:r>
              <a:rPr lang="zh-CN" dirty="0"/>
              <a:t>这里学生很容易觉得"量子化"是人为假设的，可以强调：量子化是边界条件的数学必然结果，不是假设。</a:t>
            </a:r>
          </a:p>
          <a:p>
            <a:endParaRPr lang="zh-CN" dirty="0"/>
          </a:p>
          <a:p>
            <a:r>
              <a:rPr lang="zh-CN" dirty="0"/>
              <a:t>要点：① 经典与量子的鲜明对比 ② 激发认知冲突 ③ 预告推导方向</a:t>
            </a:r>
          </a:p>
          <a:p>
            <a:r>
              <a:rPr lang="zh-CN" dirty="0"/>
              <a:t>时长：3分钟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好，我们现在开始正式推导。第一步，我们要解决一个问题：含时薛定谔方程怎么求解？</a:t>
            </a:r>
          </a:p>
          <a:p>
            <a:endParaRPr lang="zh-CN" dirty="0"/>
          </a:p>
          <a:p>
            <a:r>
              <a:rPr lang="zh-CN" dirty="0"/>
              <a:t>同学们，含时薛定谔方程是一个偏微分方程，同时含有空间变量 r 和时间变量 t，直接求解很困难。【板书】我们用一个经典的数学技巧——分离变量法。</a:t>
            </a:r>
          </a:p>
          <a:p>
            <a:endParaRPr lang="zh-CN" dirty="0"/>
          </a:p>
          <a:p>
            <a:r>
              <a:rPr lang="zh-CN" dirty="0"/>
              <a:t>核心假设是：假设波函数可以写成空间部分和时间部分的乘积，Ψ(r,t) = ψ(r)·f(t)。【提问】大家想想，为什么可以这样假设？【停顿 10秒】</a:t>
            </a:r>
          </a:p>
          <a:p>
            <a:endParaRPr lang="zh-CN" dirty="0"/>
          </a:p>
          <a:p>
            <a:r>
              <a:rPr lang="zh-CN" dirty="0"/>
              <a:t>这个假设不是对所有情况都成立，但对于我们要找的"定态"解，它是成立的。把这个假设代入薛定谔方程，神奇的事情发生了——方程的左边只含 t，右边只含 r。</a:t>
            </a:r>
          </a:p>
          <a:p>
            <a:endParaRPr lang="zh-CN" dirty="0"/>
          </a:p>
          <a:p>
            <a:r>
              <a:rPr lang="zh-CN" dirty="0"/>
              <a:t>【强调】两边各自只含一个变量，但它们相等，这意味着两边都必须等于同一个常数。我们把这个常数叫做 E——它就是粒子的能量！</a:t>
            </a:r>
          </a:p>
          <a:p>
            <a:endParaRPr lang="zh-CN" dirty="0"/>
          </a:p>
          <a:p>
            <a:r>
              <a:rPr lang="zh-CN" dirty="0"/>
              <a:t>这样，一个偏微分方程就分解成了两个常微分方程：时间方程给出 f(t) = e^(-iEt/ℏ)，空间方程就是我们下一页要讲的定态薛定谔方程。</a:t>
            </a:r>
          </a:p>
          <a:p>
            <a:endParaRPr lang="zh-CN" dirty="0"/>
          </a:p>
          <a:p>
            <a:r>
              <a:rPr lang="zh-CN" dirty="0"/>
              <a:t>要点：① 分离变量法的核心思路 ② 分离常数 E 的物理意义 ③ 为下一页铺垫</a:t>
            </a:r>
          </a:p>
          <a:p>
            <a:r>
              <a:rPr lang="zh-CN" dirty="0"/>
              <a:t>时长：4分钟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上一步我们得到了空间方程，现在我们来仔细看看这个方程——它就是大名鼎鼎的定态薛定谔方程。</a:t>
            </a:r>
          </a:p>
          <a:p>
            <a:endParaRPr lang="zh-CN" dirty="0"/>
          </a:p>
          <a:p>
            <a:r>
              <a:rPr lang="zh-CN" dirty="0"/>
              <a:t>同学们，【板书】Ĥψ = Eψ。这个方程看起来很简单，但它是量子力学中最重要的方程之一。</a:t>
            </a:r>
          </a:p>
          <a:p>
            <a:endParaRPr lang="zh-CN" dirty="0"/>
          </a:p>
          <a:p>
            <a:r>
              <a:rPr lang="zh-CN" dirty="0"/>
              <a:t>我们来拆解它的三个关键词。第一，这是一个本征方程——算符 Ĥ 作用于函数 ψ，等于一个常数乘以 ψ 本身。【举例】这就像矩阵乘以向量等于数乘以向量，那个向量就叫本征向量。第二，E 是本征值，也就是能量——它不是任意的，只有特定的值才能满足方程。第三，ψ_E 是本征函数，也就是对应能量 E 的空间波函数。</a:t>
            </a:r>
          </a:p>
          <a:p>
            <a:endParaRPr lang="zh-CN" dirty="0"/>
          </a:p>
          <a:p>
            <a:r>
              <a:rPr lang="zh-CN" dirty="0"/>
              <a:t>【提问】大家有没有学过弦的振动？【停顿 5秒】弦只有在特定频率下才能形成驻波，量子粒子也是一样——只有特定能量才能形成稳定的定态。这个类比很有帮助。</a:t>
            </a:r>
          </a:p>
          <a:p>
            <a:endParaRPr lang="zh-CN" dirty="0"/>
          </a:p>
          <a:p>
            <a:r>
              <a:rPr lang="zh-CN" dirty="0"/>
              <a:t>展开形式是 [-ℏ²/2m·∇² + V(r)]ψ = Eψ，这是一个二阶微分方程，具体形式取决于势能 V(r)。</a:t>
            </a:r>
          </a:p>
          <a:p>
            <a:endParaRPr lang="zh-CN" dirty="0"/>
          </a:p>
          <a:p>
            <a:r>
              <a:rPr lang="zh-CN" dirty="0"/>
              <a:t>这里学生容易混淆本征值和本征函数，可以强调：E 是数，ψ 是函数，两者是不同的东西。</a:t>
            </a:r>
          </a:p>
          <a:p>
            <a:endParaRPr lang="zh-CN" dirty="0"/>
          </a:p>
          <a:p>
            <a:r>
              <a:rPr lang="zh-CN" dirty="0"/>
              <a:t>要点：① 本征方程的三个关键词 ② 弦振动类比 ③ 展开形式</a:t>
            </a:r>
          </a:p>
          <a:p>
            <a:r>
              <a:rPr lang="zh-CN" dirty="0"/>
              <a:t>时长：4分钟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现在我们知道了定态薛定谔方程，那么满足这个方程的解——定态——有什么特别的性质呢？</a:t>
            </a:r>
          </a:p>
          <a:p>
            <a:endParaRPr lang="zh-CN" dirty="0"/>
          </a:p>
          <a:p>
            <a:r>
              <a:rPr lang="zh-CN" dirty="0"/>
              <a:t>同学们，定态有三个核心特征，我们一个一个来看。</a:t>
            </a:r>
          </a:p>
          <a:p>
            <a:endParaRPr lang="zh-CN" dirty="0"/>
          </a:p>
          <a:p>
            <a:r>
              <a:rPr lang="zh-CN" dirty="0"/>
              <a:t>【板书】第一个特征：概率密度不随时间变化。完整的定态波函数是 Ψ = ψ(r)·e^(-iEt/ℏ)，取模平方得到 |Ψ|² = |ψ(r)|²。【强调】时间因子 e^(-iEt/ℏ) 的模是 1，所以取模平方后时间完全消失了！这就是"定"的含义——概率分布是固定的。</a:t>
            </a:r>
          </a:p>
          <a:p>
            <a:endParaRPr lang="zh-CN" dirty="0"/>
          </a:p>
          <a:p>
            <a:r>
              <a:rPr lang="zh-CN" dirty="0"/>
              <a:t>【板书】第二个特征：能量具有确定值。在定态中，每次测量能量都会得到同一个值 E，能量的涨落 σ_H = 0。【提问】这和叠加态有什么区别？【停顿 8秒】叠加态测量能量会得到不同结果，但定态不会。</a:t>
            </a:r>
          </a:p>
          <a:p>
            <a:endParaRPr lang="zh-CN" dirty="0"/>
          </a:p>
          <a:p>
            <a:r>
              <a:rPr lang="zh-CN" dirty="0"/>
              <a:t>【板书】第三个特征：任意力学量的期望值不随时间变化。不只是能量，位置、动量等所有可观测量的期望值都是常数。</a:t>
            </a:r>
          </a:p>
          <a:p>
            <a:endParaRPr lang="zh-CN" dirty="0"/>
          </a:p>
          <a:p>
            <a:r>
              <a:rPr lang="zh-CN" dirty="0"/>
              <a:t>这里学生很容易混淆"定态"和"静止"，可以强调：定态的概率分布不变，但粒子并不是静止的，它仍然有动量。</a:t>
            </a:r>
          </a:p>
          <a:p>
            <a:endParaRPr lang="zh-CN" dirty="0"/>
          </a:p>
          <a:p>
            <a:r>
              <a:rPr lang="zh-CN" dirty="0"/>
              <a:t>要点：① 三个特征的数学来源 ② 定态 ≠ 静止 ③ 与叠加态的对比</a:t>
            </a:r>
          </a:p>
          <a:p>
            <a:r>
              <a:rPr lang="zh-CN" dirty="0"/>
              <a:t>时长：4分钟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好，定态的理论我们讲完了。现在我们来看一个具体的模型，把理论用起来。</a:t>
            </a:r>
          </a:p>
          <a:p>
            <a:endParaRPr lang="zh-CN" dirty="0"/>
          </a:p>
          <a:p>
            <a:r>
              <a:rPr lang="zh-CN" dirty="0"/>
              <a:t>同学们，无限深方势阱是量子力学中最简单、最经典的模型。【板书】势能函数：在 0 到 a 之间 V=0，在外面 V=∞。</a:t>
            </a:r>
          </a:p>
          <a:p>
            <a:endParaRPr lang="zh-CN" dirty="0"/>
          </a:p>
          <a:p>
            <a:r>
              <a:rPr lang="zh-CN" dirty="0"/>
              <a:t>【举例】你可以把它想象成一个完美的盒子——盒子里面没有任何力，粒子自由运动；但盒子的墙是无限厚的，粒子绝对不可能穿出去。</a:t>
            </a:r>
          </a:p>
          <a:p>
            <a:endParaRPr lang="zh-CN" dirty="0"/>
          </a:p>
          <a:p>
            <a:r>
              <a:rPr lang="zh-CN" dirty="0"/>
              <a:t>物理上，这意味着粒子在边界处的波函数必须为零：ψ(0) = 0，ψ(a) = 0。【提问】为什么边界处波函数为零？【停顿 8秒】因为势阱外面 V=∞，波函数在外面为零，而波函数必须连续，所以边界处也为零。</a:t>
            </a:r>
          </a:p>
          <a:p>
            <a:endParaRPr lang="zh-CN" dirty="0"/>
          </a:p>
          <a:p>
            <a:r>
              <a:rPr lang="zh-CN" dirty="0"/>
              <a:t>在势阱内部，V=0，定态薛定谔方程变成 ψ'' + k²ψ = 0，这是一个简谐振动方程，通解是 A sin(kx + δ)。代入边界条件 ψ(0) = 0，得到 δ = 0，所以 ψ(x) = A sin(kx)。</a:t>
            </a:r>
          </a:p>
          <a:p>
            <a:endParaRPr lang="zh-CN" dirty="0"/>
          </a:p>
          <a:p>
            <a:r>
              <a:rPr lang="zh-CN" dirty="0"/>
              <a:t>下一步，我们用另一个边界条件 ψ(a) = 0 来确定 k 的值——这就是能量量子化的来源！</a:t>
            </a:r>
          </a:p>
          <a:p>
            <a:endParaRPr lang="zh-CN" dirty="0"/>
          </a:p>
          <a:p>
            <a:r>
              <a:rPr lang="zh-CN" dirty="0"/>
              <a:t>要点：① 势阱模型的物理图像 ② 边界条件的物理来源 ③ 为能量量子化铺垫</a:t>
            </a:r>
          </a:p>
          <a:p>
            <a:r>
              <a:rPr lang="zh-CN" dirty="0"/>
              <a:t>时长：4分钟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上一页我们得到了 ψ(x) = A sin(kx)，现在用边界条件 ψ(a) = 0 来确定 k。</a:t>
            </a:r>
          </a:p>
          <a:p>
            <a:endParaRPr lang="zh-CN" dirty="0"/>
          </a:p>
          <a:p>
            <a:r>
              <a:rPr lang="zh-CN" dirty="0"/>
              <a:t>同学们，这一步是整个推导的关键。【板书】ψ(a) = A sin(ka) = 0。A 不能为零（否则波函数处处为零，没有物理意义），所以必须 sin(ka) = 0。</a:t>
            </a:r>
          </a:p>
          <a:p>
            <a:endParaRPr lang="zh-CN" dirty="0"/>
          </a:p>
          <a:p>
            <a:r>
              <a:rPr lang="zh-CN" dirty="0"/>
              <a:t>【提问】sin(ka) = 0 意味着什么？【停顿 5秒】意味着 ka = nπ，其中 n 是整数。所以 k = nπ/a，n = 1, 2, 3, ...</a:t>
            </a:r>
          </a:p>
          <a:p>
            <a:endParaRPr lang="zh-CN" dirty="0"/>
          </a:p>
          <a:p>
            <a:r>
              <a:rPr lang="zh-CN" dirty="0"/>
              <a:t>【强调】注意 n 不能取 0，因为那样波函数处处为零；n 也不取负数，因为负数给出的波函数只是正数的负值，物理上等价。</a:t>
            </a:r>
          </a:p>
          <a:p>
            <a:endParaRPr lang="zh-CN" dirty="0"/>
          </a:p>
          <a:p>
            <a:r>
              <a:rPr lang="zh-CN" dirty="0"/>
              <a:t>把 k = nπ/a 代入 k = √(2mE)/ℏ，解出能量：【板书】E_n = n²π²ℏ²/(2ma²) = n²E₁。</a:t>
            </a:r>
          </a:p>
          <a:p>
            <a:endParaRPr lang="zh-CN" dirty="0"/>
          </a:p>
          <a:p>
            <a:r>
              <a:rPr lang="zh-CN" dirty="0"/>
              <a:t>这就是能量量子化！能量只能取 E₁, 4E₁, 9E₁, 16E₁...这些离散的值。</a:t>
            </a:r>
          </a:p>
          <a:p>
            <a:endParaRPr lang="zh-CN" dirty="0"/>
          </a:p>
          <a:p>
            <a:r>
              <a:rPr lang="zh-CN" dirty="0"/>
              <a:t>【强调】特别注意基态能量 E₁ &gt; 0！粒子即使在最低能量状态，也有非零的能量。这就是零点能，是量子力学的独特预言，经典力学中不存在。</a:t>
            </a:r>
          </a:p>
          <a:p>
            <a:endParaRPr lang="zh-CN" dirty="0"/>
          </a:p>
          <a:p>
            <a:r>
              <a:rPr lang="zh-CN" dirty="0"/>
              <a:t>这里学生很容易忘记 n 从 1 开始，可以强调：n=0 时 ψ=0，无物理意义，所以最小量子数是 1。</a:t>
            </a:r>
          </a:p>
          <a:p>
            <a:endParaRPr lang="zh-CN" dirty="0"/>
          </a:p>
          <a:p>
            <a:r>
              <a:rPr lang="zh-CN" dirty="0"/>
              <a:t>要点：① 边界条件导致能量量子化 ② 零点能的存在 ③ 能级间距越来越大</a:t>
            </a:r>
          </a:p>
          <a:p>
            <a:r>
              <a:rPr lang="zh-CN" dirty="0"/>
              <a:t>时长：5分钟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能量量子化了，对应的波函数是什么样的？</a:t>
            </a:r>
          </a:p>
          <a:p>
            <a:endParaRPr lang="zh-CN" dirty="0"/>
          </a:p>
          <a:p>
            <a:r>
              <a:rPr lang="zh-CN" dirty="0"/>
              <a:t>同学们，每个量子数 n 对应一个波函数 ψ_n(x)。【板书】ψ_n(x) = A sin(nπx/a)。归一化后，A = √(2/a)，所以完整形式是 ψ_n(x) = √(2/a)·sin(nπx/a)。</a:t>
            </a:r>
          </a:p>
          <a:p>
            <a:endParaRPr lang="zh-CN" dirty="0"/>
          </a:p>
          <a:p>
            <a:r>
              <a:rPr lang="zh-CN" dirty="0"/>
              <a:t>我们来看图像。n=1 是基态，波函数是半个正弦波，没有节点。n=2 是第一激发态，是一个完整正弦波，有一个节点。n=3 有两个节点。【规律】n 阶波函数有 n-1 个节点。</a:t>
            </a:r>
          </a:p>
          <a:p>
            <a:endParaRPr lang="zh-CN" dirty="0"/>
          </a:p>
          <a:p>
            <a:r>
              <a:rPr lang="zh-CN" dirty="0"/>
              <a:t>这些波函数有四个重要性质。第一，归一化：∫|ψ_n|²dx = 1。第二，正交归一性：∫ψ_m*ψ_n dx = δ_mn，不同能级的波函数互相正交。【举例】这就像坐标轴的单位向量，x轴和y轴互相垂直。</a:t>
            </a:r>
          </a:p>
          <a:p>
            <a:endParaRPr lang="zh-CN" dirty="0"/>
          </a:p>
          <a:p>
            <a:r>
              <a:rPr lang="zh-CN" dirty="0"/>
              <a:t>第三，完备性：任意函数都可以用这些波函数展开，f(x) = Σ c_n ψ_n(x)。第四，展开系数 c_n = ∫ψ_n*f dx，而 |c_n|² 是测量得到能量 E_n 的概率。</a:t>
            </a:r>
          </a:p>
          <a:p>
            <a:endParaRPr lang="zh-CN" dirty="0"/>
          </a:p>
          <a:p>
            <a:r>
              <a:rPr lang="zh-CN" dirty="0"/>
              <a:t>【提问】大家想想，如果 Σ|c_n|² 不等于 1，说明什么？【停顿 8秒】说明波函数没有归一化，概率总和不为 1，这在物理上是不允许的。</a:t>
            </a:r>
          </a:p>
          <a:p>
            <a:endParaRPr lang="zh-CN" dirty="0"/>
          </a:p>
          <a:p>
            <a:r>
              <a:rPr lang="zh-CN" dirty="0"/>
              <a:t>要点：① 波函数的图像规律 ② 正交归一性的类比 ③ 展开系数与概率的关系</a:t>
            </a:r>
          </a:p>
          <a:p>
            <a:r>
              <a:rPr lang="zh-CN" dirty="0"/>
              <a:t>时长：5分钟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理论讲完了，我们来做一道例题，把今天学的内容综合运用一下。</a:t>
            </a:r>
          </a:p>
          <a:p>
            <a:endParaRPr lang="zh-CN" dirty="0"/>
          </a:p>
          <a:p>
            <a:r>
              <a:rPr lang="zh-CN" dirty="0"/>
              <a:t>同学们，我们一起来看这道题。【板书】已知 t=0 时 Ψ(x,0) = Ax(a-x)，求归一化常数 A 和展开系数 c_n。</a:t>
            </a:r>
          </a:p>
          <a:p>
            <a:endParaRPr lang="zh-CN" dirty="0"/>
          </a:p>
          <a:p>
            <a:r>
              <a:rPr lang="zh-CN" dirty="0"/>
              <a:t>第一步，归一化。【板书】∫₀ᵃ |Ax(a-x)|² dx = 1。计算这个积分，用换元法或者直接展开，得到 A²·a⁵/30 = 1，所以 A = √(30/a⁵)。</a:t>
            </a:r>
          </a:p>
          <a:p>
            <a:endParaRPr lang="zh-CN" dirty="0"/>
          </a:p>
          <a:p>
            <a:r>
              <a:rPr lang="zh-CN" dirty="0"/>
              <a:t>第二步，求 c_n。【板书】c_n = ∫₀ᵃ ψ_n*(x)·Ψ(x,0) dx = ∫₀ᵃ √(2/a)·sin(nπx/a)·Ax(a-x) dx。这个积分需要分部积分，计算过程有点繁琐，但结果很漂亮。</a:t>
            </a:r>
          </a:p>
          <a:p>
            <a:endParaRPr lang="zh-CN" dirty="0"/>
          </a:p>
          <a:p>
            <a:r>
              <a:rPr lang="zh-CN" dirty="0"/>
              <a:t>第三步，结果。当 n 为偶数时，c_n = 0。【提问】为什么偶数项为零？【停顿 8秒】因为 sin(nπx/a) 在 n 为偶数时是奇函数（关于 x=a/2 对称），而 x(a-x) 是偶函数，奇偶乘积积分为零。当 n 为奇数时，c_n = 8√15/(nπ)³。</a:t>
            </a:r>
          </a:p>
          <a:p>
            <a:endParaRPr lang="zh-CN" dirty="0"/>
          </a:p>
          <a:p>
            <a:r>
              <a:rPr lang="zh-CN" dirty="0"/>
              <a:t>【强调】这里有两个易错点。第一，n 从 1 开始，不是 0！第二，c_n 不是概率，|c_n|² 才是概率，而且所有 |c_n|² 之和必须等于 1。</a:t>
            </a:r>
          </a:p>
          <a:p>
            <a:endParaRPr lang="zh-CN" dirty="0"/>
          </a:p>
          <a:p>
            <a:r>
              <a:rPr lang="zh-CN" dirty="0"/>
              <a:t>要点：① 三步解题流程 ② 奇偶性分析技巧 ③ 两个易错点</a:t>
            </a:r>
          </a:p>
          <a:p>
            <a:r>
              <a:rPr lang="zh-CN" dirty="0"/>
              <a:t>时长：6分钟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好，例题讲完了，现在轮到大家自己来试试。</a:t>
            </a:r>
          </a:p>
          <a:p>
            <a:endParaRPr lang="zh-CN" dirty="0"/>
          </a:p>
          <a:p>
            <a:r>
              <a:rPr lang="zh-CN" dirty="0"/>
              <a:t>同学们，我给大家两道练习题，请先独立思考两分钟，然后和同桌讨论，最后我们一起来看答案。</a:t>
            </a:r>
          </a:p>
          <a:p>
            <a:endParaRPr lang="zh-CN" dirty="0"/>
          </a:p>
          <a:p>
            <a:r>
              <a:rPr lang="zh-CN" dirty="0"/>
              <a:t>【停顿 2分钟，让学生思考】</a:t>
            </a:r>
          </a:p>
          <a:p>
            <a:endParaRPr lang="zh-CN" dirty="0"/>
          </a:p>
          <a:p>
            <a:r>
              <a:rPr lang="zh-CN" dirty="0"/>
              <a:t>好，我们来看第一题。叠加态 Ψ = (1/√2)ψ₁ + (1/√2)ψ₂，测量能量。【提问】可能得到哪些值？【停顿 5秒】只能得到 E₁ 或 E₂，因为这个叠加态只包含这两个本征态。得到 E₁ 的概率是 |1/√2|² = 1/2，得到 E₂ 的概率也是 1/2。</a:t>
            </a:r>
          </a:p>
          <a:p>
            <a:endParaRPr lang="zh-CN" dirty="0"/>
          </a:p>
          <a:p>
            <a:r>
              <a:rPr lang="zh-CN" dirty="0"/>
              <a:t>第二题，势阱宽度减半。【板书】E₁ = π²ℏ²/(2ma²)，a 变成 a/2，E₁ 变成 π²ℏ²/(2m(a/2)²) = 4·π²ℏ²/(2ma²) = 4E₁。【强调】能量变为原来的 4 倍！</a:t>
            </a:r>
          </a:p>
          <a:p>
            <a:endParaRPr lang="zh-CN" dirty="0"/>
          </a:p>
          <a:p>
            <a:r>
              <a:rPr lang="zh-CN" dirty="0"/>
              <a:t>这说明什么？【提问】把粒子限制得越紧，它的能量越高。这正是不确定性原理的体现——位置不确定度越小，动量不确定度越大，能量越高。</a:t>
            </a:r>
          </a:p>
          <a:p>
            <a:endParaRPr lang="zh-CN" dirty="0"/>
          </a:p>
          <a:p>
            <a:r>
              <a:rPr lang="zh-CN" dirty="0"/>
              <a:t>这里学生很容易在第二题中算错，把 a/2 代入时忘记平方，可以强调：a 在分母的平方位置，所以 a 减半，E 变为 4 倍。</a:t>
            </a:r>
          </a:p>
          <a:p>
            <a:endParaRPr lang="zh-CN" dirty="0"/>
          </a:p>
          <a:p>
            <a:r>
              <a:rPr lang="zh-CN" dirty="0"/>
              <a:t>要点：① 叠加态的概率计算 ② 势阱宽度与能量的反比平方关系 ③ 联系不确定性原理</a:t>
            </a:r>
          </a:p>
          <a:p>
            <a:r>
              <a:rPr lang="zh-CN" dirty="0"/>
              <a:t>时长：5分钟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好，今天的内容我们全部讲完了，最后来做一个总结。</a:t>
            </a:r>
          </a:p>
          <a:p>
            <a:endParaRPr lang="zh-CN" dirty="0"/>
          </a:p>
          <a:p>
            <a:r>
              <a:rPr lang="zh-CN" dirty="0"/>
              <a:t>同学们，我们回头看看今天的四个学习目标，一一对照。</a:t>
            </a:r>
          </a:p>
          <a:p>
            <a:endParaRPr lang="zh-CN" dirty="0"/>
          </a:p>
          <a:p>
            <a:r>
              <a:rPr lang="zh-CN" dirty="0"/>
              <a:t>第一，能说出定态的定义和三个特征——概率密度不变、能量确定、期望值不随时间变化。【提问】大家现在能说出来吗？【停顿 5秒】</a:t>
            </a:r>
          </a:p>
          <a:p>
            <a:endParaRPr lang="zh-CN" dirty="0"/>
          </a:p>
          <a:p>
            <a:r>
              <a:rPr lang="zh-CN" dirty="0"/>
              <a:t>第二，能解释概率密度为何不随时间变化——时间因子 e^(-iEt/ℏ) 取模平方等于 1，时间消失了。</a:t>
            </a:r>
          </a:p>
          <a:p>
            <a:endParaRPr lang="zh-CN" dirty="0"/>
          </a:p>
          <a:p>
            <a:r>
              <a:rPr lang="zh-CN" dirty="0"/>
              <a:t>第三，会运用分离变量法——Ψ = ψ·f，代入方程，分离常数就是能量 E。</a:t>
            </a:r>
          </a:p>
          <a:p>
            <a:endParaRPr lang="zh-CN" dirty="0"/>
          </a:p>
          <a:p>
            <a:r>
              <a:rPr lang="zh-CN" dirty="0"/>
              <a:t>第四，会判断无限深方势阱的能级和波函数——E_n = n²E₁，ψ_n = √(2/a)·sin(nπx/a)。</a:t>
            </a:r>
          </a:p>
          <a:p>
            <a:endParaRPr lang="zh-CN" dirty="0"/>
          </a:p>
          <a:p>
            <a:r>
              <a:rPr lang="zh-CN" dirty="0"/>
              <a:t>【强调】今天最重要的一个物理洞察是：能量量子化不是人为假设，而是边界条件的数学必然结果。这个思想贯穿整个量子力学。</a:t>
            </a:r>
          </a:p>
          <a:p>
            <a:endParaRPr lang="zh-CN" dirty="0"/>
          </a:p>
          <a:p>
            <a:r>
              <a:rPr lang="zh-CN" dirty="0"/>
              <a:t>课后作业是 Griffiths 2.2 和 2.3，还有一道思考题：为什么量子粒子不能静止？请联系不确定性原理来思考。</a:t>
            </a:r>
          </a:p>
          <a:p>
            <a:endParaRPr lang="zh-CN" dirty="0"/>
          </a:p>
          <a:p>
            <a:r>
              <a:rPr lang="zh-CN" dirty="0"/>
              <a:t>下一讲我们会学量子谐振子，会用到今天学的本征函数展开方法，请大家预习 Griffiths 2.3 节。</a:t>
            </a:r>
          </a:p>
          <a:p>
            <a:endParaRPr lang="zh-CN" dirty="0"/>
          </a:p>
          <a:p>
            <a:r>
              <a:rPr lang="zh-CN" dirty="0"/>
              <a:t>【停顿】好，今天的课就到这里，有问题的同学课后来找我。下课！</a:t>
            </a:r>
          </a:p>
          <a:p>
            <a:endParaRPr lang="zh-CN" dirty="0"/>
          </a:p>
          <a:p>
            <a:r>
              <a:rPr lang="zh-CN" dirty="0"/>
              <a:t>要点：① 对照学习目标逐一回顾 ② 强调核心物理洞察 ③ 布置作业和预习任务</a:t>
            </a:r>
          </a:p>
          <a:p>
            <a:r>
              <a:rPr lang="zh-CN" dirty="0"/>
              <a:t>时长：3分钟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834A">
              <a:alpha val="3000"/>
            </a:srgbClr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0" y="0"/>
            <a:ext cx="3619500" cy="3619500"/>
          </a:xfrm>
          <a:custGeom>
            <a:avLst/>
            <a:gdLst/>
            <a:ahLst/>
            <a:cxnLst/>
            <a:rect l="l" t="t" r="r" b="b"/>
            <a:pathLst>
              <a:path w="3619500" h="3619500">
                <a:moveTo>
                  <a:pt x="0" y="0"/>
                </a:moveTo>
                <a:lnTo>
                  <a:pt x="3619500" y="0"/>
                </a:lnTo>
                <a:lnTo>
                  <a:pt x="0" y="3619500"/>
                </a:lnTo>
                <a:close/>
              </a:path>
            </a:pathLst>
          </a:custGeom>
          <a:gradFill>
            <a:gsLst>
              <a:gs pos="0">
                <a:srgbClr val="DE3545"/>
              </a:gs>
              <a:gs pos="100000">
                <a:srgbClr val="C42535"/>
              </a:gs>
            </a:gsLst>
            <a:lin ang="2700000" scaled="1"/>
          </a:gra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0" y="0"/>
            <a:ext cx="1714500" cy="1714500"/>
          </a:xfrm>
          <a:custGeom>
            <a:avLst/>
            <a:gdLst/>
            <a:ahLst/>
            <a:cxnLst/>
            <a:rect l="l" t="t" r="r" b="b"/>
            <a:pathLst>
              <a:path w="1714500" h="1714500">
                <a:moveTo>
                  <a:pt x="0" y="0"/>
                </a:moveTo>
                <a:lnTo>
                  <a:pt x="1714500" y="0"/>
                </a:lnTo>
                <a:lnTo>
                  <a:pt x="0" y="1714500"/>
                </a:lnTo>
                <a:close/>
              </a:path>
            </a:pathLst>
          </a:custGeom>
          <a:solidFill>
            <a:srgbClr val="E86A76">
              <a:alpha val="60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0" y="3810000"/>
            <a:ext cx="3048000" cy="3048000"/>
          </a:xfrm>
          <a:custGeom>
            <a:avLst/>
            <a:gdLst/>
            <a:ahLst/>
            <a:cxnLst/>
            <a:rect l="l" t="t" r="r" b="b"/>
            <a:pathLst>
              <a:path w="3048000" h="3048000">
                <a:moveTo>
                  <a:pt x="0" y="3048000"/>
                </a:moveTo>
                <a:lnTo>
                  <a:pt x="3048000" y="304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8834A"/>
              </a:gs>
              <a:gs pos="100000">
                <a:srgbClr val="D4703A"/>
              </a:gs>
            </a:gsLst>
            <a:lin ang="2700000" scaled="1"/>
          </a:gra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0" y="571500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0" y="1143000"/>
                </a:moveTo>
                <a:lnTo>
                  <a:pt x="114300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F0A070">
              <a:alpha val="70000"/>
            </a:srgbClr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8191500" y="2857500"/>
            <a:ext cx="4000500" cy="4000500"/>
          </a:xfrm>
          <a:custGeom>
            <a:avLst/>
            <a:gdLst/>
            <a:ahLst/>
            <a:cxnLst/>
            <a:rect l="l" t="t" r="r" b="b"/>
            <a:pathLst>
              <a:path w="4000500" h="4000500">
                <a:moveTo>
                  <a:pt x="4000500" y="4000500"/>
                </a:moveTo>
                <a:lnTo>
                  <a:pt x="4000500" y="0"/>
                </a:lnTo>
                <a:lnTo>
                  <a:pt x="0" y="4000500"/>
                </a:lnTo>
                <a:close/>
              </a:path>
            </a:pathLst>
          </a:custGeom>
          <a:gradFill>
            <a:gsLst>
              <a:gs pos="0">
                <a:srgbClr val="DE3545"/>
              </a:gs>
              <a:gs pos="100000">
                <a:srgbClr val="C42535"/>
              </a:gs>
            </a:gsLst>
            <a:lin ang="2700000" scaled="1"/>
          </a:gra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10287000" y="495300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1905000" y="1905000"/>
                </a:moveTo>
                <a:lnTo>
                  <a:pt x="1905000" y="0"/>
                </a:lnTo>
                <a:lnTo>
                  <a:pt x="0" y="1905000"/>
                </a:lnTo>
                <a:close/>
              </a:path>
            </a:pathLst>
          </a:custGeom>
          <a:solidFill>
            <a:srgbClr val="E86A76">
              <a:alpha val="60000"/>
            </a:srgbClr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11430000" y="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762000" y="0"/>
                </a:moveTo>
                <a:lnTo>
                  <a:pt x="0" y="0"/>
                </a:lnTo>
                <a:lnTo>
                  <a:pt x="762000" y="762000"/>
                </a:lnTo>
                <a:close/>
              </a:path>
            </a:pathLst>
          </a:custGeom>
          <a:solidFill>
            <a:srgbClr val="E8834A">
              <a:alpha val="40000"/>
            </a:srgbClr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8534400" y="723900"/>
            <a:ext cx="76200" cy="76200"/>
          </a:xfrm>
          <a:prstGeom prst="ellipse">
            <a:avLst/>
          </a:prstGeom>
          <a:solidFill>
            <a:srgbClr val="DE3545">
              <a:alpha val="20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8820150" y="723900"/>
            <a:ext cx="76200" cy="76200"/>
          </a:xfrm>
          <a:prstGeom prst="ellipse">
            <a:avLst/>
          </a:prstGeom>
          <a:solidFill>
            <a:srgbClr val="DE3545">
              <a:alpha val="20000"/>
            </a:srgb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9105900" y="723900"/>
            <a:ext cx="76200" cy="76200"/>
          </a:xfrm>
          <a:prstGeom prst="ellipse">
            <a:avLst/>
          </a:prstGeom>
          <a:solidFill>
            <a:srgbClr val="DE3545">
              <a:alpha val="20000"/>
            </a:srgbClr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8534400" y="1009650"/>
            <a:ext cx="76200" cy="76200"/>
          </a:xfrm>
          <a:prstGeom prst="ellipse">
            <a:avLst/>
          </a:prstGeom>
          <a:solidFill>
            <a:srgbClr val="DE3545">
              <a:alpha val="20000"/>
            </a:srgbClr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8820150" y="1009650"/>
            <a:ext cx="76200" cy="76200"/>
          </a:xfrm>
          <a:prstGeom prst="ellipse">
            <a:avLst/>
          </a:prstGeom>
          <a:solidFill>
            <a:srgbClr val="DE3545">
              <a:alpha val="20000"/>
            </a:srgbClr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9105900" y="1009650"/>
            <a:ext cx="76200" cy="76200"/>
          </a:xfrm>
          <a:prstGeom prst="ellipse">
            <a:avLst/>
          </a:prstGeom>
          <a:solidFill>
            <a:srgbClr val="DE3545">
              <a:alpha val="20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173855" y="2140268"/>
            <a:ext cx="21356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834A"/>
                </a:solidFill>
                <a:latin typeface="Arial"/>
                <a:ea typeface="Microsoft YaHei"/>
                <a:cs typeface="Arial"/>
              </a:rPr>
              <a:t>大学量子力学 · 第四讲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28135" y="2513648"/>
            <a:ext cx="4680299" cy="1005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950" b="1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量子力学基础</a:t>
            </a:r>
          </a:p>
        </p:txBody>
      </p:sp>
      <p:sp>
        <p:nvSpPr>
          <p:cNvPr id="19" name="Freeform 19"/>
          <p:cNvSpPr/>
          <p:nvPr/>
        </p:nvSpPr>
        <p:spPr>
          <a:xfrm>
            <a:off x="4191000" y="3219450"/>
            <a:ext cx="3048000" cy="47625"/>
          </a:xfrm>
          <a:custGeom>
            <a:avLst/>
            <a:gdLst/>
            <a:ahLst/>
            <a:cxnLst/>
            <a:rect l="l" t="t" r="r" b="b"/>
            <a:pathLst>
              <a:path w="3048000" h="47625">
                <a:moveTo>
                  <a:pt x="19050" y="0"/>
                </a:moveTo>
                <a:lnTo>
                  <a:pt x="3028950" y="0"/>
                </a:lnTo>
                <a:cubicBezTo>
                  <a:pt x="3039471" y="0"/>
                  <a:pt x="3048000" y="8529"/>
                  <a:pt x="3048000" y="19050"/>
                </a:cubicBezTo>
                <a:lnTo>
                  <a:pt x="3048000" y="28575"/>
                </a:lnTo>
                <a:cubicBezTo>
                  <a:pt x="3048000" y="39096"/>
                  <a:pt x="3039471" y="47625"/>
                  <a:pt x="3028950" y="47625"/>
                </a:cubicBezTo>
                <a:lnTo>
                  <a:pt x="19050" y="47625"/>
                </a:lnTo>
                <a:cubicBezTo>
                  <a:pt x="8529" y="47625"/>
                  <a:pt x="0" y="39096"/>
                  <a:pt x="0" y="2857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gradFill>
            <a:gsLst>
              <a:gs pos="0">
                <a:srgbClr val="DE3545"/>
              </a:gs>
              <a:gs pos="100000">
                <a:srgbClr val="E8834A"/>
              </a:gs>
            </a:gsLst>
            <a:lin ang="0" scaled="1"/>
          </a:gra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198620" y="3550920"/>
            <a:ext cx="391668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定态与一维无限深方势阱</a:t>
            </a:r>
          </a:p>
        </p:txBody>
      </p:sp>
      <p:sp>
        <p:nvSpPr>
          <p:cNvPr id="21" name="Line 21"/>
          <p:cNvSpPr/>
          <p:nvPr/>
        </p:nvSpPr>
        <p:spPr>
          <a:xfrm>
            <a:off x="4229100" y="4191000"/>
            <a:ext cx="2438400" cy="9525"/>
          </a:xfrm>
          <a:custGeom>
            <a:avLst/>
            <a:gdLst/>
            <a:ahLst/>
            <a:cxnLst/>
            <a:rect l="l" t="t" r="r" b="b"/>
            <a:pathLst>
              <a:path w="2438400" h="9525">
                <a:moveTo>
                  <a:pt x="0" y="0"/>
                </a:moveTo>
                <a:lnTo>
                  <a:pt x="2438400" y="0"/>
                </a:lnTo>
              </a:path>
            </a:pathLst>
          </a:custGeom>
          <a:noFill/>
          <a:ln w="14288">
            <a:solidFill>
              <a:srgbClr val="E8DDD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210050" y="4410075"/>
            <a:ext cx="408003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薛定谔方程 · 定态 · 能量量子化 · 波函数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584402" y="2964402"/>
            <a:ext cx="548195" cy="548196"/>
            <a:chOff x="10584402" y="2964402"/>
            <a:chExt cx="548195" cy="548196"/>
          </a:xfrm>
        </p:grpSpPr>
        <p:sp>
          <p:nvSpPr>
            <p:cNvPr id="23" name="Freeform 23"/>
            <p:cNvSpPr/>
            <p:nvPr/>
          </p:nvSpPr>
          <p:spPr>
            <a:xfrm>
              <a:off x="10858500" y="32385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317"/>
                  </a:lnTo>
                </a:path>
              </a:pathLst>
            </a:custGeom>
            <a:noFill/>
            <a:ln w="9525">
              <a:solidFill>
                <a:srgbClr val="DE354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0584402" y="2964402"/>
              <a:ext cx="548195" cy="548196"/>
            </a:xfrm>
            <a:custGeom>
              <a:avLst/>
              <a:gdLst/>
              <a:ahLst/>
              <a:cxnLst/>
              <a:rect l="l" t="t" r="r" b="b"/>
              <a:pathLst>
                <a:path w="548195" h="548196">
                  <a:moveTo>
                    <a:pt x="498602" y="49593"/>
                  </a:moveTo>
                  <a:cubicBezTo>
                    <a:pt x="449008" y="0"/>
                    <a:pt x="308102" y="60293"/>
                    <a:pt x="184277" y="184309"/>
                  </a:cubicBezTo>
                  <a:cubicBezTo>
                    <a:pt x="60293" y="308293"/>
                    <a:pt x="0" y="449008"/>
                    <a:pt x="49594" y="498634"/>
                  </a:cubicBezTo>
                  <a:cubicBezTo>
                    <a:pt x="99187" y="548196"/>
                    <a:pt x="240094" y="487902"/>
                    <a:pt x="363919" y="363887"/>
                  </a:cubicBezTo>
                  <a:cubicBezTo>
                    <a:pt x="487902" y="239903"/>
                    <a:pt x="548195" y="99187"/>
                    <a:pt x="498602" y="49562"/>
                  </a:cubicBezTo>
                </a:path>
              </a:pathLst>
            </a:custGeom>
            <a:noFill/>
            <a:ln w="9525">
              <a:solidFill>
                <a:srgbClr val="DE354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0584402" y="2964402"/>
              <a:ext cx="548195" cy="548196"/>
            </a:xfrm>
            <a:custGeom>
              <a:avLst/>
              <a:gdLst/>
              <a:ahLst/>
              <a:cxnLst/>
              <a:rect l="l" t="t" r="r" b="b"/>
              <a:pathLst>
                <a:path w="548195" h="548196">
                  <a:moveTo>
                    <a:pt x="49594" y="49593"/>
                  </a:moveTo>
                  <a:cubicBezTo>
                    <a:pt x="0" y="99187"/>
                    <a:pt x="60293" y="240093"/>
                    <a:pt x="184309" y="363918"/>
                  </a:cubicBezTo>
                  <a:cubicBezTo>
                    <a:pt x="308292" y="487902"/>
                    <a:pt x="449008" y="548196"/>
                    <a:pt x="498634" y="498602"/>
                  </a:cubicBezTo>
                  <a:cubicBezTo>
                    <a:pt x="548195" y="449008"/>
                    <a:pt x="487902" y="308102"/>
                    <a:pt x="363887" y="184277"/>
                  </a:cubicBezTo>
                  <a:cubicBezTo>
                    <a:pt x="239903" y="60293"/>
                    <a:pt x="99187" y="0"/>
                    <a:pt x="49562" y="49593"/>
                  </a:cubicBezTo>
                </a:path>
              </a:pathLst>
            </a:custGeom>
            <a:noFill/>
            <a:ln w="9525">
              <a:solidFill>
                <a:srgbClr val="DE3545"/>
              </a:solidFill>
            </a:ln>
          </p:spPr>
        </p:sp>
      </p:grpSp>
      <p:sp>
        <p:nvSpPr>
          <p:cNvPr id="27" name="Rectangle 27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3D3530">
              <a:alpha val="6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791349" y="6647974"/>
            <a:ext cx="26093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89E98"/>
                </a:solidFill>
                <a:latin typeface="Arial"/>
                <a:ea typeface="Microsoft YaHei"/>
                <a:cs typeface="Arial"/>
              </a:rPr>
              <a:t>量子力学基础 · 定态与一维无限深方势阱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742950"/>
            <a:ext cx="12192000" cy="28575"/>
          </a:xfrm>
          <a:prstGeom prst="rect">
            <a:avLst/>
          </a:prstGeom>
          <a:gradFill>
            <a:gsLst>
              <a:gs pos="0">
                <a:srgbClr val="DE3545"/>
              </a:gs>
              <a:gs pos="100000">
                <a:srgbClr val="E8834A"/>
              </a:gs>
            </a:gsLst>
            <a:lin ang="0" scaled="1"/>
          </a:gra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11239500" y="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0" y="0"/>
                </a:moveTo>
                <a:lnTo>
                  <a:pt x="952500" y="0"/>
                </a:lnTo>
                <a:lnTo>
                  <a:pt x="952500" y="762000"/>
                </a:lnTo>
                <a:close/>
              </a:path>
            </a:pathLst>
          </a:custGeom>
          <a:solidFill>
            <a:srgbClr val="DE3545">
              <a:alpha val="12000"/>
            </a:srgbClr>
          </a:solidFill>
          <a:ln>
            <a:noFill/>
          </a:ln>
        </p:spPr>
      </p:sp>
      <p:sp>
        <p:nvSpPr>
          <p:cNvPr id="6" name="Polygon 6"/>
          <p:cNvSpPr/>
          <p:nvPr/>
        </p:nvSpPr>
        <p:spPr>
          <a:xfrm>
            <a:off x="571500" y="190500"/>
            <a:ext cx="114300" cy="285750"/>
          </a:xfrm>
          <a:custGeom>
            <a:avLst/>
            <a:gdLst/>
            <a:ahLst/>
            <a:cxnLst/>
            <a:rect l="l" t="t" r="r" b="b"/>
            <a:pathLst>
              <a:path w="114300" h="285750">
                <a:moveTo>
                  <a:pt x="0" y="0"/>
                </a:moveTo>
                <a:lnTo>
                  <a:pt x="1143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7" name="Polygon 7"/>
          <p:cNvSpPr/>
          <p:nvPr/>
        </p:nvSpPr>
        <p:spPr>
          <a:xfrm>
            <a:off x="742950" y="190500"/>
            <a:ext cx="114300" cy="285750"/>
          </a:xfrm>
          <a:custGeom>
            <a:avLst/>
            <a:gdLst/>
            <a:ahLst/>
            <a:cxnLst/>
            <a:rect l="l" t="t" r="r" b="b"/>
            <a:pathLst>
              <a:path w="114300" h="285750">
                <a:moveTo>
                  <a:pt x="0" y="0"/>
                </a:moveTo>
                <a:lnTo>
                  <a:pt x="1143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E8834A">
              <a:alpha val="6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23925" y="252412"/>
            <a:ext cx="212740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本讲学习目标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482388" y="223838"/>
            <a:ext cx="314325" cy="314325"/>
            <a:chOff x="11482388" y="223838"/>
            <a:chExt cx="314325" cy="314325"/>
          </a:xfrm>
        </p:grpSpPr>
        <p:sp>
          <p:nvSpPr>
            <p:cNvPr id="9" name="Freeform 9"/>
            <p:cNvSpPr/>
            <p:nvPr/>
          </p:nvSpPr>
          <p:spPr>
            <a:xfrm>
              <a:off x="11622088" y="363538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34925" h="34925">
                  <a:moveTo>
                    <a:pt x="0" y="17463"/>
                  </a:moveTo>
                  <a:cubicBezTo>
                    <a:pt x="0" y="27107"/>
                    <a:pt x="7818" y="34925"/>
                    <a:pt x="17462" y="34925"/>
                  </a:cubicBezTo>
                  <a:cubicBezTo>
                    <a:pt x="27107" y="34925"/>
                    <a:pt x="34925" y="27107"/>
                    <a:pt x="34925" y="17463"/>
                  </a:cubicBezTo>
                  <a:cubicBezTo>
                    <a:pt x="34925" y="7818"/>
                    <a:pt x="27107" y="0"/>
                    <a:pt x="17462" y="0"/>
                  </a:cubicBezTo>
                  <a:cubicBezTo>
                    <a:pt x="7818" y="0"/>
                    <a:pt x="0" y="7818"/>
                    <a:pt x="0" y="17463"/>
                  </a:cubicBezTo>
                </a:path>
              </a:pathLst>
            </a:custGeom>
            <a:noFill/>
            <a:ln w="9525">
              <a:solidFill>
                <a:srgbClr val="DE354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1552238" y="293688"/>
              <a:ext cx="174625" cy="174625"/>
            </a:xfrm>
            <a:custGeom>
              <a:avLst/>
              <a:gdLst/>
              <a:ahLst/>
              <a:cxnLst/>
              <a:rect l="l" t="t" r="r" b="b"/>
              <a:pathLst>
                <a:path w="174625" h="174625">
                  <a:moveTo>
                    <a:pt x="0" y="87313"/>
                  </a:moveTo>
                  <a:cubicBezTo>
                    <a:pt x="0" y="135534"/>
                    <a:pt x="39091" y="174625"/>
                    <a:pt x="87313" y="174625"/>
                  </a:cubicBezTo>
                  <a:cubicBezTo>
                    <a:pt x="135534" y="174625"/>
                    <a:pt x="174625" y="135534"/>
                    <a:pt x="174625" y="87313"/>
                  </a:cubicBezTo>
                  <a:cubicBezTo>
                    <a:pt x="174625" y="39091"/>
                    <a:pt x="135534" y="0"/>
                    <a:pt x="87313" y="0"/>
                  </a:cubicBezTo>
                  <a:cubicBezTo>
                    <a:pt x="39091" y="0"/>
                    <a:pt x="0" y="39091"/>
                    <a:pt x="0" y="87313"/>
                  </a:cubicBezTo>
                </a:path>
              </a:pathLst>
            </a:custGeom>
            <a:noFill/>
            <a:ln w="9525">
              <a:solidFill>
                <a:srgbClr val="DE354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1482388" y="223838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0" y="157162"/>
                  </a:moveTo>
                  <a:cubicBezTo>
                    <a:pt x="0" y="243961"/>
                    <a:pt x="70364" y="314325"/>
                    <a:pt x="157162" y="314325"/>
                  </a:cubicBezTo>
                  <a:cubicBezTo>
                    <a:pt x="243961" y="314325"/>
                    <a:pt x="314325" y="243961"/>
                    <a:pt x="314325" y="157162"/>
                  </a:cubicBezTo>
                  <a:cubicBezTo>
                    <a:pt x="314325" y="70364"/>
                    <a:pt x="243961" y="0"/>
                    <a:pt x="157162" y="0"/>
                  </a:cubicBezTo>
                  <a:cubicBezTo>
                    <a:pt x="70364" y="0"/>
                    <a:pt x="0" y="70364"/>
                    <a:pt x="0" y="157162"/>
                  </a:cubicBezTo>
                </a:path>
              </a:pathLst>
            </a:custGeom>
            <a:noFill/>
            <a:ln w="9525">
              <a:solidFill>
                <a:srgbClr val="DE3545"/>
              </a:solidFill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552450" y="885825"/>
            <a:ext cx="37623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学完本讲，你应该能够做到以下四点：</a:t>
            </a:r>
          </a:p>
        </p:txBody>
      </p:sp>
      <p:sp>
        <p:nvSpPr>
          <p:cNvPr id="14" name="Freeform 14"/>
          <p:cNvSpPr/>
          <p:nvPr/>
        </p:nvSpPr>
        <p:spPr>
          <a:xfrm>
            <a:off x="571500" y="1238250"/>
            <a:ext cx="5334000" cy="2286000"/>
          </a:xfrm>
          <a:custGeom>
            <a:avLst/>
            <a:gdLst/>
            <a:ahLst/>
            <a:cxnLst/>
            <a:rect l="l" t="t" r="r" b="b"/>
            <a:pathLst>
              <a:path w="5334000" h="2286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2190750"/>
                </a:lnTo>
                <a:cubicBezTo>
                  <a:pt x="5334000" y="2243355"/>
                  <a:pt x="5291355" y="2286000"/>
                  <a:pt x="5238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gradFill>
            <a:gsLst>
              <a:gs pos="0">
                <a:srgbClr val="EEF6FF"/>
              </a:gs>
              <a:gs pos="100000">
                <a:srgbClr val="E0F0FA"/>
              </a:gs>
            </a:gsLst>
            <a:lin ang="5400000" scaled="1"/>
          </a:gradFill>
          <a:ln w="14288">
            <a:solidFill>
              <a:srgbClr val="2E86AB">
                <a:alpha val="40000"/>
              </a:srgbClr>
            </a:solidFill>
          </a:ln>
        </p:spPr>
      </p:sp>
      <p:sp>
        <p:nvSpPr>
          <p:cNvPr id="15" name="Freeform 15"/>
          <p:cNvSpPr/>
          <p:nvPr/>
        </p:nvSpPr>
        <p:spPr>
          <a:xfrm>
            <a:off x="571500" y="1238250"/>
            <a:ext cx="76200" cy="2286000"/>
          </a:xfrm>
          <a:custGeom>
            <a:avLst/>
            <a:gdLst/>
            <a:ahLst/>
            <a:cxnLst/>
            <a:rect l="l" t="t" r="r" b="b"/>
            <a:pathLst>
              <a:path w="76200" h="22860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2247900"/>
                </a:lnTo>
                <a:cubicBezTo>
                  <a:pt x="76200" y="2268942"/>
                  <a:pt x="59142" y="2286000"/>
                  <a:pt x="38100" y="2286000"/>
                </a:cubicBezTo>
                <a:lnTo>
                  <a:pt x="38100" y="2286000"/>
                </a:lnTo>
                <a:cubicBezTo>
                  <a:pt x="17058" y="2286000"/>
                  <a:pt x="0" y="2268942"/>
                  <a:pt x="0" y="2247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2E86AB"/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881062" y="1519238"/>
            <a:ext cx="257175" cy="257175"/>
            <a:chOff x="881062" y="1519238"/>
            <a:chExt cx="257175" cy="257175"/>
          </a:xfrm>
        </p:grpSpPr>
        <p:sp>
          <p:nvSpPr>
            <p:cNvPr id="16" name="Freeform 16"/>
            <p:cNvSpPr/>
            <p:nvPr/>
          </p:nvSpPr>
          <p:spPr>
            <a:xfrm>
              <a:off x="995362" y="1633538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0" y="14288"/>
                  </a:moveTo>
                  <a:cubicBezTo>
                    <a:pt x="0" y="22178"/>
                    <a:pt x="6397" y="28575"/>
                    <a:pt x="14288" y="28575"/>
                  </a:cubicBezTo>
                  <a:cubicBezTo>
                    <a:pt x="22178" y="28575"/>
                    <a:pt x="28575" y="22178"/>
                    <a:pt x="28575" y="14288"/>
                  </a:cubicBezTo>
                  <a:cubicBezTo>
                    <a:pt x="28575" y="6397"/>
                    <a:pt x="22178" y="0"/>
                    <a:pt x="14288" y="0"/>
                  </a:cubicBezTo>
                  <a:cubicBezTo>
                    <a:pt x="6397" y="0"/>
                    <a:pt x="0" y="6397"/>
                    <a:pt x="0" y="14288"/>
                  </a:cubicBezTo>
                </a:path>
              </a:pathLst>
            </a:custGeom>
            <a:noFill/>
            <a:ln w="9525">
              <a:solidFill>
                <a:srgbClr val="2E86AB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938212" y="1576388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0" y="71438"/>
                  </a:moveTo>
                  <a:cubicBezTo>
                    <a:pt x="0" y="110891"/>
                    <a:pt x="31984" y="142875"/>
                    <a:pt x="71438" y="142875"/>
                  </a:cubicBezTo>
                  <a:cubicBezTo>
                    <a:pt x="110891" y="142875"/>
                    <a:pt x="142875" y="110891"/>
                    <a:pt x="142875" y="71438"/>
                  </a:cubicBezTo>
                  <a:cubicBezTo>
                    <a:pt x="142875" y="31984"/>
                    <a:pt x="110891" y="0"/>
                    <a:pt x="71438" y="0"/>
                  </a:cubicBezTo>
                  <a:cubicBezTo>
                    <a:pt x="31984" y="0"/>
                    <a:pt x="0" y="31984"/>
                    <a:pt x="0" y="71438"/>
                  </a:cubicBezTo>
                </a:path>
              </a:pathLst>
            </a:custGeom>
            <a:noFill/>
            <a:ln w="9525">
              <a:solidFill>
                <a:srgbClr val="2E86AB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81062" y="1519238"/>
              <a:ext cx="257175" cy="257175"/>
            </a:xfrm>
            <a:custGeom>
              <a:avLst/>
              <a:gdLst/>
              <a:ahLst/>
              <a:cxnLst/>
              <a:rect l="l" t="t" r="r" b="b"/>
              <a:pathLst>
                <a:path w="257175" h="257175">
                  <a:moveTo>
                    <a:pt x="0" y="128588"/>
                  </a:moveTo>
                  <a:cubicBezTo>
                    <a:pt x="0" y="199604"/>
                    <a:pt x="57571" y="257175"/>
                    <a:pt x="128588" y="257175"/>
                  </a:cubicBezTo>
                  <a:cubicBezTo>
                    <a:pt x="199604" y="257175"/>
                    <a:pt x="257175" y="199604"/>
                    <a:pt x="257175" y="128588"/>
                  </a:cubicBezTo>
                  <a:cubicBezTo>
                    <a:pt x="257175" y="57571"/>
                    <a:pt x="199604" y="0"/>
                    <a:pt x="128588" y="0"/>
                  </a:cubicBezTo>
                  <a:cubicBezTo>
                    <a:pt x="57571" y="0"/>
                    <a:pt x="0" y="57571"/>
                    <a:pt x="0" y="128588"/>
                  </a:cubicBezTo>
                </a:path>
              </a:pathLst>
            </a:custGeom>
            <a:noFill/>
            <a:ln w="9525">
              <a:solidFill>
                <a:srgbClr val="2E86AB"/>
              </a:solidFill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295400" y="153352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E86AB"/>
                </a:solidFill>
                <a:latin typeface="Arial"/>
                <a:ea typeface="Microsoft YaHei"/>
                <a:cs typeface="Arial"/>
              </a:rPr>
              <a:t>能说出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19150" y="1933575"/>
            <a:ext cx="24479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定态的定义，以及定态的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19150" y="2238375"/>
            <a:ext cx="13525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三个核心特征</a:t>
            </a:r>
          </a:p>
        </p:txBody>
      </p:sp>
      <p:sp>
        <p:nvSpPr>
          <p:cNvPr id="23" name="Freeform 23"/>
          <p:cNvSpPr/>
          <p:nvPr/>
        </p:nvSpPr>
        <p:spPr>
          <a:xfrm>
            <a:off x="6286500" y="1238250"/>
            <a:ext cx="5334000" cy="2286000"/>
          </a:xfrm>
          <a:custGeom>
            <a:avLst/>
            <a:gdLst/>
            <a:ahLst/>
            <a:cxnLst/>
            <a:rect l="l" t="t" r="r" b="b"/>
            <a:pathLst>
              <a:path w="5334000" h="2286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2190750"/>
                </a:lnTo>
                <a:cubicBezTo>
                  <a:pt x="5334000" y="2243355"/>
                  <a:pt x="5291355" y="2286000"/>
                  <a:pt x="5238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gradFill>
            <a:gsLst>
              <a:gs pos="0">
                <a:srgbClr val="EDFAF3"/>
              </a:gs>
              <a:gs pos="100000">
                <a:srgbClr val="DFF5EA"/>
              </a:gs>
            </a:gsLst>
            <a:lin ang="5400000" scaled="1"/>
          </a:gradFill>
          <a:ln w="14288">
            <a:solidFill>
              <a:srgbClr val="4CAF7D">
                <a:alpha val="40000"/>
              </a:srgbClr>
            </a:solidFill>
          </a:ln>
        </p:spPr>
      </p:sp>
      <p:sp>
        <p:nvSpPr>
          <p:cNvPr id="24" name="Freeform 24"/>
          <p:cNvSpPr/>
          <p:nvPr/>
        </p:nvSpPr>
        <p:spPr>
          <a:xfrm>
            <a:off x="6286500" y="1238250"/>
            <a:ext cx="76200" cy="2286000"/>
          </a:xfrm>
          <a:custGeom>
            <a:avLst/>
            <a:gdLst/>
            <a:ahLst/>
            <a:cxnLst/>
            <a:rect l="l" t="t" r="r" b="b"/>
            <a:pathLst>
              <a:path w="76200" h="22860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2247900"/>
                </a:lnTo>
                <a:cubicBezTo>
                  <a:pt x="76200" y="2268942"/>
                  <a:pt x="59142" y="2286000"/>
                  <a:pt x="38100" y="2286000"/>
                </a:cubicBezTo>
                <a:lnTo>
                  <a:pt x="38100" y="2286000"/>
                </a:lnTo>
                <a:cubicBezTo>
                  <a:pt x="17058" y="2286000"/>
                  <a:pt x="0" y="2268942"/>
                  <a:pt x="0" y="2247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4CAF7D"/>
          </a:solidFill>
          <a:ln>
            <a:noFill/>
          </a:ln>
        </p:spPr>
      </p:sp>
      <p:grpSp>
        <p:nvGrpSpPr>
          <p:cNvPr id="31" name="Group 31"/>
          <p:cNvGrpSpPr/>
          <p:nvPr/>
        </p:nvGrpSpPr>
        <p:grpSpPr>
          <a:xfrm>
            <a:off x="6596062" y="1519238"/>
            <a:ext cx="257176" cy="257174"/>
            <a:chOff x="6596062" y="1519238"/>
            <a:chExt cx="257176" cy="257174"/>
          </a:xfrm>
        </p:grpSpPr>
        <p:sp>
          <p:nvSpPr>
            <p:cNvPr id="25" name="Freeform 25"/>
            <p:cNvSpPr/>
            <p:nvPr/>
          </p:nvSpPr>
          <p:spPr>
            <a:xfrm>
              <a:off x="6724650" y="1662112"/>
              <a:ext cx="100012" cy="114300"/>
            </a:xfrm>
            <a:custGeom>
              <a:avLst/>
              <a:gdLst/>
              <a:ahLst/>
              <a:cxnLst/>
              <a:rect l="l" t="t" r="r" b="b"/>
              <a:pathLst>
                <a:path w="100012" h="114300">
                  <a:moveTo>
                    <a:pt x="50006" y="0"/>
                  </a:moveTo>
                  <a:cubicBezTo>
                    <a:pt x="22389" y="0"/>
                    <a:pt x="0" y="22389"/>
                    <a:pt x="0" y="50006"/>
                  </a:cubicBezTo>
                  <a:lnTo>
                    <a:pt x="0" y="64294"/>
                  </a:lnTo>
                  <a:cubicBezTo>
                    <a:pt x="0" y="91911"/>
                    <a:pt x="22389" y="114300"/>
                    <a:pt x="50006" y="114300"/>
                  </a:cubicBezTo>
                  <a:cubicBezTo>
                    <a:pt x="77624" y="114300"/>
                    <a:pt x="100012" y="91911"/>
                    <a:pt x="100012" y="64294"/>
                  </a:cubicBezTo>
                  <a:lnTo>
                    <a:pt x="100012" y="38576"/>
                  </a:lnTo>
                </a:path>
              </a:pathLst>
            </a:custGeom>
            <a:noFill/>
            <a:ln w="9525">
              <a:solidFill>
                <a:srgbClr val="4CAF7D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624638" y="1662112"/>
              <a:ext cx="100012" cy="114300"/>
            </a:xfrm>
            <a:custGeom>
              <a:avLst/>
              <a:gdLst/>
              <a:ahLst/>
              <a:cxnLst/>
              <a:rect l="l" t="t" r="r" b="b"/>
              <a:pathLst>
                <a:path w="100012" h="114300">
                  <a:moveTo>
                    <a:pt x="50006" y="0"/>
                  </a:moveTo>
                  <a:cubicBezTo>
                    <a:pt x="77624" y="0"/>
                    <a:pt x="100012" y="22389"/>
                    <a:pt x="100012" y="50006"/>
                  </a:cubicBezTo>
                  <a:lnTo>
                    <a:pt x="100012" y="64294"/>
                  </a:lnTo>
                  <a:cubicBezTo>
                    <a:pt x="100012" y="91911"/>
                    <a:pt x="77624" y="114300"/>
                    <a:pt x="50006" y="114300"/>
                  </a:cubicBezTo>
                  <a:cubicBezTo>
                    <a:pt x="22389" y="114300"/>
                    <a:pt x="0" y="91911"/>
                    <a:pt x="0" y="64294"/>
                  </a:cubicBezTo>
                  <a:lnTo>
                    <a:pt x="0" y="38576"/>
                  </a:lnTo>
                </a:path>
              </a:pathLst>
            </a:custGeom>
            <a:noFill/>
            <a:ln w="9525">
              <a:solidFill>
                <a:srgbClr val="4CAF7D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796088" y="1604962"/>
              <a:ext cx="57150" cy="100012"/>
            </a:xfrm>
            <a:custGeom>
              <a:avLst/>
              <a:gdLst/>
              <a:ahLst/>
              <a:cxnLst/>
              <a:rect l="l" t="t" r="r" b="b"/>
              <a:pathLst>
                <a:path w="57150" h="100012">
                  <a:moveTo>
                    <a:pt x="7144" y="100012"/>
                  </a:moveTo>
                  <a:cubicBezTo>
                    <a:pt x="34761" y="100012"/>
                    <a:pt x="57150" y="77624"/>
                    <a:pt x="57150" y="50006"/>
                  </a:cubicBezTo>
                  <a:cubicBezTo>
                    <a:pt x="57150" y="22389"/>
                    <a:pt x="34761" y="0"/>
                    <a:pt x="7144" y="0"/>
                  </a:cubicBez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4CAF7D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724650" y="1519238"/>
              <a:ext cx="100012" cy="90011"/>
            </a:xfrm>
            <a:custGeom>
              <a:avLst/>
              <a:gdLst/>
              <a:ahLst/>
              <a:cxnLst/>
              <a:rect l="l" t="t" r="r" b="b"/>
              <a:pathLst>
                <a:path w="100012" h="90011">
                  <a:moveTo>
                    <a:pt x="100012" y="90011"/>
                  </a:moveTo>
                  <a:lnTo>
                    <a:pt x="100012" y="50006"/>
                  </a:lnTo>
                  <a:cubicBezTo>
                    <a:pt x="100012" y="22389"/>
                    <a:pt x="77624" y="0"/>
                    <a:pt x="50006" y="0"/>
                  </a:cubicBezTo>
                  <a:cubicBezTo>
                    <a:pt x="22389" y="0"/>
                    <a:pt x="0" y="22389"/>
                    <a:pt x="0" y="50006"/>
                  </a:cubicBezTo>
                </a:path>
              </a:pathLst>
            </a:custGeom>
            <a:noFill/>
            <a:ln w="9525">
              <a:solidFill>
                <a:srgbClr val="4CAF7D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6596062" y="1604962"/>
              <a:ext cx="57150" cy="100012"/>
            </a:xfrm>
            <a:custGeom>
              <a:avLst/>
              <a:gdLst/>
              <a:ahLst/>
              <a:cxnLst/>
              <a:rect l="l" t="t" r="r" b="b"/>
              <a:pathLst>
                <a:path w="57150" h="100012">
                  <a:moveTo>
                    <a:pt x="50006" y="100012"/>
                  </a:moveTo>
                  <a:cubicBezTo>
                    <a:pt x="22389" y="100012"/>
                    <a:pt x="0" y="77624"/>
                    <a:pt x="0" y="50006"/>
                  </a:cubicBezTo>
                  <a:cubicBezTo>
                    <a:pt x="0" y="22389"/>
                    <a:pt x="22389" y="0"/>
                    <a:pt x="50006" y="0"/>
                  </a:cubicBezTo>
                  <a:lnTo>
                    <a:pt x="57150" y="0"/>
                  </a:lnTo>
                </a:path>
              </a:pathLst>
            </a:custGeom>
            <a:noFill/>
            <a:ln w="9525">
              <a:solidFill>
                <a:srgbClr val="4CAF7D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6624638" y="1519238"/>
              <a:ext cx="100012" cy="192881"/>
            </a:xfrm>
            <a:custGeom>
              <a:avLst/>
              <a:gdLst/>
              <a:ahLst/>
              <a:cxnLst/>
              <a:rect l="l" t="t" r="r" b="b"/>
              <a:pathLst>
                <a:path w="100012" h="192881">
                  <a:moveTo>
                    <a:pt x="0" y="90011"/>
                  </a:moveTo>
                  <a:lnTo>
                    <a:pt x="0" y="50006"/>
                  </a:lnTo>
                  <a:cubicBezTo>
                    <a:pt x="0" y="22389"/>
                    <a:pt x="22389" y="0"/>
                    <a:pt x="50006" y="0"/>
                  </a:cubicBezTo>
                  <a:cubicBezTo>
                    <a:pt x="77624" y="0"/>
                    <a:pt x="100012" y="22389"/>
                    <a:pt x="100012" y="50006"/>
                  </a:cubicBezTo>
                  <a:lnTo>
                    <a:pt x="100012" y="192881"/>
                  </a:lnTo>
                </a:path>
              </a:pathLst>
            </a:custGeom>
            <a:noFill/>
            <a:ln w="9525">
              <a:solidFill>
                <a:srgbClr val="4CAF7D"/>
              </a:solidFill>
            </a:ln>
          </p:spPr>
        </p:sp>
      </p:grpSp>
      <p:sp>
        <p:nvSpPr>
          <p:cNvPr id="32" name="TextBox 32"/>
          <p:cNvSpPr txBox="1"/>
          <p:nvPr/>
        </p:nvSpPr>
        <p:spPr>
          <a:xfrm>
            <a:off x="7010400" y="153352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CAF7D"/>
                </a:solidFill>
                <a:latin typeface="Arial"/>
                <a:ea typeface="Microsoft YaHei"/>
                <a:cs typeface="Arial"/>
              </a:rPr>
              <a:t>能解释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34150" y="1933575"/>
            <a:ext cx="22288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为什么定态的概率密度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34150" y="2238375"/>
            <a:ext cx="13525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不随时间变化</a:t>
            </a:r>
          </a:p>
        </p:txBody>
      </p:sp>
      <p:sp>
        <p:nvSpPr>
          <p:cNvPr id="35" name="Freeform 35"/>
          <p:cNvSpPr/>
          <p:nvPr/>
        </p:nvSpPr>
        <p:spPr>
          <a:xfrm>
            <a:off x="571500" y="3714750"/>
            <a:ext cx="5334000" cy="2286000"/>
          </a:xfrm>
          <a:custGeom>
            <a:avLst/>
            <a:gdLst/>
            <a:ahLst/>
            <a:cxnLst/>
            <a:rect l="l" t="t" r="r" b="b"/>
            <a:pathLst>
              <a:path w="5334000" h="2286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2190750"/>
                </a:lnTo>
                <a:cubicBezTo>
                  <a:pt x="5334000" y="2243355"/>
                  <a:pt x="5291355" y="2286000"/>
                  <a:pt x="5238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gradFill>
            <a:gsLst>
              <a:gs pos="0">
                <a:srgbClr val="FFF4EC"/>
              </a:gs>
              <a:gs pos="100000">
                <a:srgbClr val="FEEADB"/>
              </a:gs>
            </a:gsLst>
            <a:lin ang="5400000" scaled="1"/>
          </a:gradFill>
          <a:ln w="14288">
            <a:solidFill>
              <a:srgbClr val="E8834A">
                <a:alpha val="40000"/>
              </a:srgbClr>
            </a:solidFill>
          </a:ln>
        </p:spPr>
      </p:sp>
      <p:sp>
        <p:nvSpPr>
          <p:cNvPr id="36" name="Freeform 36"/>
          <p:cNvSpPr/>
          <p:nvPr/>
        </p:nvSpPr>
        <p:spPr>
          <a:xfrm>
            <a:off x="571500" y="3714750"/>
            <a:ext cx="76200" cy="2286000"/>
          </a:xfrm>
          <a:custGeom>
            <a:avLst/>
            <a:gdLst/>
            <a:ahLst/>
            <a:cxnLst/>
            <a:rect l="l" t="t" r="r" b="b"/>
            <a:pathLst>
              <a:path w="76200" h="22860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2247900"/>
                </a:lnTo>
                <a:cubicBezTo>
                  <a:pt x="76200" y="2268942"/>
                  <a:pt x="59142" y="2286000"/>
                  <a:pt x="38100" y="2286000"/>
                </a:cubicBezTo>
                <a:lnTo>
                  <a:pt x="38100" y="2286000"/>
                </a:lnTo>
                <a:cubicBezTo>
                  <a:pt x="17058" y="2286000"/>
                  <a:pt x="0" y="2268942"/>
                  <a:pt x="0" y="2247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834A"/>
          </a:solidFill>
          <a:ln>
            <a:noFill/>
          </a:ln>
        </p:spPr>
      </p:sp>
      <p:grpSp>
        <p:nvGrpSpPr>
          <p:cNvPr id="41" name="Group 41"/>
          <p:cNvGrpSpPr/>
          <p:nvPr/>
        </p:nvGrpSpPr>
        <p:grpSpPr>
          <a:xfrm>
            <a:off x="881062" y="3995738"/>
            <a:ext cx="257175" cy="257175"/>
            <a:chOff x="881062" y="3995738"/>
            <a:chExt cx="257175" cy="257175"/>
          </a:xfrm>
        </p:grpSpPr>
        <p:sp>
          <p:nvSpPr>
            <p:cNvPr id="37" name="Freeform 37"/>
            <p:cNvSpPr/>
            <p:nvPr/>
          </p:nvSpPr>
          <p:spPr>
            <a:xfrm>
              <a:off x="881062" y="3995738"/>
              <a:ext cx="142875" cy="257175"/>
            </a:xfrm>
            <a:custGeom>
              <a:avLst/>
              <a:gdLst/>
              <a:ahLst/>
              <a:cxnLst/>
              <a:rect l="l" t="t" r="r" b="b"/>
              <a:pathLst>
                <a:path w="142875" h="257175">
                  <a:moveTo>
                    <a:pt x="0" y="228600"/>
                  </a:moveTo>
                  <a:cubicBezTo>
                    <a:pt x="0" y="244382"/>
                    <a:pt x="12793" y="257175"/>
                    <a:pt x="28575" y="257175"/>
                  </a:cubicBezTo>
                  <a:cubicBezTo>
                    <a:pt x="57150" y="257175"/>
                    <a:pt x="57150" y="200025"/>
                    <a:pt x="71438" y="128588"/>
                  </a:cubicBezTo>
                  <a:cubicBezTo>
                    <a:pt x="85725" y="57150"/>
                    <a:pt x="85725" y="0"/>
                    <a:pt x="114300" y="0"/>
                  </a:cubicBezTo>
                  <a:cubicBezTo>
                    <a:pt x="130082" y="0"/>
                    <a:pt x="142875" y="12793"/>
                    <a:pt x="142875" y="28575"/>
                  </a:cubicBezTo>
                </a:path>
              </a:pathLst>
            </a:custGeom>
            <a:noFill/>
            <a:ln w="9525">
              <a:solidFill>
                <a:srgbClr val="E8834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09638" y="4124325"/>
              <a:ext cx="85725" cy="9525"/>
            </a:xfrm>
            <a:custGeom>
              <a:avLst/>
              <a:gdLst/>
              <a:ahLst/>
              <a:cxnLst/>
              <a:rect l="l" t="t" r="r" b="b"/>
              <a:pathLst>
                <a:path w="85725" h="9525">
                  <a:moveTo>
                    <a:pt x="0" y="0"/>
                  </a:moveTo>
                  <a:lnTo>
                    <a:pt x="85725" y="0"/>
                  </a:lnTo>
                </a:path>
              </a:pathLst>
            </a:custGeom>
            <a:noFill/>
            <a:ln w="9525">
              <a:solidFill>
                <a:srgbClr val="E8834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1052512" y="412432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85725" y="85725"/>
                  </a:lnTo>
                </a:path>
              </a:pathLst>
            </a:custGeom>
            <a:noFill/>
            <a:ln w="9525">
              <a:solidFill>
                <a:srgbClr val="E8834A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1052512" y="412432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85725"/>
                  </a:moveTo>
                  <a:lnTo>
                    <a:pt x="85725" y="0"/>
                  </a:lnTo>
                </a:path>
              </a:pathLst>
            </a:custGeom>
            <a:noFill/>
            <a:ln w="9525">
              <a:solidFill>
                <a:srgbClr val="E8834A"/>
              </a:solidFill>
            </a:ln>
          </p:spPr>
        </p:sp>
      </p:grpSp>
      <p:sp>
        <p:nvSpPr>
          <p:cNvPr id="42" name="TextBox 42"/>
          <p:cNvSpPr txBox="1"/>
          <p:nvPr/>
        </p:nvSpPr>
        <p:spPr>
          <a:xfrm>
            <a:off x="1295400" y="401002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834A"/>
                </a:solidFill>
                <a:latin typeface="Arial"/>
                <a:ea typeface="Microsoft YaHei"/>
                <a:cs typeface="Arial"/>
              </a:rPr>
              <a:t>会运用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19150" y="4410075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分离变量法推导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19150" y="4714875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定态薛定谔方程</a:t>
            </a:r>
          </a:p>
        </p:txBody>
      </p:sp>
      <p:sp>
        <p:nvSpPr>
          <p:cNvPr id="45" name="Freeform 45"/>
          <p:cNvSpPr/>
          <p:nvPr/>
        </p:nvSpPr>
        <p:spPr>
          <a:xfrm>
            <a:off x="6286500" y="3714750"/>
            <a:ext cx="5334000" cy="2286000"/>
          </a:xfrm>
          <a:custGeom>
            <a:avLst/>
            <a:gdLst/>
            <a:ahLst/>
            <a:cxnLst/>
            <a:rect l="l" t="t" r="r" b="b"/>
            <a:pathLst>
              <a:path w="5334000" h="2286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2190750"/>
                </a:lnTo>
                <a:cubicBezTo>
                  <a:pt x="5334000" y="2243355"/>
                  <a:pt x="5291355" y="2286000"/>
                  <a:pt x="5238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gradFill>
            <a:gsLst>
              <a:gs pos="0">
                <a:srgbClr val="FFF0F1"/>
              </a:gs>
              <a:gs pos="100000">
                <a:srgbClr val="FFE4E6"/>
              </a:gs>
            </a:gsLst>
            <a:lin ang="5400000" scaled="1"/>
          </a:gradFill>
          <a:ln w="14288">
            <a:solidFill>
              <a:srgbClr val="DE3545">
                <a:alpha val="40000"/>
              </a:srgbClr>
            </a:solidFill>
          </a:ln>
        </p:spPr>
      </p:sp>
      <p:sp>
        <p:nvSpPr>
          <p:cNvPr id="46" name="Freeform 46"/>
          <p:cNvSpPr/>
          <p:nvPr/>
        </p:nvSpPr>
        <p:spPr>
          <a:xfrm>
            <a:off x="6286500" y="3714750"/>
            <a:ext cx="76200" cy="2286000"/>
          </a:xfrm>
          <a:custGeom>
            <a:avLst/>
            <a:gdLst/>
            <a:ahLst/>
            <a:cxnLst/>
            <a:rect l="l" t="t" r="r" b="b"/>
            <a:pathLst>
              <a:path w="76200" h="22860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2247900"/>
                </a:lnTo>
                <a:cubicBezTo>
                  <a:pt x="76200" y="2268942"/>
                  <a:pt x="59142" y="2286000"/>
                  <a:pt x="38100" y="2286000"/>
                </a:cubicBezTo>
                <a:lnTo>
                  <a:pt x="38100" y="2286000"/>
                </a:lnTo>
                <a:cubicBezTo>
                  <a:pt x="17058" y="2286000"/>
                  <a:pt x="0" y="2268942"/>
                  <a:pt x="0" y="2247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47" name="Freeform 47"/>
          <p:cNvSpPr/>
          <p:nvPr/>
        </p:nvSpPr>
        <p:spPr>
          <a:xfrm>
            <a:off x="6595748" y="4010025"/>
            <a:ext cx="257489" cy="228600"/>
          </a:xfrm>
          <a:custGeom>
            <a:avLst/>
            <a:gdLst/>
            <a:ahLst/>
            <a:cxnLst/>
            <a:rect l="l" t="t" r="r" b="b"/>
            <a:pathLst>
              <a:path w="257489" h="228600">
                <a:moveTo>
                  <a:pt x="257489" y="114300"/>
                </a:moveTo>
                <a:lnTo>
                  <a:pt x="228914" y="114300"/>
                </a:lnTo>
                <a:cubicBezTo>
                  <a:pt x="216141" y="114300"/>
                  <a:pt x="205168" y="102056"/>
                  <a:pt x="203754" y="85725"/>
                </a:cubicBezTo>
                <a:cubicBezTo>
                  <a:pt x="199525" y="36433"/>
                  <a:pt x="193053" y="0"/>
                  <a:pt x="164478" y="0"/>
                </a:cubicBezTo>
                <a:cubicBezTo>
                  <a:pt x="135903" y="0"/>
                  <a:pt x="128759" y="51178"/>
                  <a:pt x="128759" y="114300"/>
                </a:cubicBezTo>
                <a:cubicBezTo>
                  <a:pt x="128759" y="177422"/>
                  <a:pt x="121615" y="228600"/>
                  <a:pt x="93040" y="228600"/>
                </a:cubicBezTo>
                <a:cubicBezTo>
                  <a:pt x="64465" y="228600"/>
                  <a:pt x="58007" y="192210"/>
                  <a:pt x="53764" y="142875"/>
                </a:cubicBezTo>
                <a:cubicBezTo>
                  <a:pt x="52335" y="126487"/>
                  <a:pt x="41377" y="114300"/>
                  <a:pt x="28575" y="114300"/>
                </a:cubicBezTo>
                <a:lnTo>
                  <a:pt x="0" y="114300"/>
                </a:lnTo>
              </a:path>
            </a:pathLst>
          </a:custGeom>
          <a:noFill/>
          <a:ln w="9525">
            <a:solidFill>
              <a:srgbClr val="DE3545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7010400" y="401002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会判断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534150" y="4410075"/>
            <a:ext cx="22288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无限深方势阱中粒子的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534150" y="4714875"/>
            <a:ext cx="22288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允许能级与波函数形式</a:t>
            </a:r>
          </a:p>
        </p:txBody>
      </p:sp>
      <p:sp>
        <p:nvSpPr>
          <p:cNvPr id="51" name="Rectangle 51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3D3530">
              <a:alpha val="6000"/>
            </a:srgbClr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559118" y="6647974"/>
            <a:ext cx="26093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9E98"/>
                </a:solidFill>
                <a:latin typeface="Arial"/>
                <a:ea typeface="Microsoft YaHei"/>
                <a:cs typeface="Arial"/>
              </a:rPr>
              <a:t>量子力学基础 · 定态与一维无限深方势阱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451479" y="6647974"/>
            <a:ext cx="181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E98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742950"/>
            <a:ext cx="12192000" cy="28575"/>
          </a:xfrm>
          <a:prstGeom prst="rect">
            <a:avLst/>
          </a:prstGeom>
          <a:gradFill>
            <a:gsLst>
              <a:gs pos="0">
                <a:srgbClr val="DE3545"/>
              </a:gs>
              <a:gs pos="100000">
                <a:srgbClr val="E8834A"/>
              </a:gs>
            </a:gsLst>
            <a:lin ang="0" scaled="1"/>
          </a:gra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11239500" y="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0" y="0"/>
                </a:moveTo>
                <a:lnTo>
                  <a:pt x="952500" y="0"/>
                </a:lnTo>
                <a:lnTo>
                  <a:pt x="952500" y="762000"/>
                </a:lnTo>
                <a:close/>
              </a:path>
            </a:pathLst>
          </a:custGeom>
          <a:solidFill>
            <a:srgbClr val="DE3545">
              <a:alpha val="12000"/>
            </a:srgbClr>
          </a:solidFill>
          <a:ln>
            <a:noFill/>
          </a:ln>
        </p:spPr>
      </p:sp>
      <p:sp>
        <p:nvSpPr>
          <p:cNvPr id="6" name="Polygon 6"/>
          <p:cNvSpPr/>
          <p:nvPr/>
        </p:nvSpPr>
        <p:spPr>
          <a:xfrm>
            <a:off x="571500" y="190500"/>
            <a:ext cx="114300" cy="285750"/>
          </a:xfrm>
          <a:custGeom>
            <a:avLst/>
            <a:gdLst/>
            <a:ahLst/>
            <a:cxnLst/>
            <a:rect l="l" t="t" r="r" b="b"/>
            <a:pathLst>
              <a:path w="114300" h="285750">
                <a:moveTo>
                  <a:pt x="0" y="0"/>
                </a:moveTo>
                <a:lnTo>
                  <a:pt x="1143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7" name="Polygon 7"/>
          <p:cNvSpPr/>
          <p:nvPr/>
        </p:nvSpPr>
        <p:spPr>
          <a:xfrm>
            <a:off x="742950" y="190500"/>
            <a:ext cx="114300" cy="285750"/>
          </a:xfrm>
          <a:custGeom>
            <a:avLst/>
            <a:gdLst/>
            <a:ahLst/>
            <a:cxnLst/>
            <a:rect l="l" t="t" r="r" b="b"/>
            <a:pathLst>
              <a:path w="114300" h="285750">
                <a:moveTo>
                  <a:pt x="0" y="0"/>
                </a:moveTo>
                <a:lnTo>
                  <a:pt x="1143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E8834A">
              <a:alpha val="6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23925" y="252412"/>
            <a:ext cx="143732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课堂导入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876300"/>
            <a:ext cx="11049000" cy="533400"/>
          </a:xfrm>
          <a:custGeom>
            <a:avLst/>
            <a:gdLst/>
            <a:ahLst/>
            <a:cxnLst/>
            <a:rect l="l" t="t" r="r" b="b"/>
            <a:pathLst>
              <a:path w="11049000" h="5334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457200"/>
                </a:lnTo>
                <a:cubicBezTo>
                  <a:pt x="11049000" y="499284"/>
                  <a:pt x="11014884" y="533400"/>
                  <a:pt x="10972800" y="533400"/>
                </a:cubicBezTo>
                <a:lnTo>
                  <a:pt x="76200" y="533400"/>
                </a:lnTo>
                <a:cubicBezTo>
                  <a:pt x="34116" y="533400"/>
                  <a:pt x="0" y="499284"/>
                  <a:pt x="0" y="457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4EC"/>
          </a:solidFill>
          <a:ln w="14288">
            <a:solidFill>
              <a:srgbClr val="E8834A">
                <a:alpha val="50000"/>
              </a:srgbClr>
            </a:solidFill>
          </a:ln>
        </p:spPr>
      </p:sp>
      <p:grpSp>
        <p:nvGrpSpPr>
          <p:cNvPr id="13" name="Group 13"/>
          <p:cNvGrpSpPr/>
          <p:nvPr/>
        </p:nvGrpSpPr>
        <p:grpSpPr>
          <a:xfrm>
            <a:off x="766762" y="1014412"/>
            <a:ext cx="257175" cy="257175"/>
            <a:chOff x="766762" y="1014412"/>
            <a:chExt cx="257175" cy="257175"/>
          </a:xfrm>
        </p:grpSpPr>
        <p:sp>
          <p:nvSpPr>
            <p:cNvPr id="10" name="Freeform 10"/>
            <p:cNvSpPr/>
            <p:nvPr/>
          </p:nvSpPr>
          <p:spPr>
            <a:xfrm>
              <a:off x="766762" y="1014412"/>
              <a:ext cx="257175" cy="128588"/>
            </a:xfrm>
            <a:custGeom>
              <a:avLst/>
              <a:gdLst/>
              <a:ahLst/>
              <a:cxnLst/>
              <a:rect l="l" t="t" r="r" b="b"/>
              <a:pathLst>
                <a:path w="257175" h="128588">
                  <a:moveTo>
                    <a:pt x="0" y="128588"/>
                  </a:moveTo>
                  <a:lnTo>
                    <a:pt x="14288" y="128588"/>
                  </a:lnTo>
                  <a:moveTo>
                    <a:pt x="128588" y="0"/>
                  </a:moveTo>
                  <a:lnTo>
                    <a:pt x="128588" y="14288"/>
                  </a:lnTo>
                  <a:moveTo>
                    <a:pt x="242888" y="128588"/>
                  </a:moveTo>
                  <a:lnTo>
                    <a:pt x="257175" y="128588"/>
                  </a:lnTo>
                  <a:moveTo>
                    <a:pt x="37148" y="37148"/>
                  </a:moveTo>
                  <a:lnTo>
                    <a:pt x="47149" y="47149"/>
                  </a:lnTo>
                  <a:moveTo>
                    <a:pt x="220027" y="37148"/>
                  </a:moveTo>
                  <a:lnTo>
                    <a:pt x="210026" y="47149"/>
                  </a:lnTo>
                </a:path>
              </a:pathLst>
            </a:custGeom>
            <a:noFill/>
            <a:ln w="9525">
              <a:solidFill>
                <a:srgbClr val="E8834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817855" y="1071562"/>
              <a:ext cx="154990" cy="200025"/>
            </a:xfrm>
            <a:custGeom>
              <a:avLst/>
              <a:gdLst/>
              <a:ahLst/>
              <a:cxnLst/>
              <a:rect l="l" t="t" r="r" b="b"/>
              <a:pathLst>
                <a:path w="154990" h="200025">
                  <a:moveTo>
                    <a:pt x="34633" y="128588"/>
                  </a:moveTo>
                  <a:cubicBezTo>
                    <a:pt x="10034" y="110138"/>
                    <a:pt x="0" y="78018"/>
                    <a:pt x="9724" y="48847"/>
                  </a:cubicBezTo>
                  <a:cubicBezTo>
                    <a:pt x="19447" y="19676"/>
                    <a:pt x="46746" y="0"/>
                    <a:pt x="77495" y="0"/>
                  </a:cubicBezTo>
                  <a:cubicBezTo>
                    <a:pt x="108244" y="0"/>
                    <a:pt x="135543" y="19676"/>
                    <a:pt x="145267" y="48847"/>
                  </a:cubicBezTo>
                  <a:cubicBezTo>
                    <a:pt x="154990" y="78018"/>
                    <a:pt x="144957" y="110138"/>
                    <a:pt x="120358" y="128588"/>
                  </a:cubicBezTo>
                  <a:cubicBezTo>
                    <a:pt x="109044" y="139786"/>
                    <a:pt x="103739" y="155703"/>
                    <a:pt x="106070" y="171450"/>
                  </a:cubicBezTo>
                  <a:cubicBezTo>
                    <a:pt x="106070" y="187232"/>
                    <a:pt x="93277" y="200025"/>
                    <a:pt x="77495" y="200025"/>
                  </a:cubicBezTo>
                  <a:cubicBezTo>
                    <a:pt x="61714" y="200025"/>
                    <a:pt x="48920" y="187232"/>
                    <a:pt x="48920" y="171450"/>
                  </a:cubicBezTo>
                  <a:cubicBezTo>
                    <a:pt x="51252" y="155703"/>
                    <a:pt x="45946" y="139786"/>
                    <a:pt x="34633" y="128588"/>
                  </a:cubicBezTo>
                </a:path>
              </a:pathLst>
            </a:custGeom>
            <a:noFill/>
            <a:ln w="9525">
              <a:solidFill>
                <a:srgbClr val="E8834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862489" y="1214438"/>
              <a:ext cx="65723" cy="9525"/>
            </a:xfrm>
            <a:custGeom>
              <a:avLst/>
              <a:gdLst/>
              <a:ahLst/>
              <a:cxnLst/>
              <a:rect l="l" t="t" r="r" b="b"/>
              <a:pathLst>
                <a:path w="65723" h="9525">
                  <a:moveTo>
                    <a:pt x="0" y="0"/>
                  </a:moveTo>
                  <a:lnTo>
                    <a:pt x="65723" y="0"/>
                  </a:lnTo>
                </a:path>
              </a:pathLst>
            </a:custGeom>
            <a:noFill/>
            <a:ln w="9525">
              <a:solidFill>
                <a:srgbClr val="E8834A"/>
              </a:solidFill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160145" y="1022032"/>
            <a:ext cx="462178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一个粒子被"关"在盒子里，会发生什么？</a:t>
            </a:r>
          </a:p>
        </p:txBody>
      </p:sp>
      <p:sp>
        <p:nvSpPr>
          <p:cNvPr id="15" name="Line 15"/>
          <p:cNvSpPr/>
          <p:nvPr/>
        </p:nvSpPr>
        <p:spPr>
          <a:xfrm>
            <a:off x="6096000" y="1524000"/>
            <a:ext cx="9525" cy="4857750"/>
          </a:xfrm>
          <a:custGeom>
            <a:avLst/>
            <a:gdLst/>
            <a:ahLst/>
            <a:cxnLst/>
            <a:rect l="l" t="t" r="r" b="b"/>
            <a:pathLst>
              <a:path w="9525" h="4857750">
                <a:moveTo>
                  <a:pt x="0" y="0"/>
                </a:moveTo>
                <a:lnTo>
                  <a:pt x="0" y="4857750"/>
                </a:lnTo>
              </a:path>
            </a:pathLst>
          </a:custGeom>
          <a:noFill/>
          <a:ln w="19050">
            <a:solidFill>
              <a:srgbClr val="E8DDD5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5829300" y="3686175"/>
            <a:ext cx="533400" cy="533400"/>
          </a:xfrm>
          <a:prstGeom prst="ellipse">
            <a:avLst/>
          </a:prstGeom>
          <a:solidFill>
            <a:srgbClr val="DE3545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964991" y="3883342"/>
            <a:ext cx="26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VS</a:t>
            </a:r>
          </a:p>
        </p:txBody>
      </p:sp>
      <p:sp>
        <p:nvSpPr>
          <p:cNvPr id="18" name="Freeform 18"/>
          <p:cNvSpPr/>
          <p:nvPr/>
        </p:nvSpPr>
        <p:spPr>
          <a:xfrm>
            <a:off x="571500" y="1524000"/>
            <a:ext cx="5286375" cy="4762500"/>
          </a:xfrm>
          <a:custGeom>
            <a:avLst/>
            <a:gdLst/>
            <a:ahLst/>
            <a:cxnLst/>
            <a:rect l="l" t="t" r="r" b="b"/>
            <a:pathLst>
              <a:path w="5286375" h="4762500">
                <a:moveTo>
                  <a:pt x="95250" y="0"/>
                </a:moveTo>
                <a:lnTo>
                  <a:pt x="5191125" y="0"/>
                </a:lnTo>
                <a:cubicBezTo>
                  <a:pt x="5243730" y="0"/>
                  <a:pt x="5286375" y="42645"/>
                  <a:pt x="5286375" y="95250"/>
                </a:cubicBezTo>
                <a:lnTo>
                  <a:pt x="5286375" y="4667250"/>
                </a:lnTo>
                <a:cubicBezTo>
                  <a:pt x="5286375" y="4719855"/>
                  <a:pt x="5243730" y="4762500"/>
                  <a:pt x="5191125" y="4762500"/>
                </a:cubicBezTo>
                <a:lnTo>
                  <a:pt x="95250" y="4762500"/>
                </a:lnTo>
                <a:cubicBezTo>
                  <a:pt x="42645" y="4762500"/>
                  <a:pt x="0" y="4719855"/>
                  <a:pt x="0" y="466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gradFill>
            <a:gsLst>
              <a:gs pos="0">
                <a:srgbClr val="F5F5F5"/>
              </a:gs>
              <a:gs pos="100000">
                <a:srgbClr val="EBEBEB"/>
              </a:gs>
            </a:gsLst>
            <a:lin ang="5400000" scaled="1"/>
          </a:gradFill>
          <a:ln w="14288">
            <a:solidFill>
              <a:srgbClr val="CCCCCC"/>
            </a:solidFill>
          </a:ln>
        </p:spPr>
      </p:sp>
      <p:sp>
        <p:nvSpPr>
          <p:cNvPr id="19" name="Freeform 19"/>
          <p:cNvSpPr/>
          <p:nvPr/>
        </p:nvSpPr>
        <p:spPr>
          <a:xfrm>
            <a:off x="571500" y="1524000"/>
            <a:ext cx="5286375" cy="495300"/>
          </a:xfrm>
          <a:custGeom>
            <a:avLst/>
            <a:gdLst/>
            <a:ahLst/>
            <a:cxnLst/>
            <a:rect l="l" t="t" r="r" b="b"/>
            <a:pathLst>
              <a:path w="5286375" h="495300">
                <a:moveTo>
                  <a:pt x="95250" y="0"/>
                </a:moveTo>
                <a:lnTo>
                  <a:pt x="5191125" y="0"/>
                </a:lnTo>
                <a:cubicBezTo>
                  <a:pt x="5243730" y="0"/>
                  <a:pt x="5286375" y="42645"/>
                  <a:pt x="5286375" y="95250"/>
                </a:cubicBezTo>
                <a:lnTo>
                  <a:pt x="5286375" y="400050"/>
                </a:lnTo>
                <a:cubicBezTo>
                  <a:pt x="5286375" y="452655"/>
                  <a:pt x="5243730" y="495300"/>
                  <a:pt x="5191125" y="495300"/>
                </a:cubicBezTo>
                <a:lnTo>
                  <a:pt x="95250" y="495300"/>
                </a:lnTo>
                <a:cubicBezTo>
                  <a:pt x="42645" y="495300"/>
                  <a:pt x="0" y="452655"/>
                  <a:pt x="0" y="4000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888888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1828800"/>
            <a:ext cx="5286375" cy="190500"/>
          </a:xfrm>
          <a:prstGeom prst="rect">
            <a:avLst/>
          </a:prstGeom>
          <a:solidFill>
            <a:srgbClr val="888888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682907" y="166020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经典粒子</a:t>
            </a:r>
          </a:p>
        </p:txBody>
      </p:sp>
      <p:sp>
        <p:nvSpPr>
          <p:cNvPr id="22" name="Ellipse 22"/>
          <p:cNvSpPr/>
          <p:nvPr/>
        </p:nvSpPr>
        <p:spPr>
          <a:xfrm>
            <a:off x="876300" y="2352675"/>
            <a:ext cx="152400" cy="1524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123950" y="2333625"/>
            <a:ext cx="13525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任意速度均可</a:t>
            </a:r>
          </a:p>
        </p:txBody>
      </p:sp>
      <p:sp>
        <p:nvSpPr>
          <p:cNvPr id="24" name="Line 24"/>
          <p:cNvSpPr/>
          <p:nvPr/>
        </p:nvSpPr>
        <p:spPr>
          <a:xfrm>
            <a:off x="762000" y="2714625"/>
            <a:ext cx="4905375" cy="9525"/>
          </a:xfrm>
          <a:custGeom>
            <a:avLst/>
            <a:gdLst/>
            <a:ahLst/>
            <a:cxnLst/>
            <a:rect l="l" t="t" r="r" b="b"/>
            <a:pathLst>
              <a:path w="4905375" h="9525">
                <a:moveTo>
                  <a:pt x="0" y="0"/>
                </a:moveTo>
                <a:lnTo>
                  <a:pt x="4905375" y="0"/>
                </a:lnTo>
              </a:path>
            </a:pathLst>
          </a:custGeom>
          <a:noFill/>
          <a:ln w="9525">
            <a:solidFill>
              <a:srgbClr val="CCCCCC">
                <a:alpha val="50000"/>
              </a:srgbClr>
            </a:solidFill>
          </a:ln>
        </p:spPr>
      </p:sp>
      <p:sp>
        <p:nvSpPr>
          <p:cNvPr id="25" name="Ellipse 25"/>
          <p:cNvSpPr/>
          <p:nvPr/>
        </p:nvSpPr>
        <p:spPr>
          <a:xfrm>
            <a:off x="876300" y="3019425"/>
            <a:ext cx="152400" cy="1524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23950" y="3000375"/>
            <a:ext cx="24479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能量连续变化（任意值）</a:t>
            </a:r>
          </a:p>
        </p:txBody>
      </p:sp>
      <p:sp>
        <p:nvSpPr>
          <p:cNvPr id="27" name="Line 27"/>
          <p:cNvSpPr/>
          <p:nvPr/>
        </p:nvSpPr>
        <p:spPr>
          <a:xfrm>
            <a:off x="762000" y="3381375"/>
            <a:ext cx="4905375" cy="9525"/>
          </a:xfrm>
          <a:custGeom>
            <a:avLst/>
            <a:gdLst/>
            <a:ahLst/>
            <a:cxnLst/>
            <a:rect l="l" t="t" r="r" b="b"/>
            <a:pathLst>
              <a:path w="4905375" h="9525">
                <a:moveTo>
                  <a:pt x="0" y="0"/>
                </a:moveTo>
                <a:lnTo>
                  <a:pt x="4905375" y="0"/>
                </a:lnTo>
              </a:path>
            </a:pathLst>
          </a:custGeom>
          <a:noFill/>
          <a:ln w="9525">
            <a:solidFill>
              <a:srgbClr val="CCCCCC">
                <a:alpha val="50000"/>
              </a:srgbClr>
            </a:solidFill>
          </a:ln>
        </p:spPr>
      </p:sp>
      <p:sp>
        <p:nvSpPr>
          <p:cNvPr id="28" name="Ellipse 28"/>
          <p:cNvSpPr/>
          <p:nvPr/>
        </p:nvSpPr>
        <p:spPr>
          <a:xfrm>
            <a:off x="876300" y="3686175"/>
            <a:ext cx="152400" cy="1524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123950" y="3667125"/>
            <a:ext cx="20097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在盒内匀速往返运动</a:t>
            </a:r>
          </a:p>
        </p:txBody>
      </p:sp>
      <p:sp>
        <p:nvSpPr>
          <p:cNvPr id="30" name="Line 30"/>
          <p:cNvSpPr/>
          <p:nvPr/>
        </p:nvSpPr>
        <p:spPr>
          <a:xfrm>
            <a:off x="762000" y="4048125"/>
            <a:ext cx="4905375" cy="9525"/>
          </a:xfrm>
          <a:custGeom>
            <a:avLst/>
            <a:gdLst/>
            <a:ahLst/>
            <a:cxnLst/>
            <a:rect l="l" t="t" r="r" b="b"/>
            <a:pathLst>
              <a:path w="4905375" h="9525">
                <a:moveTo>
                  <a:pt x="0" y="0"/>
                </a:moveTo>
                <a:lnTo>
                  <a:pt x="4905375" y="0"/>
                </a:lnTo>
              </a:path>
            </a:pathLst>
          </a:custGeom>
          <a:noFill/>
          <a:ln w="9525">
            <a:solidFill>
              <a:srgbClr val="CCCCCC">
                <a:alpha val="50000"/>
              </a:srgbClr>
            </a:solidFill>
          </a:ln>
        </p:spPr>
      </p:sp>
      <p:sp>
        <p:nvSpPr>
          <p:cNvPr id="31" name="Ellipse 31"/>
          <p:cNvSpPr/>
          <p:nvPr/>
        </p:nvSpPr>
        <p:spPr>
          <a:xfrm>
            <a:off x="876300" y="4352925"/>
            <a:ext cx="152400" cy="1524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23950" y="4333875"/>
            <a:ext cx="184546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可以静止（E = 0）</a:t>
            </a:r>
          </a:p>
        </p:txBody>
      </p:sp>
      <p:sp>
        <p:nvSpPr>
          <p:cNvPr id="33" name="Line 33"/>
          <p:cNvSpPr/>
          <p:nvPr/>
        </p:nvSpPr>
        <p:spPr>
          <a:xfrm>
            <a:off x="762000" y="4714875"/>
            <a:ext cx="4905375" cy="9525"/>
          </a:xfrm>
          <a:custGeom>
            <a:avLst/>
            <a:gdLst/>
            <a:ahLst/>
            <a:cxnLst/>
            <a:rect l="l" t="t" r="r" b="b"/>
            <a:pathLst>
              <a:path w="4905375" h="9525">
                <a:moveTo>
                  <a:pt x="0" y="0"/>
                </a:moveTo>
                <a:lnTo>
                  <a:pt x="4905375" y="0"/>
                </a:lnTo>
              </a:path>
            </a:pathLst>
          </a:custGeom>
          <a:noFill/>
          <a:ln w="9525">
            <a:solidFill>
              <a:srgbClr val="CCCCCC">
                <a:alpha val="50000"/>
              </a:srgbClr>
            </a:solidFill>
          </a:ln>
        </p:spPr>
      </p:sp>
      <p:sp>
        <p:nvSpPr>
          <p:cNvPr id="34" name="Ellipse 34"/>
          <p:cNvSpPr/>
          <p:nvPr/>
        </p:nvSpPr>
        <p:spPr>
          <a:xfrm>
            <a:off x="876300" y="5019675"/>
            <a:ext cx="152400" cy="1524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123950" y="5000625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位置可精确确定</a:t>
            </a:r>
          </a:p>
        </p:txBody>
      </p:sp>
      <p:sp>
        <p:nvSpPr>
          <p:cNvPr id="36" name="Freeform 36"/>
          <p:cNvSpPr/>
          <p:nvPr/>
        </p:nvSpPr>
        <p:spPr>
          <a:xfrm>
            <a:off x="762000" y="5524500"/>
            <a:ext cx="4905375" cy="571500"/>
          </a:xfrm>
          <a:custGeom>
            <a:avLst/>
            <a:gdLst/>
            <a:ahLst/>
            <a:cxnLst/>
            <a:rect l="l" t="t" r="r" b="b"/>
            <a:pathLst>
              <a:path w="4905375" h="571500">
                <a:moveTo>
                  <a:pt x="57150" y="0"/>
                </a:moveTo>
                <a:lnTo>
                  <a:pt x="4848225" y="0"/>
                </a:lnTo>
                <a:cubicBezTo>
                  <a:pt x="4879788" y="0"/>
                  <a:pt x="4905375" y="25587"/>
                  <a:pt x="4905375" y="57150"/>
                </a:cubicBezTo>
                <a:lnTo>
                  <a:pt x="4905375" y="514350"/>
                </a:lnTo>
                <a:cubicBezTo>
                  <a:pt x="4905375" y="545913"/>
                  <a:pt x="4879788" y="571500"/>
                  <a:pt x="4848225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839039" y="5713571"/>
            <a:ext cx="274177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经典力学：连续、确定、直觉</a:t>
            </a:r>
          </a:p>
        </p:txBody>
      </p:sp>
      <p:sp>
        <p:nvSpPr>
          <p:cNvPr id="38" name="Freeform 38"/>
          <p:cNvSpPr/>
          <p:nvPr/>
        </p:nvSpPr>
        <p:spPr>
          <a:xfrm>
            <a:off x="6334125" y="1524000"/>
            <a:ext cx="5286375" cy="4762500"/>
          </a:xfrm>
          <a:custGeom>
            <a:avLst/>
            <a:gdLst/>
            <a:ahLst/>
            <a:cxnLst/>
            <a:rect l="l" t="t" r="r" b="b"/>
            <a:pathLst>
              <a:path w="5286375" h="4762500">
                <a:moveTo>
                  <a:pt x="95250" y="0"/>
                </a:moveTo>
                <a:lnTo>
                  <a:pt x="5191125" y="0"/>
                </a:lnTo>
                <a:cubicBezTo>
                  <a:pt x="5243730" y="0"/>
                  <a:pt x="5286375" y="42645"/>
                  <a:pt x="5286375" y="95250"/>
                </a:cubicBezTo>
                <a:lnTo>
                  <a:pt x="5286375" y="4667250"/>
                </a:lnTo>
                <a:cubicBezTo>
                  <a:pt x="5286375" y="4719855"/>
                  <a:pt x="5243730" y="4762500"/>
                  <a:pt x="5191125" y="4762500"/>
                </a:cubicBezTo>
                <a:lnTo>
                  <a:pt x="95250" y="4762500"/>
                </a:lnTo>
                <a:cubicBezTo>
                  <a:pt x="42645" y="4762500"/>
                  <a:pt x="0" y="4719855"/>
                  <a:pt x="0" y="466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gradFill>
            <a:gsLst>
              <a:gs pos="0">
                <a:srgbClr val="EEF6FF"/>
              </a:gs>
              <a:gs pos="100000">
                <a:srgbClr val="DCF0FF"/>
              </a:gs>
            </a:gsLst>
            <a:lin ang="5400000" scaled="1"/>
          </a:gradFill>
          <a:ln w="14288">
            <a:solidFill>
              <a:srgbClr val="2E86AB"/>
            </a:solidFill>
          </a:ln>
        </p:spPr>
      </p:sp>
      <p:sp>
        <p:nvSpPr>
          <p:cNvPr id="39" name="Freeform 39"/>
          <p:cNvSpPr/>
          <p:nvPr/>
        </p:nvSpPr>
        <p:spPr>
          <a:xfrm>
            <a:off x="6334125" y="1524000"/>
            <a:ext cx="5286375" cy="495300"/>
          </a:xfrm>
          <a:custGeom>
            <a:avLst/>
            <a:gdLst/>
            <a:ahLst/>
            <a:cxnLst/>
            <a:rect l="l" t="t" r="r" b="b"/>
            <a:pathLst>
              <a:path w="5286375" h="495300">
                <a:moveTo>
                  <a:pt x="95250" y="0"/>
                </a:moveTo>
                <a:lnTo>
                  <a:pt x="5191125" y="0"/>
                </a:lnTo>
                <a:cubicBezTo>
                  <a:pt x="5243730" y="0"/>
                  <a:pt x="5286375" y="42645"/>
                  <a:pt x="5286375" y="95250"/>
                </a:cubicBezTo>
                <a:lnTo>
                  <a:pt x="5286375" y="400050"/>
                </a:lnTo>
                <a:cubicBezTo>
                  <a:pt x="5286375" y="452655"/>
                  <a:pt x="5243730" y="495300"/>
                  <a:pt x="5191125" y="495300"/>
                </a:cubicBezTo>
                <a:lnTo>
                  <a:pt x="95250" y="495300"/>
                </a:lnTo>
                <a:cubicBezTo>
                  <a:pt x="42645" y="495300"/>
                  <a:pt x="0" y="452655"/>
                  <a:pt x="0" y="4000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E86AB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6334125" y="1828800"/>
            <a:ext cx="5286375" cy="190500"/>
          </a:xfrm>
          <a:prstGeom prst="rect">
            <a:avLst/>
          </a:prstGeom>
          <a:solidFill>
            <a:srgbClr val="2E86AB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445532" y="166020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量子粒子</a:t>
            </a:r>
          </a:p>
        </p:txBody>
      </p:sp>
      <p:sp>
        <p:nvSpPr>
          <p:cNvPr id="42" name="Ellipse 42"/>
          <p:cNvSpPr/>
          <p:nvPr/>
        </p:nvSpPr>
        <p:spPr>
          <a:xfrm>
            <a:off x="6638925" y="2352675"/>
            <a:ext cx="152400" cy="1524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6886575" y="2333625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只允许特定速度（量子化）</a:t>
            </a:r>
          </a:p>
        </p:txBody>
      </p:sp>
      <p:sp>
        <p:nvSpPr>
          <p:cNvPr id="44" name="Line 44"/>
          <p:cNvSpPr/>
          <p:nvPr/>
        </p:nvSpPr>
        <p:spPr>
          <a:xfrm>
            <a:off x="6524625" y="2714625"/>
            <a:ext cx="4905375" cy="9525"/>
          </a:xfrm>
          <a:custGeom>
            <a:avLst/>
            <a:gdLst/>
            <a:ahLst/>
            <a:cxnLst/>
            <a:rect l="l" t="t" r="r" b="b"/>
            <a:pathLst>
              <a:path w="4905375" h="9525">
                <a:moveTo>
                  <a:pt x="0" y="0"/>
                </a:moveTo>
                <a:lnTo>
                  <a:pt x="4905375" y="0"/>
                </a:lnTo>
              </a:path>
            </a:pathLst>
          </a:custGeom>
          <a:noFill/>
          <a:ln w="9525">
            <a:solidFill>
              <a:srgbClr val="2E86AB">
                <a:alpha val="30000"/>
              </a:srgbClr>
            </a:solidFill>
          </a:ln>
        </p:spPr>
      </p:sp>
      <p:sp>
        <p:nvSpPr>
          <p:cNvPr id="45" name="Ellipse 45"/>
          <p:cNvSpPr/>
          <p:nvPr/>
        </p:nvSpPr>
        <p:spPr>
          <a:xfrm>
            <a:off x="6638925" y="3019425"/>
            <a:ext cx="152400" cy="1524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886575" y="3000375"/>
            <a:ext cx="28532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能量只取离散值 E₁, E₂, E₃…</a:t>
            </a:r>
          </a:p>
        </p:txBody>
      </p:sp>
      <p:sp>
        <p:nvSpPr>
          <p:cNvPr id="47" name="Line 47"/>
          <p:cNvSpPr/>
          <p:nvPr/>
        </p:nvSpPr>
        <p:spPr>
          <a:xfrm>
            <a:off x="6524625" y="3381375"/>
            <a:ext cx="4905375" cy="9525"/>
          </a:xfrm>
          <a:custGeom>
            <a:avLst/>
            <a:gdLst/>
            <a:ahLst/>
            <a:cxnLst/>
            <a:rect l="l" t="t" r="r" b="b"/>
            <a:pathLst>
              <a:path w="4905375" h="9525">
                <a:moveTo>
                  <a:pt x="0" y="0"/>
                </a:moveTo>
                <a:lnTo>
                  <a:pt x="4905375" y="0"/>
                </a:lnTo>
              </a:path>
            </a:pathLst>
          </a:custGeom>
          <a:noFill/>
          <a:ln w="9525">
            <a:solidFill>
              <a:srgbClr val="2E86AB">
                <a:alpha val="30000"/>
              </a:srgbClr>
            </a:solidFill>
          </a:ln>
        </p:spPr>
      </p:sp>
      <p:sp>
        <p:nvSpPr>
          <p:cNvPr id="48" name="Ellipse 48"/>
          <p:cNvSpPr/>
          <p:nvPr/>
        </p:nvSpPr>
        <p:spPr>
          <a:xfrm>
            <a:off x="6638925" y="3686175"/>
            <a:ext cx="152400" cy="1524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886575" y="3667125"/>
            <a:ext cx="20097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形成驻波（概率波）</a:t>
            </a:r>
          </a:p>
        </p:txBody>
      </p:sp>
      <p:sp>
        <p:nvSpPr>
          <p:cNvPr id="50" name="Line 50"/>
          <p:cNvSpPr/>
          <p:nvPr/>
        </p:nvSpPr>
        <p:spPr>
          <a:xfrm>
            <a:off x="6524625" y="4048125"/>
            <a:ext cx="4905375" cy="9525"/>
          </a:xfrm>
          <a:custGeom>
            <a:avLst/>
            <a:gdLst/>
            <a:ahLst/>
            <a:cxnLst/>
            <a:rect l="l" t="t" r="r" b="b"/>
            <a:pathLst>
              <a:path w="4905375" h="9525">
                <a:moveTo>
                  <a:pt x="0" y="0"/>
                </a:moveTo>
                <a:lnTo>
                  <a:pt x="4905375" y="0"/>
                </a:lnTo>
              </a:path>
            </a:pathLst>
          </a:custGeom>
          <a:noFill/>
          <a:ln w="9525">
            <a:solidFill>
              <a:srgbClr val="2E86AB">
                <a:alpha val="30000"/>
              </a:srgbClr>
            </a:solidFill>
          </a:ln>
        </p:spPr>
      </p:sp>
      <p:sp>
        <p:nvSpPr>
          <p:cNvPr id="51" name="Ellipse 51"/>
          <p:cNvSpPr/>
          <p:nvPr/>
        </p:nvSpPr>
        <p:spPr>
          <a:xfrm>
            <a:off x="6638925" y="4352925"/>
            <a:ext cx="152400" cy="1524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886575" y="4333875"/>
            <a:ext cx="25914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不能静止！零点能 E₁ &gt; 0</a:t>
            </a:r>
          </a:p>
        </p:txBody>
      </p:sp>
      <p:sp>
        <p:nvSpPr>
          <p:cNvPr id="53" name="Line 53"/>
          <p:cNvSpPr/>
          <p:nvPr/>
        </p:nvSpPr>
        <p:spPr>
          <a:xfrm>
            <a:off x="6524625" y="4714875"/>
            <a:ext cx="4905375" cy="9525"/>
          </a:xfrm>
          <a:custGeom>
            <a:avLst/>
            <a:gdLst/>
            <a:ahLst/>
            <a:cxnLst/>
            <a:rect l="l" t="t" r="r" b="b"/>
            <a:pathLst>
              <a:path w="4905375" h="9525">
                <a:moveTo>
                  <a:pt x="0" y="0"/>
                </a:moveTo>
                <a:lnTo>
                  <a:pt x="4905375" y="0"/>
                </a:lnTo>
              </a:path>
            </a:pathLst>
          </a:custGeom>
          <a:noFill/>
          <a:ln w="9525">
            <a:solidFill>
              <a:srgbClr val="2E86AB">
                <a:alpha val="30000"/>
              </a:srgbClr>
            </a:solidFill>
          </a:ln>
        </p:spPr>
      </p:sp>
      <p:sp>
        <p:nvSpPr>
          <p:cNvPr id="54" name="Ellipse 54"/>
          <p:cNvSpPr/>
          <p:nvPr/>
        </p:nvSpPr>
        <p:spPr>
          <a:xfrm>
            <a:off x="6638925" y="5019675"/>
            <a:ext cx="152400" cy="1524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6886575" y="5000625"/>
            <a:ext cx="1790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位置具有概率分布</a:t>
            </a:r>
          </a:p>
        </p:txBody>
      </p:sp>
      <p:sp>
        <p:nvSpPr>
          <p:cNvPr id="56" name="Freeform 56"/>
          <p:cNvSpPr/>
          <p:nvPr/>
        </p:nvSpPr>
        <p:spPr>
          <a:xfrm>
            <a:off x="6524625" y="5524500"/>
            <a:ext cx="4905375" cy="571500"/>
          </a:xfrm>
          <a:custGeom>
            <a:avLst/>
            <a:gdLst/>
            <a:ahLst/>
            <a:cxnLst/>
            <a:rect l="l" t="t" r="r" b="b"/>
            <a:pathLst>
              <a:path w="4905375" h="571500">
                <a:moveTo>
                  <a:pt x="57150" y="0"/>
                </a:moveTo>
                <a:lnTo>
                  <a:pt x="4848225" y="0"/>
                </a:lnTo>
                <a:cubicBezTo>
                  <a:pt x="4879788" y="0"/>
                  <a:pt x="4905375" y="25587"/>
                  <a:pt x="4905375" y="57150"/>
                </a:cubicBezTo>
                <a:lnTo>
                  <a:pt x="4905375" y="514350"/>
                </a:lnTo>
                <a:cubicBezTo>
                  <a:pt x="4905375" y="545913"/>
                  <a:pt x="4879788" y="571500"/>
                  <a:pt x="4848225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E86AB">
              <a:alpha val="15000"/>
            </a:srgbClr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7424761" y="5713571"/>
            <a:ext cx="309557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2E86AB"/>
                </a:solidFill>
                <a:latin typeface="Arial"/>
                <a:ea typeface="Microsoft YaHei"/>
                <a:cs typeface="Arial"/>
              </a:rPr>
              <a:t>量子力学：离散、概率、反直觉</a:t>
            </a:r>
          </a:p>
        </p:txBody>
      </p:sp>
      <p:sp>
        <p:nvSpPr>
          <p:cNvPr id="58" name="Rectangle 58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3D3530">
              <a:alpha val="6000"/>
            </a:srgbClr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559118" y="6647974"/>
            <a:ext cx="26093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9E98"/>
                </a:solidFill>
                <a:latin typeface="Arial"/>
                <a:ea typeface="Microsoft YaHei"/>
                <a:cs typeface="Arial"/>
              </a:rPr>
              <a:t>量子力学基础 · 定态与一维无限深方势阱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1451479" y="6647974"/>
            <a:ext cx="181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E98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742950"/>
            <a:ext cx="12192000" cy="28575"/>
          </a:xfrm>
          <a:prstGeom prst="rect">
            <a:avLst/>
          </a:prstGeom>
          <a:gradFill>
            <a:gsLst>
              <a:gs pos="0">
                <a:srgbClr val="DE3545"/>
              </a:gs>
              <a:gs pos="100000">
                <a:srgbClr val="E8834A"/>
              </a:gs>
            </a:gsLst>
            <a:lin ang="0" scaled="1"/>
          </a:gra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11239500" y="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0" y="0"/>
                </a:moveTo>
                <a:lnTo>
                  <a:pt x="952500" y="0"/>
                </a:lnTo>
                <a:lnTo>
                  <a:pt x="952500" y="762000"/>
                </a:lnTo>
                <a:close/>
              </a:path>
            </a:pathLst>
          </a:custGeom>
          <a:solidFill>
            <a:srgbClr val="DE3545">
              <a:alpha val="12000"/>
            </a:srgbClr>
          </a:solidFill>
          <a:ln>
            <a:noFill/>
          </a:ln>
        </p:spPr>
      </p:sp>
      <p:sp>
        <p:nvSpPr>
          <p:cNvPr id="6" name="Polygon 6"/>
          <p:cNvSpPr/>
          <p:nvPr/>
        </p:nvSpPr>
        <p:spPr>
          <a:xfrm>
            <a:off x="571500" y="190500"/>
            <a:ext cx="114300" cy="285750"/>
          </a:xfrm>
          <a:custGeom>
            <a:avLst/>
            <a:gdLst/>
            <a:ahLst/>
            <a:cxnLst/>
            <a:rect l="l" t="t" r="r" b="b"/>
            <a:pathLst>
              <a:path w="114300" h="285750">
                <a:moveTo>
                  <a:pt x="0" y="0"/>
                </a:moveTo>
                <a:lnTo>
                  <a:pt x="1143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7" name="Polygon 7"/>
          <p:cNvSpPr/>
          <p:nvPr/>
        </p:nvSpPr>
        <p:spPr>
          <a:xfrm>
            <a:off x="742950" y="190500"/>
            <a:ext cx="114300" cy="285750"/>
          </a:xfrm>
          <a:custGeom>
            <a:avLst/>
            <a:gdLst/>
            <a:ahLst/>
            <a:cxnLst/>
            <a:rect l="l" t="t" r="r" b="b"/>
            <a:pathLst>
              <a:path w="114300" h="285750">
                <a:moveTo>
                  <a:pt x="0" y="0"/>
                </a:moveTo>
                <a:lnTo>
                  <a:pt x="1143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E8834A">
              <a:alpha val="6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23925" y="252412"/>
            <a:ext cx="533631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新知1：如何求解含时薛定谔方程？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876300"/>
            <a:ext cx="1143000" cy="304800"/>
          </a:xfrm>
          <a:custGeom>
            <a:avLst/>
            <a:gdLst/>
            <a:ahLst/>
            <a:cxnLst/>
            <a:rect l="l" t="t" r="r" b="b"/>
            <a:pathLst>
              <a:path w="1143000" h="304800">
                <a:moveTo>
                  <a:pt x="57150" y="0"/>
                </a:moveTo>
                <a:lnTo>
                  <a:pt x="1085850" y="0"/>
                </a:lnTo>
                <a:cubicBezTo>
                  <a:pt x="1117413" y="0"/>
                  <a:pt x="1143000" y="25587"/>
                  <a:pt x="1143000" y="57150"/>
                </a:cubicBezTo>
                <a:lnTo>
                  <a:pt x="1143000" y="247650"/>
                </a:lnTo>
                <a:cubicBezTo>
                  <a:pt x="1143000" y="279213"/>
                  <a:pt x="1117413" y="304800"/>
                  <a:pt x="1085850" y="304800"/>
                </a:cubicBezTo>
                <a:lnTo>
                  <a:pt x="57150" y="304800"/>
                </a:lnTo>
                <a:cubicBezTo>
                  <a:pt x="25587" y="304800"/>
                  <a:pt x="0" y="279213"/>
                  <a:pt x="0" y="247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E86A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667703" y="946785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分离变量法</a:t>
            </a:r>
          </a:p>
        </p:txBody>
      </p:sp>
      <p:sp>
        <p:nvSpPr>
          <p:cNvPr id="11" name="Ellipse 11"/>
          <p:cNvSpPr/>
          <p:nvPr/>
        </p:nvSpPr>
        <p:spPr>
          <a:xfrm>
            <a:off x="628650" y="1314450"/>
            <a:ext cx="419100" cy="419100"/>
          </a:xfrm>
          <a:prstGeom prst="ellipse">
            <a:avLst/>
          </a:prstGeom>
          <a:solidFill>
            <a:srgbClr val="DE354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90001" y="1444942"/>
            <a:ext cx="96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0" y="1314450"/>
            <a:ext cx="279844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核心假设：波函数可以分离</a:t>
            </a:r>
          </a:p>
        </p:txBody>
      </p:sp>
      <p:sp>
        <p:nvSpPr>
          <p:cNvPr id="14" name="Freeform 14"/>
          <p:cNvSpPr/>
          <p:nvPr/>
        </p:nvSpPr>
        <p:spPr>
          <a:xfrm>
            <a:off x="1162050" y="1600200"/>
            <a:ext cx="10477500" cy="533400"/>
          </a:xfrm>
          <a:custGeom>
            <a:avLst/>
            <a:gdLst/>
            <a:ahLst/>
            <a:cxnLst/>
            <a:rect l="l" t="t" r="r" b="b"/>
            <a:pathLst>
              <a:path w="10477500" h="533400">
                <a:moveTo>
                  <a:pt x="57150" y="0"/>
                </a:moveTo>
                <a:lnTo>
                  <a:pt x="10420350" y="0"/>
                </a:lnTo>
                <a:cubicBezTo>
                  <a:pt x="10451913" y="0"/>
                  <a:pt x="10477500" y="25587"/>
                  <a:pt x="10477500" y="57150"/>
                </a:cubicBezTo>
                <a:lnTo>
                  <a:pt x="10477500" y="476250"/>
                </a:lnTo>
                <a:cubicBezTo>
                  <a:pt x="10477500" y="507813"/>
                  <a:pt x="10451913" y="533400"/>
                  <a:pt x="10420350" y="533400"/>
                </a:cubicBezTo>
                <a:lnTo>
                  <a:pt x="57150" y="533400"/>
                </a:lnTo>
                <a:cubicBezTo>
                  <a:pt x="25587" y="533400"/>
                  <a:pt x="0" y="507813"/>
                  <a:pt x="0" y="4762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gradFill>
            <a:gsLst>
              <a:gs pos="0">
                <a:srgbClr val="EEF6FF"/>
              </a:gs>
              <a:gs pos="100000">
                <a:srgbClr val="E0F0FA"/>
              </a:gs>
            </a:gsLst>
            <a:lin ang="5400000" scaled="1"/>
          </a:gradFill>
          <a:ln w="14288">
            <a:solidFill>
              <a:srgbClr val="2E86AB">
                <a:alpha val="40000"/>
              </a:srgbClr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651562" y="1729740"/>
            <a:ext cx="288887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E86AB"/>
                </a:solidFill>
                <a:latin typeface="Consolas"/>
                <a:ea typeface="Microsoft YaHei"/>
                <a:cs typeface="Consolas"/>
              </a:rPr>
              <a:t>Ψ(r, t) = ψ(r) · f(t)</a:t>
            </a:r>
          </a:p>
        </p:txBody>
      </p:sp>
      <p:sp>
        <p:nvSpPr>
          <p:cNvPr id="16" name="Polygon 16"/>
          <p:cNvSpPr/>
          <p:nvPr/>
        </p:nvSpPr>
        <p:spPr>
          <a:xfrm>
            <a:off x="5981700" y="2143125"/>
            <a:ext cx="228600" cy="123825"/>
          </a:xfrm>
          <a:custGeom>
            <a:avLst/>
            <a:gdLst/>
            <a:ahLst/>
            <a:cxnLst/>
            <a:rect l="l" t="t" r="r" b="b"/>
            <a:pathLst>
              <a:path w="228600" h="123825">
                <a:moveTo>
                  <a:pt x="114300" y="123825"/>
                </a:moveTo>
                <a:lnTo>
                  <a:pt x="0" y="0"/>
                </a:lnTo>
                <a:lnTo>
                  <a:pt x="228600" y="0"/>
                </a:lnTo>
                <a:close/>
              </a:path>
            </a:pathLst>
          </a:custGeom>
          <a:solidFill>
            <a:srgbClr val="E8834A"/>
          </a:solidFill>
          <a:ln>
            <a:noFill/>
          </a:ln>
        </p:spPr>
      </p:sp>
      <p:sp>
        <p:nvSpPr>
          <p:cNvPr id="17" name="Line 17"/>
          <p:cNvSpPr/>
          <p:nvPr/>
        </p:nvSpPr>
        <p:spPr>
          <a:xfrm>
            <a:off x="6096000" y="2143125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rgbClr val="E8834A"/>
            </a:solidFill>
          </a:ln>
        </p:spPr>
      </p:sp>
      <p:sp>
        <p:nvSpPr>
          <p:cNvPr id="18" name="Ellipse 18"/>
          <p:cNvSpPr/>
          <p:nvPr/>
        </p:nvSpPr>
        <p:spPr>
          <a:xfrm>
            <a:off x="628650" y="2438400"/>
            <a:ext cx="419100" cy="419100"/>
          </a:xfrm>
          <a:prstGeom prst="ellipse">
            <a:avLst/>
          </a:prstGeom>
          <a:solidFill>
            <a:srgbClr val="E8834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64123" y="2568892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3000" y="2438400"/>
            <a:ext cx="279844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代入薛定谔方程，两边分离</a:t>
            </a:r>
          </a:p>
        </p:txBody>
      </p:sp>
      <p:sp>
        <p:nvSpPr>
          <p:cNvPr id="21" name="Freeform 21"/>
          <p:cNvSpPr/>
          <p:nvPr/>
        </p:nvSpPr>
        <p:spPr>
          <a:xfrm>
            <a:off x="1162050" y="2724150"/>
            <a:ext cx="10477500" cy="666750"/>
          </a:xfrm>
          <a:custGeom>
            <a:avLst/>
            <a:gdLst/>
            <a:ahLst/>
            <a:cxnLst/>
            <a:rect l="l" t="t" r="r" b="b"/>
            <a:pathLst>
              <a:path w="10477500" h="666750">
                <a:moveTo>
                  <a:pt x="57150" y="0"/>
                </a:moveTo>
                <a:lnTo>
                  <a:pt x="10420350" y="0"/>
                </a:lnTo>
                <a:cubicBezTo>
                  <a:pt x="10451913" y="0"/>
                  <a:pt x="10477500" y="25587"/>
                  <a:pt x="10477500" y="57150"/>
                </a:cubicBezTo>
                <a:lnTo>
                  <a:pt x="10477500" y="609600"/>
                </a:lnTo>
                <a:cubicBezTo>
                  <a:pt x="10477500" y="641163"/>
                  <a:pt x="10451913" y="666750"/>
                  <a:pt x="10420350" y="666750"/>
                </a:cubicBezTo>
                <a:lnTo>
                  <a:pt x="57150" y="666750"/>
                </a:lnTo>
                <a:cubicBezTo>
                  <a:pt x="25587" y="666750"/>
                  <a:pt x="0" y="641163"/>
                  <a:pt x="0" y="609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gradFill>
            <a:gsLst>
              <a:gs pos="0">
                <a:srgbClr val="EEF6FF"/>
              </a:gs>
              <a:gs pos="100000">
                <a:srgbClr val="E0F0FA"/>
              </a:gs>
            </a:gsLst>
            <a:lin ang="5400000" scaled="1"/>
          </a:gradFill>
          <a:ln w="14288">
            <a:solidFill>
              <a:srgbClr val="2E86AB">
                <a:alpha val="40000"/>
              </a:srgbClr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471547" y="2830354"/>
            <a:ext cx="324890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75" dirty="0">
                <a:solidFill>
                  <a:srgbClr val="3D3530"/>
                </a:solidFill>
                <a:latin typeface="Consolas"/>
                <a:ea typeface="Microsoft YaHei"/>
                <a:cs typeface="Consolas"/>
              </a:rPr>
              <a:t>iℏ (1/f) df/dt = Ĥψ(r) / ψ(r)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966281" y="3148489"/>
            <a:ext cx="425943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左边只含 t，右边只含 r → 两边必须等于同一常数 E</a:t>
            </a:r>
          </a:p>
        </p:txBody>
      </p:sp>
      <p:sp>
        <p:nvSpPr>
          <p:cNvPr id="24" name="Polygon 24"/>
          <p:cNvSpPr/>
          <p:nvPr/>
        </p:nvSpPr>
        <p:spPr>
          <a:xfrm>
            <a:off x="5981700" y="3419475"/>
            <a:ext cx="228600" cy="123825"/>
          </a:xfrm>
          <a:custGeom>
            <a:avLst/>
            <a:gdLst/>
            <a:ahLst/>
            <a:cxnLst/>
            <a:rect l="l" t="t" r="r" b="b"/>
            <a:pathLst>
              <a:path w="228600" h="123825">
                <a:moveTo>
                  <a:pt x="114300" y="123825"/>
                </a:moveTo>
                <a:lnTo>
                  <a:pt x="0" y="0"/>
                </a:lnTo>
                <a:lnTo>
                  <a:pt x="228600" y="0"/>
                </a:lnTo>
                <a:close/>
              </a:path>
            </a:pathLst>
          </a:custGeom>
          <a:solidFill>
            <a:srgbClr val="E8834A"/>
          </a:solidFill>
          <a:ln>
            <a:noFill/>
          </a:ln>
        </p:spPr>
      </p:sp>
      <p:sp>
        <p:nvSpPr>
          <p:cNvPr id="25" name="Line 25"/>
          <p:cNvSpPr/>
          <p:nvPr/>
        </p:nvSpPr>
        <p:spPr>
          <a:xfrm>
            <a:off x="6096000" y="3419475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rgbClr val="E8834A"/>
            </a:solidFill>
          </a:ln>
        </p:spPr>
      </p:sp>
      <p:sp>
        <p:nvSpPr>
          <p:cNvPr id="26" name="Ellipse 26"/>
          <p:cNvSpPr/>
          <p:nvPr/>
        </p:nvSpPr>
        <p:spPr>
          <a:xfrm>
            <a:off x="628650" y="3676650"/>
            <a:ext cx="419100" cy="419100"/>
          </a:xfrm>
          <a:prstGeom prst="ellipse">
            <a:avLst/>
          </a:prstGeom>
          <a:solidFill>
            <a:srgbClr val="4CAF7D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64123" y="3807142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3000" y="3676650"/>
            <a:ext cx="18783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分别求解两个方程</a:t>
            </a:r>
          </a:p>
        </p:txBody>
      </p:sp>
      <p:sp>
        <p:nvSpPr>
          <p:cNvPr id="29" name="Freeform 29"/>
          <p:cNvSpPr/>
          <p:nvPr/>
        </p:nvSpPr>
        <p:spPr>
          <a:xfrm>
            <a:off x="1162050" y="3952875"/>
            <a:ext cx="4953000" cy="762000"/>
          </a:xfrm>
          <a:custGeom>
            <a:avLst/>
            <a:gdLst/>
            <a:ahLst/>
            <a:cxnLst/>
            <a:rect l="l" t="t" r="r" b="b"/>
            <a:pathLst>
              <a:path w="4953000" h="76200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704850"/>
                </a:lnTo>
                <a:cubicBezTo>
                  <a:pt x="4953000" y="736413"/>
                  <a:pt x="4927413" y="762000"/>
                  <a:pt x="4895850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gradFill>
            <a:gsLst>
              <a:gs pos="0">
                <a:srgbClr val="EEF6FF"/>
              </a:gs>
              <a:gs pos="100000">
                <a:srgbClr val="E0F0FA"/>
              </a:gs>
            </a:gsLst>
            <a:lin ang="5400000" scaled="1"/>
          </a:gradFill>
          <a:ln w="14288">
            <a:solidFill>
              <a:srgbClr val="2E86AB">
                <a:alpha val="40000"/>
              </a:srgbClr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3249930" y="4100989"/>
            <a:ext cx="77724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时间方程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630376" y="4391025"/>
            <a:ext cx="201634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E86AB"/>
                </a:solidFill>
                <a:latin typeface="Consolas"/>
                <a:ea typeface="Microsoft YaHei"/>
                <a:cs typeface="Consolas"/>
              </a:rPr>
              <a:t>f(t) = e^(-iEt/ℏ)</a:t>
            </a:r>
          </a:p>
        </p:txBody>
      </p:sp>
      <p:sp>
        <p:nvSpPr>
          <p:cNvPr id="32" name="Freeform 32"/>
          <p:cNvSpPr/>
          <p:nvPr/>
        </p:nvSpPr>
        <p:spPr>
          <a:xfrm>
            <a:off x="6305550" y="3952875"/>
            <a:ext cx="5334000" cy="762000"/>
          </a:xfrm>
          <a:custGeom>
            <a:avLst/>
            <a:gdLst/>
            <a:ahLst/>
            <a:cxnLst/>
            <a:rect l="l" t="t" r="r" b="b"/>
            <a:pathLst>
              <a:path w="5334000" h="762000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704850"/>
                </a:lnTo>
                <a:cubicBezTo>
                  <a:pt x="5334000" y="736413"/>
                  <a:pt x="5308413" y="762000"/>
                  <a:pt x="5276850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DFAF3"/>
          </a:solidFill>
          <a:ln w="14288">
            <a:solidFill>
              <a:srgbClr val="4CAF7D">
                <a:alpha val="40000"/>
              </a:srgbClr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745968" y="4100989"/>
            <a:ext cx="245316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空间方程（定态薛定谔方程）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188654" y="4391025"/>
            <a:ext cx="15677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4CAF7D"/>
                </a:solidFill>
                <a:latin typeface="Consolas"/>
                <a:ea typeface="Microsoft YaHei"/>
                <a:cs typeface="Consolas"/>
              </a:rPr>
              <a:t>Ĥψ(r) = Eψ(r)</a:t>
            </a:r>
          </a:p>
        </p:txBody>
      </p:sp>
      <p:sp>
        <p:nvSpPr>
          <p:cNvPr id="35" name="Freeform 35"/>
          <p:cNvSpPr/>
          <p:nvPr/>
        </p:nvSpPr>
        <p:spPr>
          <a:xfrm>
            <a:off x="571500" y="4953000"/>
            <a:ext cx="11049000" cy="762000"/>
          </a:xfrm>
          <a:custGeom>
            <a:avLst/>
            <a:gdLst/>
            <a:ahLst/>
            <a:cxnLst/>
            <a:rect l="l" t="t" r="r" b="b"/>
            <a:pathLst>
              <a:path w="11049000" h="7620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685800"/>
                </a:lnTo>
                <a:cubicBezTo>
                  <a:pt x="11049000" y="727884"/>
                  <a:pt x="11014884" y="762000"/>
                  <a:pt x="10972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DE3545">
              <a:alpha val="8000"/>
            </a:srgbClr>
          </a:solidFill>
          <a:ln w="14288">
            <a:solidFill>
              <a:srgbClr val="DE3545">
                <a:alpha val="30000"/>
              </a:srgbClr>
            </a:solidFill>
          </a:ln>
        </p:spPr>
      </p:sp>
      <p:grpSp>
        <p:nvGrpSpPr>
          <p:cNvPr id="39" name="Group 39"/>
          <p:cNvGrpSpPr/>
          <p:nvPr/>
        </p:nvGrpSpPr>
        <p:grpSpPr>
          <a:xfrm>
            <a:off x="804862" y="5138738"/>
            <a:ext cx="257175" cy="257175"/>
            <a:chOff x="804862" y="5138738"/>
            <a:chExt cx="257175" cy="257175"/>
          </a:xfrm>
        </p:grpSpPr>
        <p:sp>
          <p:nvSpPr>
            <p:cNvPr id="36" name="Freeform 36"/>
            <p:cNvSpPr/>
            <p:nvPr/>
          </p:nvSpPr>
          <p:spPr>
            <a:xfrm>
              <a:off x="804862" y="5138738"/>
              <a:ext cx="257175" cy="128588"/>
            </a:xfrm>
            <a:custGeom>
              <a:avLst/>
              <a:gdLst/>
              <a:ahLst/>
              <a:cxnLst/>
              <a:rect l="l" t="t" r="r" b="b"/>
              <a:pathLst>
                <a:path w="257175" h="128588">
                  <a:moveTo>
                    <a:pt x="0" y="128588"/>
                  </a:moveTo>
                  <a:lnTo>
                    <a:pt x="14288" y="128588"/>
                  </a:lnTo>
                  <a:moveTo>
                    <a:pt x="128588" y="0"/>
                  </a:moveTo>
                  <a:lnTo>
                    <a:pt x="128588" y="14288"/>
                  </a:lnTo>
                  <a:moveTo>
                    <a:pt x="242888" y="128588"/>
                  </a:moveTo>
                  <a:lnTo>
                    <a:pt x="257175" y="128588"/>
                  </a:lnTo>
                  <a:moveTo>
                    <a:pt x="37148" y="37147"/>
                  </a:moveTo>
                  <a:lnTo>
                    <a:pt x="47149" y="47149"/>
                  </a:lnTo>
                  <a:moveTo>
                    <a:pt x="220027" y="37147"/>
                  </a:moveTo>
                  <a:lnTo>
                    <a:pt x="210026" y="47149"/>
                  </a:lnTo>
                </a:path>
              </a:pathLst>
            </a:custGeom>
            <a:noFill/>
            <a:ln w="9525">
              <a:solidFill>
                <a:srgbClr val="DE354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55955" y="5195888"/>
              <a:ext cx="154990" cy="200025"/>
            </a:xfrm>
            <a:custGeom>
              <a:avLst/>
              <a:gdLst/>
              <a:ahLst/>
              <a:cxnLst/>
              <a:rect l="l" t="t" r="r" b="b"/>
              <a:pathLst>
                <a:path w="154990" h="200025">
                  <a:moveTo>
                    <a:pt x="34633" y="128588"/>
                  </a:moveTo>
                  <a:cubicBezTo>
                    <a:pt x="10034" y="110138"/>
                    <a:pt x="0" y="78018"/>
                    <a:pt x="9724" y="48847"/>
                  </a:cubicBezTo>
                  <a:cubicBezTo>
                    <a:pt x="19447" y="19676"/>
                    <a:pt x="46746" y="0"/>
                    <a:pt x="77495" y="0"/>
                  </a:cubicBezTo>
                  <a:cubicBezTo>
                    <a:pt x="108244" y="0"/>
                    <a:pt x="135543" y="19676"/>
                    <a:pt x="145267" y="48847"/>
                  </a:cubicBezTo>
                  <a:cubicBezTo>
                    <a:pt x="154990" y="78018"/>
                    <a:pt x="144957" y="110138"/>
                    <a:pt x="120358" y="128588"/>
                  </a:cubicBezTo>
                  <a:cubicBezTo>
                    <a:pt x="109044" y="139786"/>
                    <a:pt x="103739" y="155703"/>
                    <a:pt x="106070" y="171450"/>
                  </a:cubicBezTo>
                  <a:cubicBezTo>
                    <a:pt x="106070" y="187232"/>
                    <a:pt x="93277" y="200025"/>
                    <a:pt x="77495" y="200025"/>
                  </a:cubicBezTo>
                  <a:cubicBezTo>
                    <a:pt x="61714" y="200025"/>
                    <a:pt x="48920" y="187232"/>
                    <a:pt x="48920" y="171450"/>
                  </a:cubicBezTo>
                  <a:cubicBezTo>
                    <a:pt x="51252" y="155703"/>
                    <a:pt x="45946" y="139786"/>
                    <a:pt x="34633" y="128588"/>
                  </a:cubicBezTo>
                </a:path>
              </a:pathLst>
            </a:custGeom>
            <a:noFill/>
            <a:ln w="9525">
              <a:solidFill>
                <a:srgbClr val="DE354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00589" y="5338762"/>
              <a:ext cx="65723" cy="9525"/>
            </a:xfrm>
            <a:custGeom>
              <a:avLst/>
              <a:gdLst/>
              <a:ahLst/>
              <a:cxnLst/>
              <a:rect l="l" t="t" r="r" b="b"/>
              <a:pathLst>
                <a:path w="65723" h="9525">
                  <a:moveTo>
                    <a:pt x="0" y="0"/>
                  </a:moveTo>
                  <a:lnTo>
                    <a:pt x="65723" y="0"/>
                  </a:lnTo>
                </a:path>
              </a:pathLst>
            </a:custGeom>
            <a:noFill/>
            <a:ln w="9525">
              <a:solidFill>
                <a:srgbClr val="DE3545"/>
              </a:solidFill>
            </a:ln>
          </p:spPr>
        </p:sp>
      </p:grpSp>
      <p:sp>
        <p:nvSpPr>
          <p:cNvPr id="40" name="TextBox 40"/>
          <p:cNvSpPr txBox="1"/>
          <p:nvPr/>
        </p:nvSpPr>
        <p:spPr>
          <a:xfrm>
            <a:off x="1219200" y="5105400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关键洞察：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19200" y="5410200"/>
            <a:ext cx="688419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分离常数 E 就是粒子的能量，这是量子力学中"能量本征值"概念的起点</a:t>
            </a:r>
          </a:p>
        </p:txBody>
      </p:sp>
      <p:sp>
        <p:nvSpPr>
          <p:cNvPr id="42" name="Rectangle 42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3D3530">
              <a:alpha val="6000"/>
            </a:srgb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59118" y="6647974"/>
            <a:ext cx="26093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9E98"/>
                </a:solidFill>
                <a:latin typeface="Arial"/>
                <a:ea typeface="Microsoft YaHei"/>
                <a:cs typeface="Arial"/>
              </a:rPr>
              <a:t>量子力学基础 · 定态与一维无限深方势阱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451479" y="6647974"/>
            <a:ext cx="181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E98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742950"/>
            <a:ext cx="12192000" cy="28575"/>
          </a:xfrm>
          <a:prstGeom prst="rect">
            <a:avLst/>
          </a:prstGeom>
          <a:gradFill>
            <a:gsLst>
              <a:gs pos="0">
                <a:srgbClr val="DE3545"/>
              </a:gs>
              <a:gs pos="100000">
                <a:srgbClr val="E8834A"/>
              </a:gs>
            </a:gsLst>
            <a:lin ang="0" scaled="1"/>
          </a:gra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11239500" y="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0" y="0"/>
                </a:moveTo>
                <a:lnTo>
                  <a:pt x="952500" y="0"/>
                </a:lnTo>
                <a:lnTo>
                  <a:pt x="952500" y="762000"/>
                </a:lnTo>
                <a:close/>
              </a:path>
            </a:pathLst>
          </a:custGeom>
          <a:solidFill>
            <a:srgbClr val="DE3545">
              <a:alpha val="12000"/>
            </a:srgbClr>
          </a:solidFill>
          <a:ln>
            <a:noFill/>
          </a:ln>
        </p:spPr>
      </p:sp>
      <p:sp>
        <p:nvSpPr>
          <p:cNvPr id="6" name="Polygon 6"/>
          <p:cNvSpPr/>
          <p:nvPr/>
        </p:nvSpPr>
        <p:spPr>
          <a:xfrm>
            <a:off x="571500" y="190500"/>
            <a:ext cx="114300" cy="285750"/>
          </a:xfrm>
          <a:custGeom>
            <a:avLst/>
            <a:gdLst/>
            <a:ahLst/>
            <a:cxnLst/>
            <a:rect l="l" t="t" r="r" b="b"/>
            <a:pathLst>
              <a:path w="114300" h="285750">
                <a:moveTo>
                  <a:pt x="0" y="0"/>
                </a:moveTo>
                <a:lnTo>
                  <a:pt x="1143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7" name="Polygon 7"/>
          <p:cNvSpPr/>
          <p:nvPr/>
        </p:nvSpPr>
        <p:spPr>
          <a:xfrm>
            <a:off x="742950" y="190500"/>
            <a:ext cx="114300" cy="285750"/>
          </a:xfrm>
          <a:custGeom>
            <a:avLst/>
            <a:gdLst/>
            <a:ahLst/>
            <a:cxnLst/>
            <a:rect l="l" t="t" r="r" b="b"/>
            <a:pathLst>
              <a:path w="114300" h="285750">
                <a:moveTo>
                  <a:pt x="0" y="0"/>
                </a:moveTo>
                <a:lnTo>
                  <a:pt x="1143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E8834A">
              <a:alpha val="6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23925" y="252412"/>
            <a:ext cx="369735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新知2：定态薛定谔方程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904875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1143000"/>
                </a:lnTo>
                <a:cubicBezTo>
                  <a:pt x="11049000" y="1195605"/>
                  <a:pt x="11006355" y="1238250"/>
                  <a:pt x="109537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gradFill>
            <a:gsLst>
              <a:gs pos="0">
                <a:srgbClr val="EEF6FF"/>
              </a:gs>
              <a:gs pos="100000">
                <a:srgbClr val="DCF0FF"/>
              </a:gs>
            </a:gsLst>
            <a:lin ang="5400000" scaled="1"/>
          </a:gradFill>
          <a:ln w="19050">
            <a:solidFill>
              <a:srgbClr val="2E86AB"/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571500" y="904875"/>
            <a:ext cx="57150" cy="1238250"/>
          </a:xfrm>
          <a:custGeom>
            <a:avLst/>
            <a:gdLst/>
            <a:ahLst/>
            <a:cxnLst/>
            <a:rect l="l" t="t" r="r" b="b"/>
            <a:pathLst>
              <a:path w="57150" h="12382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209675"/>
                </a:lnTo>
                <a:cubicBezTo>
                  <a:pt x="57150" y="1225457"/>
                  <a:pt x="44357" y="1238250"/>
                  <a:pt x="28575" y="1238250"/>
                </a:cubicBezTo>
                <a:lnTo>
                  <a:pt x="28575" y="1238250"/>
                </a:lnTo>
                <a:cubicBezTo>
                  <a:pt x="12793" y="1238250"/>
                  <a:pt x="0" y="1225457"/>
                  <a:pt x="0" y="12096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E86A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981575" y="1123950"/>
            <a:ext cx="22288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核心方程（算符形式）</a:t>
            </a:r>
          </a:p>
        </p:txBody>
      </p:sp>
      <p:sp>
        <p:nvSpPr>
          <p:cNvPr id="12" name="Line 12"/>
          <p:cNvSpPr/>
          <p:nvPr/>
        </p:nvSpPr>
        <p:spPr>
          <a:xfrm>
            <a:off x="4381500" y="1352550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DE3545">
                <a:alpha val="40000"/>
              </a:srgbClr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4475482" y="1597342"/>
            <a:ext cx="3241036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" b="1" dirty="0">
                <a:solidFill>
                  <a:srgbClr val="2E86AB"/>
                </a:solidFill>
                <a:latin typeface="Consolas"/>
                <a:ea typeface="Microsoft YaHei"/>
                <a:cs typeface="Consolas"/>
              </a:rPr>
              <a:t>Ĥ ψ(r) = E ψ(r)</a:t>
            </a:r>
          </a:p>
        </p:txBody>
      </p:sp>
      <p:sp>
        <p:nvSpPr>
          <p:cNvPr id="14" name="Freeform 14"/>
          <p:cNvSpPr/>
          <p:nvPr/>
        </p:nvSpPr>
        <p:spPr>
          <a:xfrm>
            <a:off x="571500" y="2286000"/>
            <a:ext cx="11049000" cy="666750"/>
          </a:xfrm>
          <a:custGeom>
            <a:avLst/>
            <a:gdLst/>
            <a:ahLst/>
            <a:cxnLst/>
            <a:rect l="l" t="t" r="r" b="b"/>
            <a:pathLst>
              <a:path w="11049000" h="6667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590550"/>
                </a:lnTo>
                <a:cubicBezTo>
                  <a:pt x="11049000" y="632634"/>
                  <a:pt x="11014884" y="666750"/>
                  <a:pt x="10972800" y="666750"/>
                </a:cubicBezTo>
                <a:lnTo>
                  <a:pt x="76200" y="666750"/>
                </a:lnTo>
                <a:cubicBezTo>
                  <a:pt x="34116" y="666750"/>
                  <a:pt x="0" y="632634"/>
                  <a:pt x="0" y="59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8F4FF"/>
              </a:gs>
              <a:gs pos="100000">
                <a:srgbClr val="EEE8FF"/>
              </a:gs>
            </a:gsLst>
            <a:lin ang="5400000" scaled="1"/>
          </a:gradFill>
          <a:ln w="14288">
            <a:solidFill>
              <a:srgbClr val="9C7FD4">
                <a:alpha val="40000"/>
              </a:srgbClr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1888808" y="2386489"/>
            <a:ext cx="96345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展开形式：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66448" y="2536508"/>
            <a:ext cx="425910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B4FBB"/>
                </a:solidFill>
                <a:latin typeface="Consolas"/>
                <a:ea typeface="Microsoft YaHei"/>
                <a:cs typeface="Consolas"/>
              </a:rPr>
              <a:t>[ -ℏ²/2m · ∇² + V(r) ] ψ(r) = E ψ(r)</a:t>
            </a:r>
          </a:p>
        </p:txBody>
      </p:sp>
      <p:sp>
        <p:nvSpPr>
          <p:cNvPr id="17" name="Freeform 17"/>
          <p:cNvSpPr/>
          <p:nvPr/>
        </p:nvSpPr>
        <p:spPr>
          <a:xfrm>
            <a:off x="571500" y="3143250"/>
            <a:ext cx="3429000" cy="1905000"/>
          </a:xfrm>
          <a:custGeom>
            <a:avLst/>
            <a:gdLst/>
            <a:ahLst/>
            <a:cxnLst/>
            <a:rect l="l" t="t" r="r" b="b"/>
            <a:pathLst>
              <a:path w="3429000" h="1905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1809750"/>
                </a:lnTo>
                <a:cubicBezTo>
                  <a:pt x="3429000" y="1862355"/>
                  <a:pt x="3386355" y="1905000"/>
                  <a:pt x="3333750" y="1905000"/>
                </a:cubicBezTo>
                <a:lnTo>
                  <a:pt x="95250" y="1905000"/>
                </a:lnTo>
                <a:cubicBezTo>
                  <a:pt x="42645" y="1905000"/>
                  <a:pt x="0" y="1862355"/>
                  <a:pt x="0" y="1809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2E86AB"/>
            </a:solidFill>
          </a:ln>
        </p:spPr>
      </p:sp>
      <p:sp>
        <p:nvSpPr>
          <p:cNvPr id="18" name="Freeform 18"/>
          <p:cNvSpPr/>
          <p:nvPr/>
        </p:nvSpPr>
        <p:spPr>
          <a:xfrm>
            <a:off x="571500" y="3143250"/>
            <a:ext cx="3429000" cy="457200"/>
          </a:xfrm>
          <a:custGeom>
            <a:avLst/>
            <a:gdLst/>
            <a:ahLst/>
            <a:cxnLst/>
            <a:rect l="l" t="t" r="r" b="b"/>
            <a:pathLst>
              <a:path w="3429000" h="4572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361950"/>
                </a:lnTo>
                <a:cubicBezTo>
                  <a:pt x="3429000" y="414555"/>
                  <a:pt x="3386355" y="457200"/>
                  <a:pt x="3333750" y="457200"/>
                </a:cubicBezTo>
                <a:lnTo>
                  <a:pt x="95250" y="457200"/>
                </a:lnTo>
                <a:cubicBezTo>
                  <a:pt x="42645" y="457200"/>
                  <a:pt x="0" y="414555"/>
                  <a:pt x="0" y="3619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E86AB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571500" y="3409950"/>
            <a:ext cx="3429000" cy="190500"/>
          </a:xfrm>
          <a:prstGeom prst="rect">
            <a:avLst/>
          </a:prstGeom>
          <a:solidFill>
            <a:srgbClr val="2E86A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806892" y="327660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本征方程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89105" y="3727132"/>
            <a:ext cx="99379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2E86AB"/>
                </a:solidFill>
                <a:latin typeface="Consolas"/>
                <a:ea typeface="Microsoft YaHei"/>
                <a:cs typeface="Consolas"/>
              </a:rPr>
              <a:t>Ĥ ψ = E ψ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78769" y="4140518"/>
            <a:ext cx="14144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算符作用于函数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81601" y="4407218"/>
            <a:ext cx="1808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等于常数乘以该函数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45632" y="4720114"/>
            <a:ext cx="208073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A89E98"/>
                </a:solidFill>
                <a:latin typeface="Arial"/>
                <a:ea typeface="Microsoft YaHei"/>
                <a:cs typeface="Arial"/>
              </a:rPr>
              <a:t>（类比矩阵本征值问题）</a:t>
            </a:r>
          </a:p>
        </p:txBody>
      </p:sp>
      <p:sp>
        <p:nvSpPr>
          <p:cNvPr id="25" name="Freeform 25"/>
          <p:cNvSpPr/>
          <p:nvPr/>
        </p:nvSpPr>
        <p:spPr>
          <a:xfrm>
            <a:off x="4381500" y="3143250"/>
            <a:ext cx="3429000" cy="1905000"/>
          </a:xfrm>
          <a:custGeom>
            <a:avLst/>
            <a:gdLst/>
            <a:ahLst/>
            <a:cxnLst/>
            <a:rect l="l" t="t" r="r" b="b"/>
            <a:pathLst>
              <a:path w="3429000" h="1905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1809750"/>
                </a:lnTo>
                <a:cubicBezTo>
                  <a:pt x="3429000" y="1862355"/>
                  <a:pt x="3386355" y="1905000"/>
                  <a:pt x="3333750" y="1905000"/>
                </a:cubicBezTo>
                <a:lnTo>
                  <a:pt x="95250" y="1905000"/>
                </a:lnTo>
                <a:cubicBezTo>
                  <a:pt x="42645" y="1905000"/>
                  <a:pt x="0" y="1862355"/>
                  <a:pt x="0" y="1809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8834A"/>
            </a:solidFill>
          </a:ln>
        </p:spPr>
      </p:sp>
      <p:sp>
        <p:nvSpPr>
          <p:cNvPr id="26" name="Freeform 26"/>
          <p:cNvSpPr/>
          <p:nvPr/>
        </p:nvSpPr>
        <p:spPr>
          <a:xfrm>
            <a:off x="4381500" y="3143250"/>
            <a:ext cx="3429000" cy="457200"/>
          </a:xfrm>
          <a:custGeom>
            <a:avLst/>
            <a:gdLst/>
            <a:ahLst/>
            <a:cxnLst/>
            <a:rect l="l" t="t" r="r" b="b"/>
            <a:pathLst>
              <a:path w="3429000" h="4572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361950"/>
                </a:lnTo>
                <a:cubicBezTo>
                  <a:pt x="3429000" y="414555"/>
                  <a:pt x="3386355" y="457200"/>
                  <a:pt x="3333750" y="457200"/>
                </a:cubicBezTo>
                <a:lnTo>
                  <a:pt x="95250" y="457200"/>
                </a:lnTo>
                <a:cubicBezTo>
                  <a:pt x="42645" y="457200"/>
                  <a:pt x="0" y="414555"/>
                  <a:pt x="0" y="3619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834A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4381500" y="3409950"/>
            <a:ext cx="3429000" cy="190500"/>
          </a:xfrm>
          <a:prstGeom prst="rect">
            <a:avLst/>
          </a:prstGeom>
          <a:solidFill>
            <a:srgbClr val="E8834A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634145" y="3276600"/>
            <a:ext cx="92371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本征值 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629227" y="3727132"/>
            <a:ext cx="9335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E8834A"/>
                </a:solidFill>
                <a:latin typeface="Consolas"/>
                <a:ea typeface="Microsoft YaHei"/>
                <a:cs typeface="Consolas"/>
              </a:rPr>
              <a:t>E = 能量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093018" y="4140518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满足方程的特定能量值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093018" y="4407218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不是任意值，是离散的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334952" y="4720114"/>
            <a:ext cx="152209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A89E98"/>
                </a:solidFill>
                <a:latin typeface="Arial"/>
                <a:ea typeface="Microsoft YaHei"/>
                <a:cs typeface="Arial"/>
              </a:rPr>
              <a:t>（量子化的根源）</a:t>
            </a:r>
          </a:p>
        </p:txBody>
      </p:sp>
      <p:sp>
        <p:nvSpPr>
          <p:cNvPr id="33" name="Freeform 33"/>
          <p:cNvSpPr/>
          <p:nvPr/>
        </p:nvSpPr>
        <p:spPr>
          <a:xfrm>
            <a:off x="8191500" y="3143250"/>
            <a:ext cx="3429000" cy="1905000"/>
          </a:xfrm>
          <a:custGeom>
            <a:avLst/>
            <a:gdLst/>
            <a:ahLst/>
            <a:cxnLst/>
            <a:rect l="l" t="t" r="r" b="b"/>
            <a:pathLst>
              <a:path w="3429000" h="1905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1809750"/>
                </a:lnTo>
                <a:cubicBezTo>
                  <a:pt x="3429000" y="1862355"/>
                  <a:pt x="3386355" y="1905000"/>
                  <a:pt x="3333750" y="1905000"/>
                </a:cubicBezTo>
                <a:lnTo>
                  <a:pt x="95250" y="1905000"/>
                </a:lnTo>
                <a:cubicBezTo>
                  <a:pt x="42645" y="1905000"/>
                  <a:pt x="0" y="1862355"/>
                  <a:pt x="0" y="1809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4CAF7D"/>
            </a:solidFill>
          </a:ln>
        </p:spPr>
      </p:sp>
      <p:sp>
        <p:nvSpPr>
          <p:cNvPr id="34" name="Freeform 34"/>
          <p:cNvSpPr/>
          <p:nvPr/>
        </p:nvSpPr>
        <p:spPr>
          <a:xfrm>
            <a:off x="8191500" y="3143250"/>
            <a:ext cx="3429000" cy="457200"/>
          </a:xfrm>
          <a:custGeom>
            <a:avLst/>
            <a:gdLst/>
            <a:ahLst/>
            <a:cxnLst/>
            <a:rect l="l" t="t" r="r" b="b"/>
            <a:pathLst>
              <a:path w="3429000" h="4572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361950"/>
                </a:lnTo>
                <a:cubicBezTo>
                  <a:pt x="3429000" y="414555"/>
                  <a:pt x="3386355" y="457200"/>
                  <a:pt x="3333750" y="457200"/>
                </a:cubicBezTo>
                <a:lnTo>
                  <a:pt x="95250" y="457200"/>
                </a:lnTo>
                <a:cubicBezTo>
                  <a:pt x="42645" y="457200"/>
                  <a:pt x="0" y="414555"/>
                  <a:pt x="0" y="3619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4CAF7D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8191500" y="3409950"/>
            <a:ext cx="3429000" cy="190500"/>
          </a:xfrm>
          <a:prstGeom prst="rect">
            <a:avLst/>
          </a:prstGeom>
          <a:solidFill>
            <a:srgbClr val="4CAF7D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202614" y="3276600"/>
            <a:ext cx="140677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本征函数 ψ_E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487424" y="3727132"/>
            <a:ext cx="83715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4CAF7D"/>
                </a:solidFill>
                <a:latin typeface="Consolas"/>
                <a:ea typeface="Microsoft YaHei"/>
                <a:cs typeface="Consolas"/>
              </a:rPr>
              <a:t>ψ_E(r)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085397" y="4140518"/>
            <a:ext cx="16412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对应能量 E 的空间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903018" y="4407218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波函数（定态波函数）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763214" y="4720114"/>
            <a:ext cx="228557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A89E98"/>
                </a:solidFill>
                <a:latin typeface="Arial"/>
                <a:ea typeface="Microsoft YaHei"/>
                <a:cs typeface="Arial"/>
              </a:rPr>
              <a:t>（系统的"固有振动模式"）</a:t>
            </a:r>
          </a:p>
        </p:txBody>
      </p:sp>
      <p:sp>
        <p:nvSpPr>
          <p:cNvPr id="41" name="Freeform 41"/>
          <p:cNvSpPr/>
          <p:nvPr/>
        </p:nvSpPr>
        <p:spPr>
          <a:xfrm>
            <a:off x="571500" y="5219700"/>
            <a:ext cx="11049000" cy="590550"/>
          </a:xfrm>
          <a:custGeom>
            <a:avLst/>
            <a:gdLst/>
            <a:ahLst/>
            <a:cxnLst/>
            <a:rect l="l" t="t" r="r" b="b"/>
            <a:pathLst>
              <a:path w="11049000" h="5905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514350"/>
                </a:lnTo>
                <a:cubicBezTo>
                  <a:pt x="11049000" y="556434"/>
                  <a:pt x="11014884" y="590550"/>
                  <a:pt x="10972800" y="590550"/>
                </a:cubicBezTo>
                <a:lnTo>
                  <a:pt x="76200" y="590550"/>
                </a:lnTo>
                <a:cubicBezTo>
                  <a:pt x="34116" y="590550"/>
                  <a:pt x="0" y="556434"/>
                  <a:pt x="0" y="5143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8F0"/>
          </a:solidFill>
          <a:ln w="14288">
            <a:solidFill>
              <a:srgbClr val="E8834A">
                <a:alpha val="50000"/>
              </a:srgbClr>
            </a:solidFill>
          </a:ln>
        </p:spPr>
      </p:sp>
      <p:grpSp>
        <p:nvGrpSpPr>
          <p:cNvPr id="45" name="Group 45"/>
          <p:cNvGrpSpPr/>
          <p:nvPr/>
        </p:nvGrpSpPr>
        <p:grpSpPr>
          <a:xfrm>
            <a:off x="800100" y="5372100"/>
            <a:ext cx="228600" cy="228600"/>
            <a:chOff x="800100" y="5372100"/>
            <a:chExt cx="228600" cy="228600"/>
          </a:xfrm>
        </p:grpSpPr>
        <p:sp>
          <p:nvSpPr>
            <p:cNvPr id="42" name="Freeform 42"/>
            <p:cNvSpPr/>
            <p:nvPr/>
          </p:nvSpPr>
          <p:spPr>
            <a:xfrm>
              <a:off x="800100" y="5372100"/>
              <a:ext cx="228600" cy="114300"/>
            </a:xfrm>
            <a:custGeom>
              <a:avLst/>
              <a:gdLst/>
              <a:ahLst/>
              <a:cxnLst/>
              <a:rect l="l" t="t" r="r" b="b"/>
              <a:pathLst>
                <a:path w="228600" h="114300">
                  <a:moveTo>
                    <a:pt x="0" y="114300"/>
                  </a:moveTo>
                  <a:lnTo>
                    <a:pt x="12700" y="114300"/>
                  </a:lnTo>
                  <a:moveTo>
                    <a:pt x="114300" y="0"/>
                  </a:moveTo>
                  <a:lnTo>
                    <a:pt x="114300" y="12700"/>
                  </a:lnTo>
                  <a:moveTo>
                    <a:pt x="215900" y="114300"/>
                  </a:moveTo>
                  <a:lnTo>
                    <a:pt x="228600" y="114300"/>
                  </a:lnTo>
                  <a:moveTo>
                    <a:pt x="33020" y="33020"/>
                  </a:moveTo>
                  <a:lnTo>
                    <a:pt x="41910" y="41910"/>
                  </a:lnTo>
                  <a:moveTo>
                    <a:pt x="195580" y="33020"/>
                  </a:moveTo>
                  <a:lnTo>
                    <a:pt x="186690" y="41910"/>
                  </a:lnTo>
                </a:path>
              </a:pathLst>
            </a:custGeom>
            <a:noFill/>
            <a:ln w="9525">
              <a:solidFill>
                <a:srgbClr val="E8834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45515" y="5422900"/>
              <a:ext cx="137769" cy="177800"/>
            </a:xfrm>
            <a:custGeom>
              <a:avLst/>
              <a:gdLst/>
              <a:ahLst/>
              <a:cxnLst/>
              <a:rect l="l" t="t" r="r" b="b"/>
              <a:pathLst>
                <a:path w="137769" h="177800">
                  <a:moveTo>
                    <a:pt x="30785" y="114300"/>
                  </a:moveTo>
                  <a:cubicBezTo>
                    <a:pt x="8919" y="97901"/>
                    <a:pt x="0" y="69349"/>
                    <a:pt x="8643" y="43420"/>
                  </a:cubicBezTo>
                  <a:cubicBezTo>
                    <a:pt x="17286" y="17490"/>
                    <a:pt x="41552" y="0"/>
                    <a:pt x="68885" y="0"/>
                  </a:cubicBezTo>
                  <a:cubicBezTo>
                    <a:pt x="96217" y="0"/>
                    <a:pt x="120483" y="17490"/>
                    <a:pt x="129126" y="43420"/>
                  </a:cubicBezTo>
                  <a:cubicBezTo>
                    <a:pt x="137769" y="69349"/>
                    <a:pt x="128850" y="97901"/>
                    <a:pt x="106985" y="114300"/>
                  </a:cubicBezTo>
                  <a:cubicBezTo>
                    <a:pt x="96928" y="124255"/>
                    <a:pt x="92212" y="138402"/>
                    <a:pt x="94285" y="152400"/>
                  </a:cubicBezTo>
                  <a:cubicBezTo>
                    <a:pt x="94285" y="166428"/>
                    <a:pt x="82913" y="177800"/>
                    <a:pt x="68885" y="177800"/>
                  </a:cubicBezTo>
                  <a:cubicBezTo>
                    <a:pt x="54857" y="177800"/>
                    <a:pt x="43485" y="166428"/>
                    <a:pt x="43485" y="152400"/>
                  </a:cubicBezTo>
                  <a:cubicBezTo>
                    <a:pt x="45557" y="138402"/>
                    <a:pt x="40841" y="124255"/>
                    <a:pt x="30785" y="114300"/>
                  </a:cubicBezTo>
                </a:path>
              </a:pathLst>
            </a:custGeom>
            <a:noFill/>
            <a:ln w="9525">
              <a:solidFill>
                <a:srgbClr val="E8834A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85190" y="5549900"/>
              <a:ext cx="58420" cy="9525"/>
            </a:xfrm>
            <a:custGeom>
              <a:avLst/>
              <a:gdLst/>
              <a:ahLst/>
              <a:cxnLst/>
              <a:rect l="l" t="t" r="r" b="b"/>
              <a:pathLst>
                <a:path w="58420" h="9525">
                  <a:moveTo>
                    <a:pt x="0" y="0"/>
                  </a:moveTo>
                  <a:lnTo>
                    <a:pt x="58420" y="0"/>
                  </a:lnTo>
                </a:path>
              </a:pathLst>
            </a:custGeom>
            <a:noFill/>
            <a:ln w="9525">
              <a:solidFill>
                <a:srgbClr val="E8834A"/>
              </a:solidFill>
            </a:ln>
          </p:spPr>
        </p:sp>
      </p:grpSp>
      <p:sp>
        <p:nvSpPr>
          <p:cNvPr id="46" name="TextBox 46"/>
          <p:cNvSpPr txBox="1"/>
          <p:nvPr/>
        </p:nvSpPr>
        <p:spPr>
          <a:xfrm>
            <a:off x="1182052" y="5313521"/>
            <a:ext cx="69177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E8834A"/>
                </a:solidFill>
                <a:latin typeface="Arial"/>
                <a:ea typeface="Microsoft YaHei"/>
                <a:cs typeface="Arial"/>
              </a:rPr>
              <a:t>类比：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886902" y="5313521"/>
            <a:ext cx="546816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就像弦的振动——只有特定频率（本征频率）才能形成驻波，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82052" y="5561171"/>
            <a:ext cx="440674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量子粒子也只有特定能量才能形成稳定的定态。</a:t>
            </a:r>
          </a:p>
        </p:txBody>
      </p:sp>
      <p:sp>
        <p:nvSpPr>
          <p:cNvPr id="49" name="Rectangle 49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3D3530">
              <a:alpha val="6000"/>
            </a:srgbClr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559118" y="6647974"/>
            <a:ext cx="26093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9E98"/>
                </a:solidFill>
                <a:latin typeface="Arial"/>
                <a:ea typeface="Microsoft YaHei"/>
                <a:cs typeface="Arial"/>
              </a:rPr>
              <a:t>量子力学基础 · 定态与一维无限深方势阱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451479" y="6647974"/>
            <a:ext cx="181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E98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742950"/>
            <a:ext cx="12192000" cy="28575"/>
          </a:xfrm>
          <a:prstGeom prst="rect">
            <a:avLst/>
          </a:prstGeom>
          <a:gradFill>
            <a:gsLst>
              <a:gs pos="0">
                <a:srgbClr val="DE3545"/>
              </a:gs>
              <a:gs pos="100000">
                <a:srgbClr val="E8834A"/>
              </a:gs>
            </a:gsLst>
            <a:lin ang="0" scaled="1"/>
          </a:gra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11239500" y="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0" y="0"/>
                </a:moveTo>
                <a:lnTo>
                  <a:pt x="952500" y="0"/>
                </a:lnTo>
                <a:lnTo>
                  <a:pt x="952500" y="762000"/>
                </a:lnTo>
                <a:close/>
              </a:path>
            </a:pathLst>
          </a:custGeom>
          <a:solidFill>
            <a:srgbClr val="DE3545">
              <a:alpha val="12000"/>
            </a:srgbClr>
          </a:solidFill>
          <a:ln>
            <a:noFill/>
          </a:ln>
        </p:spPr>
      </p:sp>
      <p:sp>
        <p:nvSpPr>
          <p:cNvPr id="6" name="Polygon 6"/>
          <p:cNvSpPr/>
          <p:nvPr/>
        </p:nvSpPr>
        <p:spPr>
          <a:xfrm>
            <a:off x="571500" y="190500"/>
            <a:ext cx="114300" cy="285750"/>
          </a:xfrm>
          <a:custGeom>
            <a:avLst/>
            <a:gdLst/>
            <a:ahLst/>
            <a:cxnLst/>
            <a:rect l="l" t="t" r="r" b="b"/>
            <a:pathLst>
              <a:path w="114300" h="285750">
                <a:moveTo>
                  <a:pt x="0" y="0"/>
                </a:moveTo>
                <a:lnTo>
                  <a:pt x="1143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7" name="Polygon 7"/>
          <p:cNvSpPr/>
          <p:nvPr/>
        </p:nvSpPr>
        <p:spPr>
          <a:xfrm>
            <a:off x="742950" y="190500"/>
            <a:ext cx="114300" cy="285750"/>
          </a:xfrm>
          <a:custGeom>
            <a:avLst/>
            <a:gdLst/>
            <a:ahLst/>
            <a:cxnLst/>
            <a:rect l="l" t="t" r="r" b="b"/>
            <a:pathLst>
              <a:path w="114300" h="285750">
                <a:moveTo>
                  <a:pt x="0" y="0"/>
                </a:moveTo>
                <a:lnTo>
                  <a:pt x="1143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E8834A">
              <a:alpha val="6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23925" y="252412"/>
            <a:ext cx="407690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新知3：为什么叫"定态"？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2450" y="866775"/>
            <a:ext cx="55149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定态有三个核心特征，理解它们是掌握量子力学的关键：</a:t>
            </a:r>
          </a:p>
        </p:txBody>
      </p:sp>
      <p:sp>
        <p:nvSpPr>
          <p:cNvPr id="10" name="Freeform 10"/>
          <p:cNvSpPr/>
          <p:nvPr/>
        </p:nvSpPr>
        <p:spPr>
          <a:xfrm>
            <a:off x="571500" y="1190625"/>
            <a:ext cx="3524250" cy="4667250"/>
          </a:xfrm>
          <a:custGeom>
            <a:avLst/>
            <a:gdLst/>
            <a:ahLst/>
            <a:cxnLst/>
            <a:rect l="l" t="t" r="r" b="b"/>
            <a:pathLst>
              <a:path w="3524250" h="46672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572000"/>
                </a:lnTo>
                <a:cubicBezTo>
                  <a:pt x="3524250" y="4624605"/>
                  <a:pt x="3481605" y="4667250"/>
                  <a:pt x="3429000" y="4667250"/>
                </a:cubicBezTo>
                <a:lnTo>
                  <a:pt x="95250" y="4667250"/>
                </a:lnTo>
                <a:cubicBezTo>
                  <a:pt x="42645" y="4667250"/>
                  <a:pt x="0" y="4624605"/>
                  <a:pt x="0" y="457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gradFill>
            <a:gsLst>
              <a:gs pos="0">
                <a:srgbClr val="EEF6FF"/>
              </a:gs>
              <a:gs pos="100000">
                <a:srgbClr val="FDFCFF"/>
              </a:gs>
            </a:gsLst>
            <a:lin ang="5400000" scaled="1"/>
          </a:gradFill>
          <a:ln w="14288">
            <a:solidFill>
              <a:srgbClr val="2E86AB">
                <a:alpha val="50000"/>
              </a:srgbClr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571500" y="1190625"/>
            <a:ext cx="3524250" cy="533400"/>
          </a:xfrm>
          <a:custGeom>
            <a:avLst/>
            <a:gdLst/>
            <a:ahLst/>
            <a:cxnLst/>
            <a:rect l="l" t="t" r="r" b="b"/>
            <a:pathLst>
              <a:path w="3524250" h="5334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38150"/>
                </a:lnTo>
                <a:cubicBezTo>
                  <a:pt x="3524250" y="490755"/>
                  <a:pt x="3481605" y="533400"/>
                  <a:pt x="3429000" y="533400"/>
                </a:cubicBezTo>
                <a:lnTo>
                  <a:pt x="95250" y="533400"/>
                </a:lnTo>
                <a:cubicBezTo>
                  <a:pt x="42645" y="533400"/>
                  <a:pt x="0" y="490755"/>
                  <a:pt x="0" y="4381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E86AB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533525"/>
            <a:ext cx="3524250" cy="190500"/>
          </a:xfrm>
          <a:prstGeom prst="rect">
            <a:avLst/>
          </a:prstGeom>
          <a:solidFill>
            <a:srgbClr val="2E86A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951327" y="1353979"/>
            <a:ext cx="76459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特征一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7512" y="1726882"/>
            <a:ext cx="25722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E86AB"/>
                </a:solidFill>
                <a:latin typeface="Arial"/>
                <a:ea typeface="Microsoft YaHei"/>
                <a:cs typeface="Arial"/>
              </a:rPr>
              <a:t>概率密度不随时间变化</a:t>
            </a:r>
          </a:p>
        </p:txBody>
      </p:sp>
      <p:sp>
        <p:nvSpPr>
          <p:cNvPr id="15" name="Line 15"/>
          <p:cNvSpPr/>
          <p:nvPr/>
        </p:nvSpPr>
        <p:spPr>
          <a:xfrm>
            <a:off x="857250" y="2076450"/>
            <a:ext cx="2952750" cy="9525"/>
          </a:xfrm>
          <a:custGeom>
            <a:avLst/>
            <a:gdLst/>
            <a:ahLst/>
            <a:cxnLst/>
            <a:rect l="l" t="t" r="r" b="b"/>
            <a:pathLst>
              <a:path w="2952750" h="9525">
                <a:moveTo>
                  <a:pt x="0" y="0"/>
                </a:moveTo>
                <a:lnTo>
                  <a:pt x="2952750" y="0"/>
                </a:lnTo>
              </a:path>
            </a:pathLst>
          </a:custGeom>
          <a:noFill/>
          <a:ln w="9525">
            <a:solidFill>
              <a:srgbClr val="2E86AB">
                <a:alpha val="30000"/>
              </a:srgbClr>
            </a:solidFill>
          </a:ln>
        </p:spPr>
      </p:sp>
      <p:sp>
        <p:nvSpPr>
          <p:cNvPr id="16" name="Freeform 16"/>
          <p:cNvSpPr/>
          <p:nvPr/>
        </p:nvSpPr>
        <p:spPr>
          <a:xfrm>
            <a:off x="762000" y="2171700"/>
            <a:ext cx="3143250" cy="666750"/>
          </a:xfrm>
          <a:custGeom>
            <a:avLst/>
            <a:gdLst/>
            <a:ahLst/>
            <a:cxnLst/>
            <a:rect l="l" t="t" r="r" b="b"/>
            <a:pathLst>
              <a:path w="3143250" h="666750">
                <a:moveTo>
                  <a:pt x="57150" y="0"/>
                </a:moveTo>
                <a:lnTo>
                  <a:pt x="3086100" y="0"/>
                </a:lnTo>
                <a:cubicBezTo>
                  <a:pt x="3117663" y="0"/>
                  <a:pt x="3143250" y="25587"/>
                  <a:pt x="3143250" y="57150"/>
                </a:cubicBezTo>
                <a:lnTo>
                  <a:pt x="3143250" y="609600"/>
                </a:lnTo>
                <a:cubicBezTo>
                  <a:pt x="3143250" y="641163"/>
                  <a:pt x="3117663" y="666750"/>
                  <a:pt x="3086100" y="666750"/>
                </a:cubicBezTo>
                <a:lnTo>
                  <a:pt x="57150" y="666750"/>
                </a:lnTo>
                <a:cubicBezTo>
                  <a:pt x="25587" y="666750"/>
                  <a:pt x="0" y="641163"/>
                  <a:pt x="0" y="609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E86AB">
              <a:alpha val="10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384185" y="2303621"/>
            <a:ext cx="189888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dirty="0">
                <a:solidFill>
                  <a:srgbClr val="2E86AB"/>
                </a:solidFill>
                <a:latin typeface="Consolas"/>
                <a:ea typeface="Microsoft YaHei"/>
                <a:cs typeface="Consolas"/>
              </a:rPr>
              <a:t>|Ψ(r,t)|² = |ψ(r)|²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79461" y="2585085"/>
            <a:ext cx="11083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与时间 t 无关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3902" y="2989421"/>
            <a:ext cx="250243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时间因子 e^(-iEt/ℏ) 的模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3902" y="3275171"/>
            <a:ext cx="224228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为 1，取模平方后消失。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3902" y="3618071"/>
            <a:ext cx="211740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粒子在空间各处出现的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3902" y="3903821"/>
            <a:ext cx="190928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概率分布是固定的，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3902" y="4189571"/>
            <a:ext cx="149304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不随时间演化。</a:t>
            </a:r>
          </a:p>
        </p:txBody>
      </p:sp>
      <p:sp>
        <p:nvSpPr>
          <p:cNvPr id="24" name="Freeform 24"/>
          <p:cNvSpPr/>
          <p:nvPr/>
        </p:nvSpPr>
        <p:spPr>
          <a:xfrm>
            <a:off x="762000" y="5048250"/>
            <a:ext cx="3143250" cy="571500"/>
          </a:xfrm>
          <a:custGeom>
            <a:avLst/>
            <a:gdLst/>
            <a:ahLst/>
            <a:cxnLst/>
            <a:rect l="l" t="t" r="r" b="b"/>
            <a:pathLst>
              <a:path w="3143250" h="571500">
                <a:moveTo>
                  <a:pt x="57150" y="0"/>
                </a:moveTo>
                <a:lnTo>
                  <a:pt x="3086100" y="0"/>
                </a:lnTo>
                <a:cubicBezTo>
                  <a:pt x="3117663" y="0"/>
                  <a:pt x="3143250" y="25587"/>
                  <a:pt x="3143250" y="57150"/>
                </a:cubicBezTo>
                <a:lnTo>
                  <a:pt x="3143250" y="514350"/>
                </a:lnTo>
                <a:cubicBezTo>
                  <a:pt x="3143250" y="545913"/>
                  <a:pt x="3117663" y="571500"/>
                  <a:pt x="308610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E86AB">
              <a:alpha val="12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427796" y="5158264"/>
            <a:ext cx="181165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2E86AB"/>
                </a:solidFill>
                <a:latin typeface="Arial"/>
                <a:ea typeface="Microsoft YaHei"/>
                <a:cs typeface="Arial"/>
              </a:rPr>
              <a:t>这就是"定"的含义：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72578" y="5386864"/>
            <a:ext cx="152209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2E86AB"/>
                </a:solidFill>
                <a:latin typeface="Arial"/>
                <a:ea typeface="Microsoft YaHei"/>
                <a:cs typeface="Arial"/>
              </a:rPr>
              <a:t>概率分布稳定不变</a:t>
            </a:r>
          </a:p>
        </p:txBody>
      </p:sp>
      <p:sp>
        <p:nvSpPr>
          <p:cNvPr id="27" name="Freeform 27"/>
          <p:cNvSpPr/>
          <p:nvPr/>
        </p:nvSpPr>
        <p:spPr>
          <a:xfrm>
            <a:off x="4333875" y="1190625"/>
            <a:ext cx="3524250" cy="4667250"/>
          </a:xfrm>
          <a:custGeom>
            <a:avLst/>
            <a:gdLst/>
            <a:ahLst/>
            <a:cxnLst/>
            <a:rect l="l" t="t" r="r" b="b"/>
            <a:pathLst>
              <a:path w="3524250" h="46672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572000"/>
                </a:lnTo>
                <a:cubicBezTo>
                  <a:pt x="3524250" y="4624605"/>
                  <a:pt x="3481605" y="4667250"/>
                  <a:pt x="3429000" y="4667250"/>
                </a:cubicBezTo>
                <a:lnTo>
                  <a:pt x="95250" y="4667250"/>
                </a:lnTo>
                <a:cubicBezTo>
                  <a:pt x="42645" y="4667250"/>
                  <a:pt x="0" y="4624605"/>
                  <a:pt x="0" y="457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gradFill>
            <a:gsLst>
              <a:gs pos="0">
                <a:srgbClr val="EDFAF3"/>
              </a:gs>
              <a:gs pos="100000">
                <a:srgbClr val="FDFFFE"/>
              </a:gs>
            </a:gsLst>
            <a:lin ang="5400000" scaled="1"/>
          </a:gradFill>
          <a:ln w="14288">
            <a:solidFill>
              <a:srgbClr val="4CAF7D">
                <a:alpha val="50000"/>
              </a:srgbClr>
            </a:solidFill>
          </a:ln>
        </p:spPr>
      </p:sp>
      <p:sp>
        <p:nvSpPr>
          <p:cNvPr id="28" name="Freeform 28"/>
          <p:cNvSpPr/>
          <p:nvPr/>
        </p:nvSpPr>
        <p:spPr>
          <a:xfrm>
            <a:off x="4333875" y="1190625"/>
            <a:ext cx="3524250" cy="533400"/>
          </a:xfrm>
          <a:custGeom>
            <a:avLst/>
            <a:gdLst/>
            <a:ahLst/>
            <a:cxnLst/>
            <a:rect l="l" t="t" r="r" b="b"/>
            <a:pathLst>
              <a:path w="3524250" h="5334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38150"/>
                </a:lnTo>
                <a:cubicBezTo>
                  <a:pt x="3524250" y="490755"/>
                  <a:pt x="3481605" y="533400"/>
                  <a:pt x="3429000" y="533400"/>
                </a:cubicBezTo>
                <a:lnTo>
                  <a:pt x="95250" y="533400"/>
                </a:lnTo>
                <a:cubicBezTo>
                  <a:pt x="42645" y="533400"/>
                  <a:pt x="0" y="490755"/>
                  <a:pt x="0" y="4381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4CAF7D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4333875" y="1533525"/>
            <a:ext cx="3524250" cy="190500"/>
          </a:xfrm>
          <a:prstGeom prst="rect">
            <a:avLst/>
          </a:prstGeom>
          <a:solidFill>
            <a:srgbClr val="4CAF7D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5713702" y="1353979"/>
            <a:ext cx="76459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特征二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189434" y="1726882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CAF7D"/>
                </a:solidFill>
                <a:latin typeface="Arial"/>
                <a:ea typeface="Microsoft YaHei"/>
                <a:cs typeface="Arial"/>
              </a:rPr>
              <a:t>能量具有确定值</a:t>
            </a:r>
          </a:p>
        </p:txBody>
      </p:sp>
      <p:sp>
        <p:nvSpPr>
          <p:cNvPr id="32" name="Line 32"/>
          <p:cNvSpPr/>
          <p:nvPr/>
        </p:nvSpPr>
        <p:spPr>
          <a:xfrm>
            <a:off x="4619625" y="2076450"/>
            <a:ext cx="2952750" cy="9525"/>
          </a:xfrm>
          <a:custGeom>
            <a:avLst/>
            <a:gdLst/>
            <a:ahLst/>
            <a:cxnLst/>
            <a:rect l="l" t="t" r="r" b="b"/>
            <a:pathLst>
              <a:path w="2952750" h="9525">
                <a:moveTo>
                  <a:pt x="0" y="0"/>
                </a:moveTo>
                <a:lnTo>
                  <a:pt x="2952750" y="0"/>
                </a:lnTo>
              </a:path>
            </a:pathLst>
          </a:custGeom>
          <a:noFill/>
          <a:ln w="9525">
            <a:solidFill>
              <a:srgbClr val="4CAF7D">
                <a:alpha val="30000"/>
              </a:srgbClr>
            </a:solidFill>
          </a:ln>
        </p:spPr>
      </p:sp>
      <p:sp>
        <p:nvSpPr>
          <p:cNvPr id="33" name="Freeform 33"/>
          <p:cNvSpPr/>
          <p:nvPr/>
        </p:nvSpPr>
        <p:spPr>
          <a:xfrm>
            <a:off x="4524375" y="2171700"/>
            <a:ext cx="3143250" cy="666750"/>
          </a:xfrm>
          <a:custGeom>
            <a:avLst/>
            <a:gdLst/>
            <a:ahLst/>
            <a:cxnLst/>
            <a:rect l="l" t="t" r="r" b="b"/>
            <a:pathLst>
              <a:path w="3143250" h="666750">
                <a:moveTo>
                  <a:pt x="57150" y="0"/>
                </a:moveTo>
                <a:lnTo>
                  <a:pt x="3086100" y="0"/>
                </a:lnTo>
                <a:cubicBezTo>
                  <a:pt x="3117663" y="0"/>
                  <a:pt x="3143250" y="25587"/>
                  <a:pt x="3143250" y="57150"/>
                </a:cubicBezTo>
                <a:lnTo>
                  <a:pt x="3143250" y="609600"/>
                </a:lnTo>
                <a:cubicBezTo>
                  <a:pt x="3143250" y="641163"/>
                  <a:pt x="3117663" y="666750"/>
                  <a:pt x="3086100" y="666750"/>
                </a:cubicBezTo>
                <a:lnTo>
                  <a:pt x="57150" y="666750"/>
                </a:lnTo>
                <a:cubicBezTo>
                  <a:pt x="25587" y="666750"/>
                  <a:pt x="0" y="641163"/>
                  <a:pt x="0" y="609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4CAF7D">
              <a:alpha val="10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276636" y="2275046"/>
            <a:ext cx="163872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dirty="0">
                <a:solidFill>
                  <a:srgbClr val="4CAF7D"/>
                </a:solidFill>
                <a:latin typeface="Consolas"/>
                <a:ea typeface="Microsoft YaHei"/>
                <a:cs typeface="Consolas"/>
              </a:rPr>
              <a:t>⟨H⟩ = E，σ_H = 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554980" y="2585085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能量涨落为零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506278" y="2989421"/>
            <a:ext cx="190928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每次测量能量，结果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506278" y="3275171"/>
            <a:ext cx="166994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都是同一个值 E。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06278" y="3618071"/>
            <a:ext cx="172197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这与叠加态不同——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506278" y="3903821"/>
            <a:ext cx="170116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叠加态测量能量会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506278" y="4189571"/>
            <a:ext cx="149304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得到不同结果。</a:t>
            </a:r>
          </a:p>
        </p:txBody>
      </p:sp>
      <p:sp>
        <p:nvSpPr>
          <p:cNvPr id="41" name="Freeform 41"/>
          <p:cNvSpPr/>
          <p:nvPr/>
        </p:nvSpPr>
        <p:spPr>
          <a:xfrm>
            <a:off x="4524375" y="5048250"/>
            <a:ext cx="3143250" cy="571500"/>
          </a:xfrm>
          <a:custGeom>
            <a:avLst/>
            <a:gdLst/>
            <a:ahLst/>
            <a:cxnLst/>
            <a:rect l="l" t="t" r="r" b="b"/>
            <a:pathLst>
              <a:path w="3143250" h="571500">
                <a:moveTo>
                  <a:pt x="57150" y="0"/>
                </a:moveTo>
                <a:lnTo>
                  <a:pt x="3086100" y="0"/>
                </a:lnTo>
                <a:cubicBezTo>
                  <a:pt x="3117663" y="0"/>
                  <a:pt x="3143250" y="25587"/>
                  <a:pt x="3143250" y="57150"/>
                </a:cubicBezTo>
                <a:lnTo>
                  <a:pt x="3143250" y="514350"/>
                </a:lnTo>
                <a:cubicBezTo>
                  <a:pt x="3143250" y="545913"/>
                  <a:pt x="3117663" y="571500"/>
                  <a:pt x="308610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4CAF7D">
              <a:alpha val="12000"/>
            </a:srgbClr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283045" y="5158264"/>
            <a:ext cx="162590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4CAF7D"/>
                </a:solidFill>
                <a:latin typeface="Arial"/>
                <a:ea typeface="Microsoft YaHei"/>
                <a:cs typeface="Arial"/>
              </a:rPr>
              <a:t>定态 = 能量本征态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521166" y="5386864"/>
            <a:ext cx="114966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4CAF7D"/>
                </a:solidFill>
                <a:latin typeface="Arial"/>
                <a:ea typeface="Microsoft YaHei"/>
                <a:cs typeface="Arial"/>
              </a:rPr>
              <a:t>能量完全确定</a:t>
            </a:r>
          </a:p>
        </p:txBody>
      </p:sp>
      <p:sp>
        <p:nvSpPr>
          <p:cNvPr id="44" name="Freeform 44"/>
          <p:cNvSpPr/>
          <p:nvPr/>
        </p:nvSpPr>
        <p:spPr>
          <a:xfrm>
            <a:off x="8096250" y="1190625"/>
            <a:ext cx="3524250" cy="4667250"/>
          </a:xfrm>
          <a:custGeom>
            <a:avLst/>
            <a:gdLst/>
            <a:ahLst/>
            <a:cxnLst/>
            <a:rect l="l" t="t" r="r" b="b"/>
            <a:pathLst>
              <a:path w="3524250" h="46672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572000"/>
                </a:lnTo>
                <a:cubicBezTo>
                  <a:pt x="3524250" y="4624605"/>
                  <a:pt x="3481605" y="4667250"/>
                  <a:pt x="3429000" y="4667250"/>
                </a:cubicBezTo>
                <a:lnTo>
                  <a:pt x="95250" y="4667250"/>
                </a:lnTo>
                <a:cubicBezTo>
                  <a:pt x="42645" y="4667250"/>
                  <a:pt x="0" y="4624605"/>
                  <a:pt x="0" y="457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gradFill>
            <a:gsLst>
              <a:gs pos="0">
                <a:srgbClr val="FFF4EC"/>
              </a:gs>
              <a:gs pos="100000">
                <a:srgbClr val="FFFCFA"/>
              </a:gs>
            </a:gsLst>
            <a:lin ang="5400000" scaled="1"/>
          </a:gradFill>
          <a:ln w="14288">
            <a:solidFill>
              <a:srgbClr val="E8834A">
                <a:alpha val="50000"/>
              </a:srgbClr>
            </a:solidFill>
          </a:ln>
        </p:spPr>
      </p:sp>
      <p:sp>
        <p:nvSpPr>
          <p:cNvPr id="45" name="Freeform 45"/>
          <p:cNvSpPr/>
          <p:nvPr/>
        </p:nvSpPr>
        <p:spPr>
          <a:xfrm>
            <a:off x="8096250" y="1190625"/>
            <a:ext cx="3524250" cy="533400"/>
          </a:xfrm>
          <a:custGeom>
            <a:avLst/>
            <a:gdLst/>
            <a:ahLst/>
            <a:cxnLst/>
            <a:rect l="l" t="t" r="r" b="b"/>
            <a:pathLst>
              <a:path w="3524250" h="5334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38150"/>
                </a:lnTo>
                <a:cubicBezTo>
                  <a:pt x="3524250" y="490755"/>
                  <a:pt x="3481605" y="533400"/>
                  <a:pt x="3429000" y="533400"/>
                </a:cubicBezTo>
                <a:lnTo>
                  <a:pt x="95250" y="533400"/>
                </a:lnTo>
                <a:cubicBezTo>
                  <a:pt x="42645" y="533400"/>
                  <a:pt x="0" y="490755"/>
                  <a:pt x="0" y="4381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834A"/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8096250" y="1533525"/>
            <a:ext cx="3524250" cy="190500"/>
          </a:xfrm>
          <a:prstGeom prst="rect">
            <a:avLst/>
          </a:prstGeom>
          <a:solidFill>
            <a:srgbClr val="E8834A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9476077" y="1353979"/>
            <a:ext cx="76459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特征三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572262" y="1726882"/>
            <a:ext cx="25722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E8834A"/>
                </a:solidFill>
                <a:latin typeface="Arial"/>
                <a:ea typeface="Microsoft YaHei"/>
                <a:cs typeface="Arial"/>
              </a:rPr>
              <a:t>任意力学量期望值不变</a:t>
            </a:r>
          </a:p>
        </p:txBody>
      </p:sp>
      <p:sp>
        <p:nvSpPr>
          <p:cNvPr id="49" name="Line 49"/>
          <p:cNvSpPr/>
          <p:nvPr/>
        </p:nvSpPr>
        <p:spPr>
          <a:xfrm>
            <a:off x="8382000" y="2076450"/>
            <a:ext cx="2952750" cy="9525"/>
          </a:xfrm>
          <a:custGeom>
            <a:avLst/>
            <a:gdLst/>
            <a:ahLst/>
            <a:cxnLst/>
            <a:rect l="l" t="t" r="r" b="b"/>
            <a:pathLst>
              <a:path w="2952750" h="9525">
                <a:moveTo>
                  <a:pt x="0" y="0"/>
                </a:moveTo>
                <a:lnTo>
                  <a:pt x="2952750" y="0"/>
                </a:lnTo>
              </a:path>
            </a:pathLst>
          </a:custGeom>
          <a:noFill/>
          <a:ln w="9525">
            <a:solidFill>
              <a:srgbClr val="E8834A">
                <a:alpha val="30000"/>
              </a:srgbClr>
            </a:solidFill>
          </a:ln>
        </p:spPr>
      </p:sp>
      <p:sp>
        <p:nvSpPr>
          <p:cNvPr id="50" name="Freeform 50"/>
          <p:cNvSpPr/>
          <p:nvPr/>
        </p:nvSpPr>
        <p:spPr>
          <a:xfrm>
            <a:off x="8286750" y="2171700"/>
            <a:ext cx="3143250" cy="666750"/>
          </a:xfrm>
          <a:custGeom>
            <a:avLst/>
            <a:gdLst/>
            <a:ahLst/>
            <a:cxnLst/>
            <a:rect l="l" t="t" r="r" b="b"/>
            <a:pathLst>
              <a:path w="3143250" h="666750">
                <a:moveTo>
                  <a:pt x="57150" y="0"/>
                </a:moveTo>
                <a:lnTo>
                  <a:pt x="3086100" y="0"/>
                </a:lnTo>
                <a:cubicBezTo>
                  <a:pt x="3117663" y="0"/>
                  <a:pt x="3143250" y="25587"/>
                  <a:pt x="3143250" y="57150"/>
                </a:cubicBezTo>
                <a:lnTo>
                  <a:pt x="3143250" y="609600"/>
                </a:lnTo>
                <a:cubicBezTo>
                  <a:pt x="3143250" y="641163"/>
                  <a:pt x="3117663" y="666750"/>
                  <a:pt x="3086100" y="666750"/>
                </a:cubicBezTo>
                <a:lnTo>
                  <a:pt x="57150" y="666750"/>
                </a:lnTo>
                <a:cubicBezTo>
                  <a:pt x="25587" y="666750"/>
                  <a:pt x="0" y="641163"/>
                  <a:pt x="0" y="609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834A">
              <a:alpha val="10000"/>
            </a:srgbClr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9195090" y="2291239"/>
            <a:ext cx="132657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E8834A"/>
                </a:solidFill>
                <a:latin typeface="Consolas"/>
                <a:ea typeface="Microsoft YaHei"/>
                <a:cs typeface="Consolas"/>
              </a:rPr>
              <a:t>⟨A⟩ = ∫ψ*Âψ dr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404985" y="2585085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与时间无关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268652" y="2989421"/>
            <a:ext cx="170116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位置、动量等任意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268652" y="3275171"/>
            <a:ext cx="149304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力学量的期望值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268652" y="3618071"/>
            <a:ext cx="170116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都不随时间变化。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268652" y="3903821"/>
            <a:ext cx="151385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这是"定态"名称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268652" y="4189571"/>
            <a:ext cx="149304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最完整的含义。</a:t>
            </a:r>
          </a:p>
        </p:txBody>
      </p:sp>
      <p:sp>
        <p:nvSpPr>
          <p:cNvPr id="58" name="Freeform 58"/>
          <p:cNvSpPr/>
          <p:nvPr/>
        </p:nvSpPr>
        <p:spPr>
          <a:xfrm>
            <a:off x="8286750" y="5048250"/>
            <a:ext cx="3143250" cy="571500"/>
          </a:xfrm>
          <a:custGeom>
            <a:avLst/>
            <a:gdLst/>
            <a:ahLst/>
            <a:cxnLst/>
            <a:rect l="l" t="t" r="r" b="b"/>
            <a:pathLst>
              <a:path w="3143250" h="571500">
                <a:moveTo>
                  <a:pt x="57150" y="0"/>
                </a:moveTo>
                <a:lnTo>
                  <a:pt x="3086100" y="0"/>
                </a:lnTo>
                <a:cubicBezTo>
                  <a:pt x="3117663" y="0"/>
                  <a:pt x="3143250" y="25587"/>
                  <a:pt x="3143250" y="57150"/>
                </a:cubicBezTo>
                <a:lnTo>
                  <a:pt x="3143250" y="514350"/>
                </a:lnTo>
                <a:cubicBezTo>
                  <a:pt x="3143250" y="545913"/>
                  <a:pt x="3117663" y="571500"/>
                  <a:pt x="308610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834A">
              <a:alpha val="12000"/>
            </a:srgbClr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9255609" y="5158264"/>
            <a:ext cx="12055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E8834A"/>
                </a:solidFill>
                <a:latin typeface="Arial"/>
                <a:ea typeface="Microsoft YaHei"/>
                <a:cs typeface="Arial"/>
              </a:rPr>
              <a:t>宏观可观测量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283541" y="5386864"/>
            <a:ext cx="114966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E8834A"/>
                </a:solidFill>
                <a:latin typeface="Arial"/>
                <a:ea typeface="Microsoft YaHei"/>
                <a:cs typeface="Arial"/>
              </a:rPr>
              <a:t>全部稳定不变</a:t>
            </a:r>
          </a:p>
        </p:txBody>
      </p:sp>
      <p:sp>
        <p:nvSpPr>
          <p:cNvPr id="61" name="Rectangle 61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3D3530">
              <a:alpha val="6000"/>
            </a:srgbClr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559118" y="6647974"/>
            <a:ext cx="26093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9E98"/>
                </a:solidFill>
                <a:latin typeface="Arial"/>
                <a:ea typeface="Microsoft YaHei"/>
                <a:cs typeface="Arial"/>
              </a:rPr>
              <a:t>量子力学基础 · 定态与一维无限深方势阱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451479" y="6647974"/>
            <a:ext cx="181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E98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742950"/>
            <a:ext cx="12192000" cy="28575"/>
          </a:xfrm>
          <a:prstGeom prst="rect">
            <a:avLst/>
          </a:prstGeom>
          <a:gradFill>
            <a:gsLst>
              <a:gs pos="0">
                <a:srgbClr val="DE3545"/>
              </a:gs>
              <a:gs pos="100000">
                <a:srgbClr val="E8834A"/>
              </a:gs>
            </a:gsLst>
            <a:lin ang="0" scaled="1"/>
          </a:gra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11239500" y="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0" y="0"/>
                </a:moveTo>
                <a:lnTo>
                  <a:pt x="952500" y="0"/>
                </a:lnTo>
                <a:lnTo>
                  <a:pt x="952500" y="762000"/>
                </a:lnTo>
                <a:close/>
              </a:path>
            </a:pathLst>
          </a:custGeom>
          <a:solidFill>
            <a:srgbClr val="DE3545">
              <a:alpha val="12000"/>
            </a:srgbClr>
          </a:solidFill>
          <a:ln>
            <a:noFill/>
          </a:ln>
        </p:spPr>
      </p:sp>
      <p:sp>
        <p:nvSpPr>
          <p:cNvPr id="6" name="Polygon 6"/>
          <p:cNvSpPr/>
          <p:nvPr/>
        </p:nvSpPr>
        <p:spPr>
          <a:xfrm>
            <a:off x="571500" y="190500"/>
            <a:ext cx="114300" cy="285750"/>
          </a:xfrm>
          <a:custGeom>
            <a:avLst/>
            <a:gdLst/>
            <a:ahLst/>
            <a:cxnLst/>
            <a:rect l="l" t="t" r="r" b="b"/>
            <a:pathLst>
              <a:path w="114300" h="285750">
                <a:moveTo>
                  <a:pt x="0" y="0"/>
                </a:moveTo>
                <a:lnTo>
                  <a:pt x="1143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7" name="Polygon 7"/>
          <p:cNvSpPr/>
          <p:nvPr/>
        </p:nvSpPr>
        <p:spPr>
          <a:xfrm>
            <a:off x="742950" y="190500"/>
            <a:ext cx="114300" cy="285750"/>
          </a:xfrm>
          <a:custGeom>
            <a:avLst/>
            <a:gdLst/>
            <a:ahLst/>
            <a:cxnLst/>
            <a:rect l="l" t="t" r="r" b="b"/>
            <a:pathLst>
              <a:path w="114300" h="285750">
                <a:moveTo>
                  <a:pt x="0" y="0"/>
                </a:moveTo>
                <a:lnTo>
                  <a:pt x="1143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E8834A">
              <a:alpha val="6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23925" y="252412"/>
            <a:ext cx="649220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新知4：最简单的量子模型——粒子在盒子里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876300"/>
            <a:ext cx="4667250" cy="5429250"/>
          </a:xfrm>
          <a:custGeom>
            <a:avLst/>
            <a:gdLst/>
            <a:ahLst/>
            <a:cxnLst/>
            <a:rect l="l" t="t" r="r" b="b"/>
            <a:pathLst>
              <a:path w="4667250" h="5429250">
                <a:moveTo>
                  <a:pt x="95250" y="0"/>
                </a:moveTo>
                <a:lnTo>
                  <a:pt x="4572000" y="0"/>
                </a:lnTo>
                <a:cubicBezTo>
                  <a:pt x="4624605" y="0"/>
                  <a:pt x="4667250" y="42645"/>
                  <a:pt x="4667250" y="95250"/>
                </a:cubicBezTo>
                <a:lnTo>
                  <a:pt x="4667250" y="5334000"/>
                </a:lnTo>
                <a:cubicBezTo>
                  <a:pt x="4667250" y="5386605"/>
                  <a:pt x="4624605" y="5429250"/>
                  <a:pt x="4572000" y="5429250"/>
                </a:cubicBezTo>
                <a:lnTo>
                  <a:pt x="95250" y="5429250"/>
                </a:lnTo>
                <a:cubicBezTo>
                  <a:pt x="42645" y="5429250"/>
                  <a:pt x="0" y="5386605"/>
                  <a:pt x="0" y="5334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gradFill>
            <a:gsLst>
              <a:gs pos="0">
                <a:srgbClr val="EEF6FF"/>
              </a:gs>
              <a:gs pos="100000">
                <a:srgbClr val="F8FCFF"/>
              </a:gs>
            </a:gsLst>
            <a:lin ang="5400000" scaled="1"/>
          </a:gradFill>
          <a:ln w="14288">
            <a:solidFill>
              <a:srgbClr val="2E86AB">
                <a:alpha val="40000"/>
              </a:srgbClr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2176814" y="1008221"/>
            <a:ext cx="1456623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2E86AB"/>
                </a:solidFill>
                <a:latin typeface="Arial"/>
                <a:ea typeface="Microsoft YaHei"/>
                <a:cs typeface="Arial"/>
              </a:rPr>
              <a:t>势能函数 V(x)</a:t>
            </a:r>
          </a:p>
        </p:txBody>
      </p:sp>
      <p:sp>
        <p:nvSpPr>
          <p:cNvPr id="11" name="Line 11"/>
          <p:cNvSpPr/>
          <p:nvPr/>
        </p:nvSpPr>
        <p:spPr>
          <a:xfrm>
            <a:off x="1143000" y="4762500"/>
            <a:ext cx="3619500" cy="9525"/>
          </a:xfrm>
          <a:custGeom>
            <a:avLst/>
            <a:gdLst/>
            <a:ahLst/>
            <a:cxnLst/>
            <a:rect l="l" t="t" r="r" b="b"/>
            <a:pathLst>
              <a:path w="3619500" h="9525">
                <a:moveTo>
                  <a:pt x="0" y="0"/>
                </a:moveTo>
                <a:lnTo>
                  <a:pt x="3619500" y="0"/>
                </a:lnTo>
              </a:path>
            </a:pathLst>
          </a:custGeom>
          <a:noFill/>
          <a:ln w="19050">
            <a:solidFill>
              <a:srgbClr val="3D3530"/>
            </a:solidFill>
          </a:ln>
        </p:spPr>
      </p:sp>
      <p:sp>
        <p:nvSpPr>
          <p:cNvPr id="12" name="Polygon 12"/>
          <p:cNvSpPr/>
          <p:nvPr/>
        </p:nvSpPr>
        <p:spPr>
          <a:xfrm>
            <a:off x="4667250" y="4714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3D3530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840605" y="4664392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D3530"/>
                </a:solidFill>
                <a:latin typeface="Consolas"/>
                <a:ea typeface="Microsoft YaHei"/>
                <a:cs typeface="Consolas"/>
              </a:rPr>
              <a:t>x</a:t>
            </a:r>
          </a:p>
        </p:txBody>
      </p:sp>
      <p:sp>
        <p:nvSpPr>
          <p:cNvPr id="14" name="Line 14"/>
          <p:cNvSpPr/>
          <p:nvPr/>
        </p:nvSpPr>
        <p:spPr>
          <a:xfrm>
            <a:off x="1905000" y="1428750"/>
            <a:ext cx="9525" cy="3905250"/>
          </a:xfrm>
          <a:custGeom>
            <a:avLst/>
            <a:gdLst/>
            <a:ahLst/>
            <a:cxnLst/>
            <a:rect l="l" t="t" r="r" b="b"/>
            <a:pathLst>
              <a:path w="9525" h="3905250">
                <a:moveTo>
                  <a:pt x="0" y="390525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3D3530"/>
            </a:solidFill>
          </a:ln>
        </p:spPr>
      </p:sp>
      <p:sp>
        <p:nvSpPr>
          <p:cNvPr id="15" name="Polygon 15"/>
          <p:cNvSpPr/>
          <p:nvPr/>
        </p:nvSpPr>
        <p:spPr>
          <a:xfrm>
            <a:off x="1857375" y="14287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0" y="95250"/>
                </a:lnTo>
                <a:lnTo>
                  <a:pt x="95250" y="95250"/>
                </a:lnTo>
                <a:close/>
              </a:path>
            </a:pathLst>
          </a:custGeom>
          <a:solidFill>
            <a:srgbClr val="3D353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744980" y="1235392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D3530"/>
                </a:solidFill>
                <a:latin typeface="Consolas"/>
                <a:ea typeface="Microsoft YaHei"/>
                <a:cs typeface="Consolas"/>
              </a:rPr>
              <a:t>V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41564" y="48425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D3530"/>
                </a:solidFill>
                <a:latin typeface="Consolas"/>
                <a:ea typeface="Microsoft YaHei"/>
                <a:cs typeface="Consolas"/>
              </a:rPr>
              <a:t>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56063" y="48425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D3530"/>
                </a:solidFill>
                <a:latin typeface="Consolas"/>
                <a:ea typeface="Microsoft YaHei"/>
                <a:cs typeface="Consolas"/>
              </a:rPr>
              <a:t>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98688" y="4680585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D3530"/>
                </a:solidFill>
                <a:latin typeface="Consolas"/>
                <a:ea typeface="Microsoft YaHei"/>
                <a:cs typeface="Consolas"/>
              </a:rPr>
              <a:t>0</a:t>
            </a:r>
          </a:p>
        </p:txBody>
      </p:sp>
      <p:sp>
        <p:nvSpPr>
          <p:cNvPr id="20" name="Rectangle 20"/>
          <p:cNvSpPr/>
          <p:nvPr/>
        </p:nvSpPr>
        <p:spPr>
          <a:xfrm>
            <a:off x="1905000" y="4667250"/>
            <a:ext cx="1714500" cy="95250"/>
          </a:xfrm>
          <a:prstGeom prst="rect">
            <a:avLst/>
          </a:prstGeom>
          <a:solidFill>
            <a:srgbClr val="4CAF7D">
              <a:alpha val="30000"/>
            </a:srgbClr>
          </a:solidFill>
          <a:ln>
            <a:noFill/>
          </a:ln>
        </p:spPr>
      </p:sp>
      <p:sp>
        <p:nvSpPr>
          <p:cNvPr id="21" name="Line 21"/>
          <p:cNvSpPr/>
          <p:nvPr/>
        </p:nvSpPr>
        <p:spPr>
          <a:xfrm>
            <a:off x="1905000" y="4762500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28575">
            <a:solidFill>
              <a:srgbClr val="4CAF7D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2563118" y="4526756"/>
            <a:ext cx="39826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4CAF7D"/>
                </a:solidFill>
                <a:latin typeface="Consolas"/>
                <a:ea typeface="Microsoft YaHei"/>
                <a:cs typeface="Consolas"/>
              </a:rPr>
              <a:t>V = 0</a:t>
            </a:r>
          </a:p>
        </p:txBody>
      </p:sp>
      <p:sp>
        <p:nvSpPr>
          <p:cNvPr id="23" name="Line 23"/>
          <p:cNvSpPr/>
          <p:nvPr/>
        </p:nvSpPr>
        <p:spPr>
          <a:xfrm>
            <a:off x="1143000" y="476250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28575">
            <a:solidFill>
              <a:srgbClr val="DE3545"/>
            </a:solidFill>
          </a:ln>
        </p:spPr>
      </p:sp>
      <p:sp>
        <p:nvSpPr>
          <p:cNvPr id="24" name="Line 24"/>
          <p:cNvSpPr/>
          <p:nvPr/>
        </p:nvSpPr>
        <p:spPr>
          <a:xfrm>
            <a:off x="1905000" y="1524000"/>
            <a:ext cx="9525" cy="3238500"/>
          </a:xfrm>
          <a:custGeom>
            <a:avLst/>
            <a:gdLst/>
            <a:ahLst/>
            <a:cxnLst/>
            <a:rect l="l" t="t" r="r" b="b"/>
            <a:pathLst>
              <a:path w="9525" h="3238500">
                <a:moveTo>
                  <a:pt x="0" y="0"/>
                </a:moveTo>
                <a:lnTo>
                  <a:pt x="0" y="3238500"/>
                </a:lnTo>
              </a:path>
            </a:pathLst>
          </a:custGeom>
          <a:noFill/>
          <a:ln w="28575">
            <a:solidFill>
              <a:srgbClr val="DE3545"/>
            </a:solidFill>
            <a:prstDash val="lgDash"/>
          </a:ln>
        </p:spPr>
      </p:sp>
      <p:sp>
        <p:nvSpPr>
          <p:cNvPr id="25" name="Rectangle 25"/>
          <p:cNvSpPr/>
          <p:nvPr/>
        </p:nvSpPr>
        <p:spPr>
          <a:xfrm>
            <a:off x="1143000" y="1524000"/>
            <a:ext cx="762000" cy="3238500"/>
          </a:xfrm>
          <a:prstGeom prst="rect">
            <a:avLst/>
          </a:prstGeom>
          <a:solidFill>
            <a:srgbClr val="DE3545">
              <a:alpha val="8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408769" y="3011805"/>
            <a:ext cx="2304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∞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38143" y="3410902"/>
            <a:ext cx="3717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x &lt; 0</a:t>
            </a:r>
          </a:p>
        </p:txBody>
      </p:sp>
      <p:sp>
        <p:nvSpPr>
          <p:cNvPr id="28" name="Line 28"/>
          <p:cNvSpPr/>
          <p:nvPr/>
        </p:nvSpPr>
        <p:spPr>
          <a:xfrm>
            <a:off x="3619500" y="476250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8575">
            <a:solidFill>
              <a:srgbClr val="DE3545"/>
            </a:solidFill>
          </a:ln>
        </p:spPr>
      </p:sp>
      <p:sp>
        <p:nvSpPr>
          <p:cNvPr id="29" name="Line 29"/>
          <p:cNvSpPr/>
          <p:nvPr/>
        </p:nvSpPr>
        <p:spPr>
          <a:xfrm>
            <a:off x="3619500" y="1524000"/>
            <a:ext cx="9525" cy="3238500"/>
          </a:xfrm>
          <a:custGeom>
            <a:avLst/>
            <a:gdLst/>
            <a:ahLst/>
            <a:cxnLst/>
            <a:rect l="l" t="t" r="r" b="b"/>
            <a:pathLst>
              <a:path w="9525" h="3238500">
                <a:moveTo>
                  <a:pt x="0" y="0"/>
                </a:moveTo>
                <a:lnTo>
                  <a:pt x="0" y="3238500"/>
                </a:lnTo>
              </a:path>
            </a:pathLst>
          </a:custGeom>
          <a:noFill/>
          <a:ln w="28575">
            <a:solidFill>
              <a:srgbClr val="DE3545"/>
            </a:solidFill>
            <a:prstDash val="lgDash"/>
          </a:ln>
        </p:spPr>
      </p:sp>
      <p:sp>
        <p:nvSpPr>
          <p:cNvPr id="30" name="Rectangle 30"/>
          <p:cNvSpPr/>
          <p:nvPr/>
        </p:nvSpPr>
        <p:spPr>
          <a:xfrm>
            <a:off x="3619500" y="1524000"/>
            <a:ext cx="952500" cy="3238500"/>
          </a:xfrm>
          <a:prstGeom prst="rect">
            <a:avLst/>
          </a:prstGeom>
          <a:solidFill>
            <a:srgbClr val="DE3545">
              <a:alpha val="8000"/>
            </a:srgbClr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980519" y="3011805"/>
            <a:ext cx="2304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∞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909893" y="3410902"/>
            <a:ext cx="3717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x &gt; a</a:t>
            </a:r>
          </a:p>
        </p:txBody>
      </p:sp>
      <p:sp>
        <p:nvSpPr>
          <p:cNvPr id="33" name="Line 33"/>
          <p:cNvSpPr/>
          <p:nvPr/>
        </p:nvSpPr>
        <p:spPr>
          <a:xfrm>
            <a:off x="1905000" y="4724400"/>
            <a:ext cx="9525" cy="76200"/>
          </a:xfrm>
          <a:custGeom>
            <a:avLst/>
            <a:gdLst/>
            <a:ahLst/>
            <a:cxnLst/>
            <a:rect l="l" t="t" r="r" b="b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9050">
            <a:solidFill>
              <a:srgbClr val="3D3530"/>
            </a:solidFill>
          </a:ln>
        </p:spPr>
      </p:sp>
      <p:sp>
        <p:nvSpPr>
          <p:cNvPr id="34" name="Line 34"/>
          <p:cNvSpPr/>
          <p:nvPr/>
        </p:nvSpPr>
        <p:spPr>
          <a:xfrm>
            <a:off x="3619500" y="4724400"/>
            <a:ext cx="9525" cy="76200"/>
          </a:xfrm>
          <a:custGeom>
            <a:avLst/>
            <a:gdLst/>
            <a:ahLst/>
            <a:cxnLst/>
            <a:rect l="l" t="t" r="r" b="b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9050">
            <a:solidFill>
              <a:srgbClr val="3D3530"/>
            </a:solidFill>
          </a:ln>
        </p:spPr>
      </p:sp>
      <p:sp>
        <p:nvSpPr>
          <p:cNvPr id="35" name="Freeform 35"/>
          <p:cNvSpPr/>
          <p:nvPr/>
        </p:nvSpPr>
        <p:spPr>
          <a:xfrm>
            <a:off x="1905000" y="4127500"/>
            <a:ext cx="1714500" cy="508000"/>
          </a:xfrm>
          <a:custGeom>
            <a:avLst/>
            <a:gdLst/>
            <a:ahLst/>
            <a:cxnLst/>
            <a:rect l="l" t="t" r="r" b="b"/>
            <a:pathLst>
              <a:path w="1714500" h="508000">
                <a:moveTo>
                  <a:pt x="0" y="254000"/>
                </a:moveTo>
                <a:cubicBezTo>
                  <a:pt x="285750" y="0"/>
                  <a:pt x="571500" y="0"/>
                  <a:pt x="857250" y="254000"/>
                </a:cubicBezTo>
                <a:cubicBezTo>
                  <a:pt x="1143000" y="508000"/>
                  <a:pt x="1428750" y="508000"/>
                  <a:pt x="1714500" y="254000"/>
                </a:cubicBezTo>
              </a:path>
            </a:pathLst>
          </a:custGeom>
          <a:noFill/>
          <a:ln w="19050">
            <a:solidFill>
              <a:srgbClr val="2E86AB"/>
            </a:solidFill>
            <a:custDash>
              <a:ds d="250000" sp="150000"/>
            </a:custDash>
          </a:ln>
        </p:spPr>
      </p:sp>
      <p:sp>
        <p:nvSpPr>
          <p:cNvPr id="36" name="TextBox 36"/>
          <p:cNvSpPr txBox="1"/>
          <p:nvPr/>
        </p:nvSpPr>
        <p:spPr>
          <a:xfrm>
            <a:off x="1625608" y="5077778"/>
            <a:ext cx="22732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（粒子被完全限制在 [0, a] 内）</a:t>
            </a:r>
          </a:p>
        </p:txBody>
      </p:sp>
      <p:sp>
        <p:nvSpPr>
          <p:cNvPr id="37" name="Freeform 37"/>
          <p:cNvSpPr/>
          <p:nvPr/>
        </p:nvSpPr>
        <p:spPr>
          <a:xfrm>
            <a:off x="857250" y="5429250"/>
            <a:ext cx="4095750" cy="685800"/>
          </a:xfrm>
          <a:custGeom>
            <a:avLst/>
            <a:gdLst/>
            <a:ahLst/>
            <a:cxnLst/>
            <a:rect l="l" t="t" r="r" b="b"/>
            <a:pathLst>
              <a:path w="4095750" h="685800">
                <a:moveTo>
                  <a:pt x="57150" y="0"/>
                </a:moveTo>
                <a:lnTo>
                  <a:pt x="4038600" y="0"/>
                </a:lnTo>
                <a:cubicBezTo>
                  <a:pt x="4070163" y="0"/>
                  <a:pt x="4095750" y="25587"/>
                  <a:pt x="4095750" y="57150"/>
                </a:cubicBezTo>
                <a:lnTo>
                  <a:pt x="4095750" y="628650"/>
                </a:lnTo>
                <a:cubicBezTo>
                  <a:pt x="4095750" y="660213"/>
                  <a:pt x="4070163" y="685800"/>
                  <a:pt x="4038600" y="685800"/>
                </a:cubicBezTo>
                <a:lnTo>
                  <a:pt x="57150" y="685800"/>
                </a:lnTo>
                <a:cubicBezTo>
                  <a:pt x="25587" y="685800"/>
                  <a:pt x="0" y="660213"/>
                  <a:pt x="0" y="628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8DDD5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2088070" y="5509260"/>
            <a:ext cx="16341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4CAF7D"/>
                </a:solidFill>
                <a:latin typeface="Consolas"/>
                <a:ea typeface="Microsoft YaHei"/>
                <a:cs typeface="Consolas"/>
              </a:rPr>
              <a:t>V(x) = 0， 0 &lt; x &lt; a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899666" y="5756910"/>
            <a:ext cx="20109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E3545"/>
                </a:solidFill>
                <a:latin typeface="Consolas"/>
                <a:ea typeface="Microsoft YaHei"/>
                <a:cs typeface="Consolas"/>
              </a:rPr>
              <a:t>V(x) = ∞， x ≤ 0 或 x ≥ a</a:t>
            </a:r>
          </a:p>
        </p:txBody>
      </p:sp>
      <p:sp>
        <p:nvSpPr>
          <p:cNvPr id="40" name="Freeform 40"/>
          <p:cNvSpPr/>
          <p:nvPr/>
        </p:nvSpPr>
        <p:spPr>
          <a:xfrm>
            <a:off x="5429250" y="876300"/>
            <a:ext cx="6191250" cy="5429250"/>
          </a:xfrm>
          <a:custGeom>
            <a:avLst/>
            <a:gdLst/>
            <a:ahLst/>
            <a:cxnLst/>
            <a:rect l="l" t="t" r="r" b="b"/>
            <a:pathLst>
              <a:path w="6191250" h="5429250">
                <a:moveTo>
                  <a:pt x="95250" y="0"/>
                </a:moveTo>
                <a:lnTo>
                  <a:pt x="6096000" y="0"/>
                </a:lnTo>
                <a:cubicBezTo>
                  <a:pt x="6148605" y="0"/>
                  <a:pt x="6191250" y="42645"/>
                  <a:pt x="6191250" y="95250"/>
                </a:cubicBezTo>
                <a:lnTo>
                  <a:pt x="6191250" y="5334000"/>
                </a:lnTo>
                <a:cubicBezTo>
                  <a:pt x="6191250" y="5386605"/>
                  <a:pt x="6148605" y="5429250"/>
                  <a:pt x="6096000" y="5429250"/>
                </a:cubicBezTo>
                <a:lnTo>
                  <a:pt x="95250" y="5429250"/>
                </a:lnTo>
                <a:cubicBezTo>
                  <a:pt x="42645" y="5429250"/>
                  <a:pt x="0" y="5386605"/>
                  <a:pt x="0" y="5334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FDFAF5"/>
              </a:gs>
            </a:gsLst>
            <a:lin ang="5400000" scaled="1"/>
          </a:gradFill>
          <a:ln w="14288">
            <a:solidFill>
              <a:srgbClr val="E8DDD5"/>
            </a:solidFill>
          </a:ln>
        </p:spPr>
      </p:sp>
      <p:sp>
        <p:nvSpPr>
          <p:cNvPr id="41" name="Freeform 41"/>
          <p:cNvSpPr/>
          <p:nvPr/>
        </p:nvSpPr>
        <p:spPr>
          <a:xfrm>
            <a:off x="5619750" y="1028700"/>
            <a:ext cx="5810250" cy="342900"/>
          </a:xfrm>
          <a:custGeom>
            <a:avLst/>
            <a:gdLst/>
            <a:ahLst/>
            <a:cxnLst/>
            <a:rect l="l" t="t" r="r" b="b"/>
            <a:pathLst>
              <a:path w="5810250" h="342900">
                <a:moveTo>
                  <a:pt x="57150" y="0"/>
                </a:moveTo>
                <a:lnTo>
                  <a:pt x="5753100" y="0"/>
                </a:lnTo>
                <a:cubicBezTo>
                  <a:pt x="5784663" y="0"/>
                  <a:pt x="5810250" y="25587"/>
                  <a:pt x="5810250" y="57150"/>
                </a:cubicBezTo>
                <a:lnTo>
                  <a:pt x="5810250" y="285750"/>
                </a:lnTo>
                <a:cubicBezTo>
                  <a:pt x="5810250" y="317313"/>
                  <a:pt x="5784663" y="342900"/>
                  <a:pt x="5753100" y="342900"/>
                </a:cubicBezTo>
                <a:lnTo>
                  <a:pt x="57150" y="342900"/>
                </a:lnTo>
                <a:cubicBezTo>
                  <a:pt x="25587" y="342900"/>
                  <a:pt x="0" y="317313"/>
                  <a:pt x="0" y="285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DE3545">
              <a:alpha val="10000"/>
            </a:srgbClr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069723" y="1103471"/>
            <a:ext cx="91030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边界条件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600700" y="1457325"/>
            <a:ext cx="89249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D3530"/>
                </a:solidFill>
                <a:latin typeface="Consolas"/>
                <a:ea typeface="Microsoft YaHei"/>
                <a:cs typeface="Consolas"/>
              </a:rPr>
              <a:t>ψ(0) = 0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600700" y="1743075"/>
            <a:ext cx="89249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D3530"/>
                </a:solidFill>
                <a:latin typeface="Consolas"/>
                <a:ea typeface="Microsoft YaHei"/>
                <a:cs typeface="Consolas"/>
              </a:rPr>
              <a:t>ψ(a) = 0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127558" y="1624489"/>
            <a:ext cx="189452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（势阱外波函数为零）</a:t>
            </a:r>
          </a:p>
        </p:txBody>
      </p:sp>
      <p:sp>
        <p:nvSpPr>
          <p:cNvPr id="46" name="Line 46"/>
          <p:cNvSpPr/>
          <p:nvPr/>
        </p:nvSpPr>
        <p:spPr>
          <a:xfrm>
            <a:off x="5619750" y="2047875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9525">
            <a:solidFill>
              <a:srgbClr val="E8DDD5"/>
            </a:solidFill>
          </a:ln>
        </p:spPr>
      </p:sp>
      <p:sp>
        <p:nvSpPr>
          <p:cNvPr id="47" name="Freeform 47"/>
          <p:cNvSpPr/>
          <p:nvPr/>
        </p:nvSpPr>
        <p:spPr>
          <a:xfrm>
            <a:off x="5619750" y="2143125"/>
            <a:ext cx="5810250" cy="342900"/>
          </a:xfrm>
          <a:custGeom>
            <a:avLst/>
            <a:gdLst/>
            <a:ahLst/>
            <a:cxnLst/>
            <a:rect l="l" t="t" r="r" b="b"/>
            <a:pathLst>
              <a:path w="5810250" h="342900">
                <a:moveTo>
                  <a:pt x="57150" y="0"/>
                </a:moveTo>
                <a:lnTo>
                  <a:pt x="5753100" y="0"/>
                </a:lnTo>
                <a:cubicBezTo>
                  <a:pt x="5784663" y="0"/>
                  <a:pt x="5810250" y="25587"/>
                  <a:pt x="5810250" y="57150"/>
                </a:cubicBezTo>
                <a:lnTo>
                  <a:pt x="5810250" y="285750"/>
                </a:lnTo>
                <a:cubicBezTo>
                  <a:pt x="5810250" y="317313"/>
                  <a:pt x="5784663" y="342900"/>
                  <a:pt x="5753100" y="342900"/>
                </a:cubicBezTo>
                <a:lnTo>
                  <a:pt x="57150" y="342900"/>
                </a:lnTo>
                <a:cubicBezTo>
                  <a:pt x="25587" y="342900"/>
                  <a:pt x="0" y="317313"/>
                  <a:pt x="0" y="285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E86AB">
              <a:alpha val="10000"/>
            </a:srgbClr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7496089" y="2217896"/>
            <a:ext cx="2057573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2E86AB"/>
                </a:solidFill>
                <a:latin typeface="Arial"/>
                <a:ea typeface="Microsoft YaHei"/>
                <a:cs typeface="Arial"/>
              </a:rPr>
              <a:t>势阱内方程（V = 0）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600700" y="2600325"/>
            <a:ext cx="138541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D3530"/>
                </a:solidFill>
                <a:latin typeface="Consolas"/>
                <a:ea typeface="Microsoft YaHei"/>
                <a:cs typeface="Consolas"/>
              </a:rPr>
              <a:t>ψ'' + k²ψ = 0</a:t>
            </a:r>
          </a:p>
        </p:txBody>
      </p:sp>
      <p:sp>
        <p:nvSpPr>
          <p:cNvPr id="50" name="Freeform 50"/>
          <p:cNvSpPr/>
          <p:nvPr/>
        </p:nvSpPr>
        <p:spPr>
          <a:xfrm>
            <a:off x="5619750" y="2857500"/>
            <a:ext cx="5810250" cy="381000"/>
          </a:xfrm>
          <a:custGeom>
            <a:avLst/>
            <a:gdLst/>
            <a:ahLst/>
            <a:cxnLst/>
            <a:rect l="l" t="t" r="r" b="b"/>
            <a:pathLst>
              <a:path w="5810250" h="381000">
                <a:moveTo>
                  <a:pt x="38100" y="0"/>
                </a:moveTo>
                <a:lnTo>
                  <a:pt x="5772150" y="0"/>
                </a:lnTo>
                <a:cubicBezTo>
                  <a:pt x="5793192" y="0"/>
                  <a:pt x="5810250" y="17058"/>
                  <a:pt x="5810250" y="38100"/>
                </a:cubicBezTo>
                <a:lnTo>
                  <a:pt x="5810250" y="342900"/>
                </a:lnTo>
                <a:cubicBezTo>
                  <a:pt x="5810250" y="363942"/>
                  <a:pt x="5793192" y="381000"/>
                  <a:pt x="577215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EF6FF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7788759" y="2951321"/>
            <a:ext cx="147223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dirty="0">
                <a:solidFill>
                  <a:srgbClr val="2E86AB"/>
                </a:solidFill>
                <a:latin typeface="Consolas"/>
                <a:ea typeface="Microsoft YaHei"/>
                <a:cs typeface="Consolas"/>
              </a:rPr>
              <a:t>k = √(2mE) / ℏ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603558" y="3291364"/>
            <a:ext cx="186659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（k 与粒子动能相关）</a:t>
            </a:r>
          </a:p>
        </p:txBody>
      </p:sp>
      <p:sp>
        <p:nvSpPr>
          <p:cNvPr id="53" name="Line 53"/>
          <p:cNvSpPr/>
          <p:nvPr/>
        </p:nvSpPr>
        <p:spPr>
          <a:xfrm>
            <a:off x="5619750" y="3571875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9525">
            <a:solidFill>
              <a:srgbClr val="E8DDD5"/>
            </a:solidFill>
          </a:ln>
        </p:spPr>
      </p:sp>
      <p:sp>
        <p:nvSpPr>
          <p:cNvPr id="54" name="Freeform 54"/>
          <p:cNvSpPr/>
          <p:nvPr/>
        </p:nvSpPr>
        <p:spPr>
          <a:xfrm>
            <a:off x="5619750" y="3667125"/>
            <a:ext cx="5810250" cy="342900"/>
          </a:xfrm>
          <a:custGeom>
            <a:avLst/>
            <a:gdLst/>
            <a:ahLst/>
            <a:cxnLst/>
            <a:rect l="l" t="t" r="r" b="b"/>
            <a:pathLst>
              <a:path w="5810250" h="342900">
                <a:moveTo>
                  <a:pt x="57150" y="0"/>
                </a:moveTo>
                <a:lnTo>
                  <a:pt x="5753100" y="0"/>
                </a:lnTo>
                <a:cubicBezTo>
                  <a:pt x="5784663" y="0"/>
                  <a:pt x="5810250" y="25587"/>
                  <a:pt x="5810250" y="57150"/>
                </a:cubicBezTo>
                <a:lnTo>
                  <a:pt x="5810250" y="285750"/>
                </a:lnTo>
                <a:cubicBezTo>
                  <a:pt x="5810250" y="317313"/>
                  <a:pt x="5784663" y="342900"/>
                  <a:pt x="5753100" y="342900"/>
                </a:cubicBezTo>
                <a:lnTo>
                  <a:pt x="57150" y="342900"/>
                </a:lnTo>
                <a:cubicBezTo>
                  <a:pt x="25587" y="342900"/>
                  <a:pt x="0" y="317313"/>
                  <a:pt x="0" y="285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4CAF7D">
              <a:alpha val="10000"/>
            </a:srgbClr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8069723" y="3741896"/>
            <a:ext cx="91030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4CAF7D"/>
                </a:solidFill>
                <a:latin typeface="Arial"/>
                <a:ea typeface="Microsoft YaHei"/>
                <a:cs typeface="Arial"/>
              </a:rPr>
              <a:t>通解形式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600700" y="4124325"/>
            <a:ext cx="211931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D3530"/>
                </a:solidFill>
                <a:latin typeface="Consolas"/>
                <a:ea typeface="Microsoft YaHei"/>
                <a:cs typeface="Consolas"/>
              </a:rPr>
              <a:t>ψ(x) = A sin(kx + δ)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603558" y="4481989"/>
            <a:ext cx="256489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代入边界条件 ψ(0) = 0 → δ = 0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600700" y="4743450"/>
            <a:ext cx="174688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CAF7D"/>
                </a:solidFill>
                <a:latin typeface="Consolas"/>
                <a:ea typeface="Microsoft YaHei"/>
                <a:cs typeface="Consolas"/>
              </a:rPr>
              <a:t>ψ(x) = A sin(kx)</a:t>
            </a:r>
          </a:p>
        </p:txBody>
      </p:sp>
      <p:sp>
        <p:nvSpPr>
          <p:cNvPr id="59" name="Line 59"/>
          <p:cNvSpPr/>
          <p:nvPr/>
        </p:nvSpPr>
        <p:spPr>
          <a:xfrm>
            <a:off x="5619750" y="5048250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9525">
            <a:solidFill>
              <a:srgbClr val="E8DDD5"/>
            </a:solidFill>
          </a:ln>
        </p:spPr>
      </p:sp>
      <p:grpSp>
        <p:nvGrpSpPr>
          <p:cNvPr id="63" name="Group 63"/>
          <p:cNvGrpSpPr/>
          <p:nvPr/>
        </p:nvGrpSpPr>
        <p:grpSpPr>
          <a:xfrm>
            <a:off x="5737648" y="5226844"/>
            <a:ext cx="145204" cy="214312"/>
            <a:chOff x="5737648" y="5226844"/>
            <a:chExt cx="145204" cy="214312"/>
          </a:xfrm>
        </p:grpSpPr>
        <p:sp>
          <p:nvSpPr>
            <p:cNvPr id="60" name="Freeform 60"/>
            <p:cNvSpPr/>
            <p:nvPr/>
          </p:nvSpPr>
          <p:spPr>
            <a:xfrm>
              <a:off x="5774531" y="5226844"/>
              <a:ext cx="71438" cy="9525"/>
            </a:xfrm>
            <a:custGeom>
              <a:avLst/>
              <a:gdLst/>
              <a:ahLst/>
              <a:cxnLst/>
              <a:rect l="l" t="t" r="r" b="b"/>
              <a:pathLst>
                <a:path w="71438" h="9525">
                  <a:moveTo>
                    <a:pt x="0" y="0"/>
                  </a:moveTo>
                  <a:lnTo>
                    <a:pt x="71438" y="0"/>
                  </a:lnTo>
                </a:path>
              </a:pathLst>
            </a:custGeom>
            <a:noFill/>
            <a:ln w="9525">
              <a:solidFill>
                <a:srgbClr val="E8834A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5786438" y="5298281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9525">
              <a:solidFill>
                <a:srgbClr val="E8834A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5737648" y="5226844"/>
              <a:ext cx="145204" cy="214312"/>
            </a:xfrm>
            <a:custGeom>
              <a:avLst/>
              <a:gdLst/>
              <a:ahLst/>
              <a:cxnLst/>
              <a:rect l="l" t="t" r="r" b="b"/>
              <a:pathLst>
                <a:path w="145204" h="214312">
                  <a:moveTo>
                    <a:pt x="48790" y="0"/>
                  </a:moveTo>
                  <a:lnTo>
                    <a:pt x="48790" y="71438"/>
                  </a:lnTo>
                  <a:lnTo>
                    <a:pt x="1165" y="202406"/>
                  </a:lnTo>
                  <a:cubicBezTo>
                    <a:pt x="0" y="204749"/>
                    <a:pt x="3" y="207503"/>
                    <a:pt x="1173" y="209843"/>
                  </a:cubicBezTo>
                  <a:cubicBezTo>
                    <a:pt x="2343" y="212184"/>
                    <a:pt x="4545" y="213838"/>
                    <a:pt x="7118" y="214312"/>
                  </a:cubicBezTo>
                  <a:lnTo>
                    <a:pt x="138087" y="214312"/>
                  </a:lnTo>
                  <a:cubicBezTo>
                    <a:pt x="140660" y="213838"/>
                    <a:pt x="142861" y="212184"/>
                    <a:pt x="144031" y="209843"/>
                  </a:cubicBezTo>
                  <a:cubicBezTo>
                    <a:pt x="145201" y="207503"/>
                    <a:pt x="145204" y="204749"/>
                    <a:pt x="144040" y="202406"/>
                  </a:cubicBezTo>
                  <a:lnTo>
                    <a:pt x="96415" y="71438"/>
                  </a:lnTo>
                  <a:lnTo>
                    <a:pt x="96415" y="0"/>
                  </a:lnTo>
                </a:path>
              </a:pathLst>
            </a:custGeom>
            <a:noFill/>
            <a:ln w="9525">
              <a:solidFill>
                <a:srgbClr val="E8834A"/>
              </a:solidFill>
            </a:ln>
          </p:spPr>
        </p:sp>
      </p:grpSp>
      <p:sp>
        <p:nvSpPr>
          <p:cNvPr id="64" name="TextBox 64"/>
          <p:cNvSpPr txBox="1"/>
          <p:nvPr/>
        </p:nvSpPr>
        <p:spPr>
          <a:xfrm>
            <a:off x="6059805" y="520731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834A"/>
                </a:solidFill>
                <a:latin typeface="Arial"/>
                <a:ea typeface="Microsoft YaHei"/>
                <a:cs typeface="Arial"/>
              </a:rPr>
              <a:t>物理图像：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602605" y="5493068"/>
            <a:ext cx="31889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粒子在势阱内自由运动，在边界处被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602605" y="5759768"/>
            <a:ext cx="29918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无限高势垒完全反射，形成驻波。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602605" y="6026468"/>
            <a:ext cx="38494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下一步：边界条件 ψ(a) = 0 → 能量量子化！</a:t>
            </a:r>
          </a:p>
        </p:txBody>
      </p:sp>
      <p:sp>
        <p:nvSpPr>
          <p:cNvPr id="68" name="Rectangle 68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3D3530">
              <a:alpha val="6000"/>
            </a:srgbClr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559118" y="6647974"/>
            <a:ext cx="26093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9E98"/>
                </a:solidFill>
                <a:latin typeface="Arial"/>
                <a:ea typeface="Microsoft YaHei"/>
                <a:cs typeface="Arial"/>
              </a:rPr>
              <a:t>量子力学基础 · 定态与一维无限深方势阱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451479" y="6647974"/>
            <a:ext cx="181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E98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742950"/>
            <a:ext cx="12192000" cy="28575"/>
          </a:xfrm>
          <a:prstGeom prst="rect">
            <a:avLst/>
          </a:prstGeom>
          <a:gradFill>
            <a:gsLst>
              <a:gs pos="0">
                <a:srgbClr val="DE3545"/>
              </a:gs>
              <a:gs pos="100000">
                <a:srgbClr val="E8834A"/>
              </a:gs>
            </a:gsLst>
            <a:lin ang="0" scaled="1"/>
          </a:gra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11239500" y="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0" y="0"/>
                </a:moveTo>
                <a:lnTo>
                  <a:pt x="952500" y="0"/>
                </a:lnTo>
                <a:lnTo>
                  <a:pt x="952500" y="762000"/>
                </a:lnTo>
                <a:close/>
              </a:path>
            </a:pathLst>
          </a:custGeom>
          <a:solidFill>
            <a:srgbClr val="DE3545">
              <a:alpha val="12000"/>
            </a:srgbClr>
          </a:solidFill>
          <a:ln>
            <a:noFill/>
          </a:ln>
        </p:spPr>
      </p:sp>
      <p:sp>
        <p:nvSpPr>
          <p:cNvPr id="6" name="Polygon 6"/>
          <p:cNvSpPr/>
          <p:nvPr/>
        </p:nvSpPr>
        <p:spPr>
          <a:xfrm>
            <a:off x="571500" y="190500"/>
            <a:ext cx="114300" cy="285750"/>
          </a:xfrm>
          <a:custGeom>
            <a:avLst/>
            <a:gdLst/>
            <a:ahLst/>
            <a:cxnLst/>
            <a:rect l="l" t="t" r="r" b="b"/>
            <a:pathLst>
              <a:path w="114300" h="285750">
                <a:moveTo>
                  <a:pt x="0" y="0"/>
                </a:moveTo>
                <a:lnTo>
                  <a:pt x="1143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7" name="Polygon 7"/>
          <p:cNvSpPr/>
          <p:nvPr/>
        </p:nvSpPr>
        <p:spPr>
          <a:xfrm>
            <a:off x="742950" y="190500"/>
            <a:ext cx="114300" cy="285750"/>
          </a:xfrm>
          <a:custGeom>
            <a:avLst/>
            <a:gdLst/>
            <a:ahLst/>
            <a:cxnLst/>
            <a:rect l="l" t="t" r="r" b="b"/>
            <a:pathLst>
              <a:path w="114300" h="285750">
                <a:moveTo>
                  <a:pt x="0" y="0"/>
                </a:moveTo>
                <a:lnTo>
                  <a:pt x="1143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E8834A">
              <a:alpha val="6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23925" y="252412"/>
            <a:ext cx="542257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新知5：能量为什么只能取特定值？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876300"/>
            <a:ext cx="5905500" cy="5429250"/>
          </a:xfrm>
          <a:custGeom>
            <a:avLst/>
            <a:gdLst/>
            <a:ahLst/>
            <a:cxnLst/>
            <a:rect l="l" t="t" r="r" b="b"/>
            <a:pathLst>
              <a:path w="5905500" h="5429250">
                <a:moveTo>
                  <a:pt x="95250" y="0"/>
                </a:moveTo>
                <a:lnTo>
                  <a:pt x="5810250" y="0"/>
                </a:lnTo>
                <a:cubicBezTo>
                  <a:pt x="5862855" y="0"/>
                  <a:pt x="5905500" y="42645"/>
                  <a:pt x="5905500" y="95250"/>
                </a:cubicBezTo>
                <a:lnTo>
                  <a:pt x="5905500" y="5334000"/>
                </a:lnTo>
                <a:cubicBezTo>
                  <a:pt x="5905500" y="5386605"/>
                  <a:pt x="5862855" y="5429250"/>
                  <a:pt x="5810250" y="5429250"/>
                </a:cubicBezTo>
                <a:lnTo>
                  <a:pt x="95250" y="5429250"/>
                </a:lnTo>
                <a:cubicBezTo>
                  <a:pt x="42645" y="5429250"/>
                  <a:pt x="0" y="5386605"/>
                  <a:pt x="0" y="5334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FDFAF5"/>
              </a:gs>
            </a:gsLst>
            <a:lin ang="5400000" scaled="1"/>
          </a:gradFill>
          <a:ln w="14288">
            <a:solidFill>
              <a:srgbClr val="E8DDD5"/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571500" y="876300"/>
            <a:ext cx="5905500" cy="419100"/>
          </a:xfrm>
          <a:custGeom>
            <a:avLst/>
            <a:gdLst/>
            <a:ahLst/>
            <a:cxnLst/>
            <a:rect l="l" t="t" r="r" b="b"/>
            <a:pathLst>
              <a:path w="5905500" h="419100">
                <a:moveTo>
                  <a:pt x="95250" y="0"/>
                </a:moveTo>
                <a:lnTo>
                  <a:pt x="5810250" y="0"/>
                </a:lnTo>
                <a:cubicBezTo>
                  <a:pt x="5862855" y="0"/>
                  <a:pt x="5905500" y="42645"/>
                  <a:pt x="5905500" y="95250"/>
                </a:cubicBezTo>
                <a:lnTo>
                  <a:pt x="5905500" y="323850"/>
                </a:lnTo>
                <a:cubicBezTo>
                  <a:pt x="5905500" y="376455"/>
                  <a:pt x="5862855" y="419100"/>
                  <a:pt x="5810250" y="419100"/>
                </a:cubicBezTo>
                <a:lnTo>
                  <a:pt x="95250" y="419100"/>
                </a:lnTo>
                <a:cubicBezTo>
                  <a:pt x="42645" y="419100"/>
                  <a:pt x="0" y="376455"/>
                  <a:pt x="0" y="3238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E86AB">
              <a:alpha val="12000"/>
            </a:srgbClr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71500" y="1104900"/>
            <a:ext cx="5905500" cy="190500"/>
          </a:xfrm>
          <a:prstGeom prst="rect">
            <a:avLst/>
          </a:prstGeom>
          <a:solidFill>
            <a:srgbClr val="2E86AB">
              <a:alpha val="12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069098" y="989171"/>
            <a:ext cx="91030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2E86AB"/>
                </a:solidFill>
                <a:latin typeface="Arial"/>
                <a:ea typeface="Microsoft YaHei"/>
                <a:cs typeface="Arial"/>
              </a:rPr>
              <a:t>推导过程</a:t>
            </a:r>
          </a:p>
        </p:txBody>
      </p:sp>
      <p:sp>
        <p:nvSpPr>
          <p:cNvPr id="13" name="Ellipse 13"/>
          <p:cNvSpPr/>
          <p:nvPr/>
        </p:nvSpPr>
        <p:spPr>
          <a:xfrm>
            <a:off x="762000" y="1485900"/>
            <a:ext cx="304800" cy="3048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76912" y="1582102"/>
            <a:ext cx="749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3955" y="1454468"/>
            <a:ext cx="21459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代入边界条件 ψ(a) = 0</a:t>
            </a:r>
          </a:p>
        </p:txBody>
      </p:sp>
      <p:sp>
        <p:nvSpPr>
          <p:cNvPr id="16" name="Freeform 16"/>
          <p:cNvSpPr/>
          <p:nvPr/>
        </p:nvSpPr>
        <p:spPr>
          <a:xfrm>
            <a:off x="762000" y="1714500"/>
            <a:ext cx="5524500" cy="381000"/>
          </a:xfrm>
          <a:custGeom>
            <a:avLst/>
            <a:gdLst/>
            <a:ahLst/>
            <a:cxnLst/>
            <a:rect l="l" t="t" r="r" b="b"/>
            <a:pathLst>
              <a:path w="5524500" h="381000">
                <a:moveTo>
                  <a:pt x="38100" y="0"/>
                </a:moveTo>
                <a:lnTo>
                  <a:pt x="5486400" y="0"/>
                </a:lnTo>
                <a:cubicBezTo>
                  <a:pt x="5507442" y="0"/>
                  <a:pt x="5524500" y="17058"/>
                  <a:pt x="5524500" y="38100"/>
                </a:cubicBezTo>
                <a:lnTo>
                  <a:pt x="5524500" y="342900"/>
                </a:lnTo>
                <a:cubicBezTo>
                  <a:pt x="5524500" y="363942"/>
                  <a:pt x="5507442" y="381000"/>
                  <a:pt x="54864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EF6FF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2194989" y="1808321"/>
            <a:ext cx="2658523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dirty="0">
                <a:solidFill>
                  <a:srgbClr val="2E86AB"/>
                </a:solidFill>
                <a:latin typeface="Consolas"/>
                <a:ea typeface="Microsoft YaHei"/>
                <a:cs typeface="Consolas"/>
              </a:rPr>
              <a:t>A sin(ka) = 0 → sin(ka) = 0</a:t>
            </a:r>
          </a:p>
        </p:txBody>
      </p:sp>
      <p:sp>
        <p:nvSpPr>
          <p:cNvPr id="18" name="Polygon 18"/>
          <p:cNvSpPr/>
          <p:nvPr/>
        </p:nvSpPr>
        <p:spPr>
          <a:xfrm>
            <a:off x="3448050" y="2114550"/>
            <a:ext cx="152400" cy="95250"/>
          </a:xfrm>
          <a:custGeom>
            <a:avLst/>
            <a:gdLst/>
            <a:ahLst/>
            <a:cxnLst/>
            <a:rect l="l" t="t" r="r" b="b"/>
            <a:pathLst>
              <a:path w="152400" h="95250">
                <a:moveTo>
                  <a:pt x="76200" y="95250"/>
                </a:move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solidFill>
            <a:srgbClr val="E8834A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762000" y="2305050"/>
            <a:ext cx="304800" cy="304800"/>
          </a:xfrm>
          <a:prstGeom prst="ellipse">
            <a:avLst/>
          </a:prstGeom>
          <a:solidFill>
            <a:srgbClr val="E8834A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56784" y="240125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63955" y="2273618"/>
            <a:ext cx="14524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k 只能取离散值</a:t>
            </a:r>
          </a:p>
        </p:txBody>
      </p:sp>
      <p:sp>
        <p:nvSpPr>
          <p:cNvPr id="22" name="Freeform 22"/>
          <p:cNvSpPr/>
          <p:nvPr/>
        </p:nvSpPr>
        <p:spPr>
          <a:xfrm>
            <a:off x="762000" y="2533650"/>
            <a:ext cx="5524500" cy="381000"/>
          </a:xfrm>
          <a:custGeom>
            <a:avLst/>
            <a:gdLst/>
            <a:ahLst/>
            <a:cxnLst/>
            <a:rect l="l" t="t" r="r" b="b"/>
            <a:pathLst>
              <a:path w="5524500" h="381000">
                <a:moveTo>
                  <a:pt x="38100" y="0"/>
                </a:moveTo>
                <a:lnTo>
                  <a:pt x="5486400" y="0"/>
                </a:lnTo>
                <a:cubicBezTo>
                  <a:pt x="5507442" y="0"/>
                  <a:pt x="5524500" y="17058"/>
                  <a:pt x="5524500" y="38100"/>
                </a:cubicBezTo>
                <a:lnTo>
                  <a:pt x="5524500" y="342900"/>
                </a:lnTo>
                <a:cubicBezTo>
                  <a:pt x="5524500" y="363942"/>
                  <a:pt x="5507442" y="381000"/>
                  <a:pt x="54864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EF6FF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2205395" y="2627471"/>
            <a:ext cx="263771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dirty="0">
                <a:solidFill>
                  <a:srgbClr val="2E86AB"/>
                </a:solidFill>
                <a:latin typeface="Consolas"/>
                <a:ea typeface="Microsoft YaHei"/>
                <a:cs typeface="Consolas"/>
              </a:rPr>
              <a:t>k = nπ/a， n = 1, 2, 3, ...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60792" y="2918460"/>
            <a:ext cx="35269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（n = 0 时 ψ = 0，无物理意义；n 不取负数）</a:t>
            </a:r>
          </a:p>
        </p:txBody>
      </p:sp>
      <p:sp>
        <p:nvSpPr>
          <p:cNvPr id="25" name="Polygon 25"/>
          <p:cNvSpPr/>
          <p:nvPr/>
        </p:nvSpPr>
        <p:spPr>
          <a:xfrm>
            <a:off x="3448050" y="3124200"/>
            <a:ext cx="152400" cy="95250"/>
          </a:xfrm>
          <a:custGeom>
            <a:avLst/>
            <a:gdLst/>
            <a:ahLst/>
            <a:cxnLst/>
            <a:rect l="l" t="t" r="r" b="b"/>
            <a:pathLst>
              <a:path w="152400" h="95250">
                <a:moveTo>
                  <a:pt x="76200" y="95250"/>
                </a:move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solidFill>
            <a:srgbClr val="E8834A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762000" y="3314700"/>
            <a:ext cx="304800" cy="304800"/>
          </a:xfrm>
          <a:prstGeom prst="ellipse">
            <a:avLst/>
          </a:prstGeom>
          <a:solidFill>
            <a:srgbClr val="DE3545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56784" y="341090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63955" y="3283268"/>
            <a:ext cx="21045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能级公式（量子化！）</a:t>
            </a:r>
          </a:p>
        </p:txBody>
      </p:sp>
      <p:sp>
        <p:nvSpPr>
          <p:cNvPr id="29" name="Freeform 29"/>
          <p:cNvSpPr/>
          <p:nvPr/>
        </p:nvSpPr>
        <p:spPr>
          <a:xfrm>
            <a:off x="762000" y="3543300"/>
            <a:ext cx="5524500" cy="666750"/>
          </a:xfrm>
          <a:custGeom>
            <a:avLst/>
            <a:gdLst/>
            <a:ahLst/>
            <a:cxnLst/>
            <a:rect l="l" t="t" r="r" b="b"/>
            <a:pathLst>
              <a:path w="5524500" h="666750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609600"/>
                </a:lnTo>
                <a:cubicBezTo>
                  <a:pt x="5524500" y="641163"/>
                  <a:pt x="5498913" y="666750"/>
                  <a:pt x="5467350" y="666750"/>
                </a:cubicBezTo>
                <a:lnTo>
                  <a:pt x="57150" y="666750"/>
                </a:lnTo>
                <a:cubicBezTo>
                  <a:pt x="25587" y="666750"/>
                  <a:pt x="0" y="641163"/>
                  <a:pt x="0" y="609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DE3545">
              <a:alpha val="8000"/>
            </a:srgbClr>
          </a:solidFill>
          <a:ln w="19050">
            <a:solidFill>
              <a:srgbClr val="DE3545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2143250" y="3650932"/>
            <a:ext cx="27620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DE3545"/>
                </a:solidFill>
                <a:latin typeface="Consolas"/>
                <a:ea typeface="Microsoft YaHei"/>
                <a:cs typeface="Consolas"/>
              </a:rPr>
              <a:t>E_n = n²π²ℏ² / (2ma²)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797862" y="3933825"/>
            <a:ext cx="145277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DE3545"/>
                </a:solidFill>
                <a:latin typeface="Consolas"/>
                <a:ea typeface="Microsoft YaHei"/>
                <a:cs typeface="Consolas"/>
              </a:rPr>
              <a:t>E_n = n² · E₁</a:t>
            </a:r>
          </a:p>
        </p:txBody>
      </p:sp>
      <p:sp>
        <p:nvSpPr>
          <p:cNvPr id="32" name="Ellipse 32"/>
          <p:cNvSpPr/>
          <p:nvPr/>
        </p:nvSpPr>
        <p:spPr>
          <a:xfrm>
            <a:off x="762000" y="4343400"/>
            <a:ext cx="304800" cy="304800"/>
          </a:xfrm>
          <a:prstGeom prst="ellipse">
            <a:avLst/>
          </a:prstGeom>
          <a:solidFill>
            <a:srgbClr val="4CAF7D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56784" y="443960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63955" y="4311968"/>
            <a:ext cx="18975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零点能（基态能量）</a:t>
            </a:r>
          </a:p>
        </p:txBody>
      </p:sp>
      <p:sp>
        <p:nvSpPr>
          <p:cNvPr id="35" name="Freeform 35"/>
          <p:cNvSpPr/>
          <p:nvPr/>
        </p:nvSpPr>
        <p:spPr>
          <a:xfrm>
            <a:off x="762000" y="4552950"/>
            <a:ext cx="5524500" cy="476250"/>
          </a:xfrm>
          <a:custGeom>
            <a:avLst/>
            <a:gdLst/>
            <a:ahLst/>
            <a:cxnLst/>
            <a:rect l="l" t="t" r="r" b="b"/>
            <a:pathLst>
              <a:path w="5524500" h="476250">
                <a:moveTo>
                  <a:pt x="38100" y="0"/>
                </a:moveTo>
                <a:lnTo>
                  <a:pt x="5486400" y="0"/>
                </a:lnTo>
                <a:cubicBezTo>
                  <a:pt x="5507442" y="0"/>
                  <a:pt x="5524500" y="17058"/>
                  <a:pt x="5524500" y="38100"/>
                </a:cubicBezTo>
                <a:lnTo>
                  <a:pt x="5524500" y="438150"/>
                </a:lnTo>
                <a:cubicBezTo>
                  <a:pt x="5524500" y="459192"/>
                  <a:pt x="5507442" y="476250"/>
                  <a:pt x="54864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DFAF3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2382298" y="4608671"/>
            <a:ext cx="228390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dirty="0">
                <a:solidFill>
                  <a:srgbClr val="4CAF7D"/>
                </a:solidFill>
                <a:latin typeface="Consolas"/>
                <a:ea typeface="Microsoft YaHei"/>
                <a:cs typeface="Consolas"/>
              </a:rPr>
              <a:t>E₁ = π²ℏ² / (2ma²) &gt; 0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844040" y="4823460"/>
            <a:ext cx="33604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4CAF7D"/>
                </a:solidFill>
                <a:latin typeface="Arial"/>
                <a:ea typeface="Microsoft YaHei"/>
                <a:cs typeface="Arial"/>
              </a:rPr>
              <a:t>粒子不能静止！这是量子力学的独特预言。</a:t>
            </a:r>
          </a:p>
        </p:txBody>
      </p:sp>
      <p:sp>
        <p:nvSpPr>
          <p:cNvPr id="38" name="Freeform 38"/>
          <p:cNvSpPr/>
          <p:nvPr/>
        </p:nvSpPr>
        <p:spPr>
          <a:xfrm>
            <a:off x="762000" y="5191125"/>
            <a:ext cx="5524500" cy="914400"/>
          </a:xfrm>
          <a:custGeom>
            <a:avLst/>
            <a:gdLst/>
            <a:ahLst/>
            <a:cxnLst/>
            <a:rect l="l" t="t" r="r" b="b"/>
            <a:pathLst>
              <a:path w="5524500" h="914400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857250"/>
                </a:lnTo>
                <a:cubicBezTo>
                  <a:pt x="5524500" y="888813"/>
                  <a:pt x="5498913" y="914400"/>
                  <a:pt x="5467350" y="914400"/>
                </a:cubicBezTo>
                <a:lnTo>
                  <a:pt x="57150" y="914400"/>
                </a:lnTo>
                <a:cubicBezTo>
                  <a:pt x="25587" y="914400"/>
                  <a:pt x="0" y="888813"/>
                  <a:pt x="0" y="8572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4EC"/>
          </a:solidFill>
          <a:ln w="9525">
            <a:solidFill>
              <a:srgbClr val="E8834A"/>
            </a:solidFill>
          </a:ln>
        </p:spPr>
      </p:sp>
      <p:grpSp>
        <p:nvGrpSpPr>
          <p:cNvPr id="42" name="Group 42"/>
          <p:cNvGrpSpPr/>
          <p:nvPr/>
        </p:nvGrpSpPr>
        <p:grpSpPr>
          <a:xfrm>
            <a:off x="947738" y="5348288"/>
            <a:ext cx="200025" cy="200025"/>
            <a:chOff x="947738" y="5348288"/>
            <a:chExt cx="200025" cy="200025"/>
          </a:xfrm>
        </p:grpSpPr>
        <p:sp>
          <p:nvSpPr>
            <p:cNvPr id="39" name="Freeform 39"/>
            <p:cNvSpPr/>
            <p:nvPr/>
          </p:nvSpPr>
          <p:spPr>
            <a:xfrm>
              <a:off x="947738" y="5348288"/>
              <a:ext cx="200025" cy="100012"/>
            </a:xfrm>
            <a:custGeom>
              <a:avLst/>
              <a:gdLst/>
              <a:ahLst/>
              <a:cxnLst/>
              <a:rect l="l" t="t" r="r" b="b"/>
              <a:pathLst>
                <a:path w="200025" h="100012">
                  <a:moveTo>
                    <a:pt x="0" y="100012"/>
                  </a:moveTo>
                  <a:lnTo>
                    <a:pt x="11113" y="100012"/>
                  </a:lnTo>
                  <a:moveTo>
                    <a:pt x="100012" y="0"/>
                  </a:moveTo>
                  <a:lnTo>
                    <a:pt x="100012" y="11112"/>
                  </a:lnTo>
                  <a:moveTo>
                    <a:pt x="188913" y="100012"/>
                  </a:moveTo>
                  <a:lnTo>
                    <a:pt x="200025" y="100012"/>
                  </a:lnTo>
                  <a:moveTo>
                    <a:pt x="28892" y="28892"/>
                  </a:moveTo>
                  <a:lnTo>
                    <a:pt x="36671" y="36671"/>
                  </a:lnTo>
                  <a:moveTo>
                    <a:pt x="171133" y="28892"/>
                  </a:moveTo>
                  <a:lnTo>
                    <a:pt x="163354" y="36671"/>
                  </a:lnTo>
                </a:path>
              </a:pathLst>
            </a:custGeom>
            <a:noFill/>
            <a:ln w="9525">
              <a:solidFill>
                <a:srgbClr val="E8834A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87476" y="5392738"/>
              <a:ext cx="120548" cy="155575"/>
            </a:xfrm>
            <a:custGeom>
              <a:avLst/>
              <a:gdLst/>
              <a:ahLst/>
              <a:cxnLst/>
              <a:rect l="l" t="t" r="r" b="b"/>
              <a:pathLst>
                <a:path w="120548" h="155575">
                  <a:moveTo>
                    <a:pt x="26937" y="100012"/>
                  </a:moveTo>
                  <a:cubicBezTo>
                    <a:pt x="7804" y="85663"/>
                    <a:pt x="0" y="60681"/>
                    <a:pt x="7563" y="37992"/>
                  </a:cubicBezTo>
                  <a:cubicBezTo>
                    <a:pt x="15126" y="15304"/>
                    <a:pt x="36358" y="0"/>
                    <a:pt x="60274" y="0"/>
                  </a:cubicBezTo>
                  <a:cubicBezTo>
                    <a:pt x="84190" y="0"/>
                    <a:pt x="105422" y="15304"/>
                    <a:pt x="112985" y="37992"/>
                  </a:cubicBezTo>
                  <a:cubicBezTo>
                    <a:pt x="120548" y="60681"/>
                    <a:pt x="112744" y="85663"/>
                    <a:pt x="93612" y="100012"/>
                  </a:cubicBezTo>
                  <a:cubicBezTo>
                    <a:pt x="84812" y="108723"/>
                    <a:pt x="80686" y="121102"/>
                    <a:pt x="82499" y="133350"/>
                  </a:cubicBezTo>
                  <a:cubicBezTo>
                    <a:pt x="82499" y="145625"/>
                    <a:pt x="72549" y="155575"/>
                    <a:pt x="60274" y="155575"/>
                  </a:cubicBezTo>
                  <a:cubicBezTo>
                    <a:pt x="48000" y="155575"/>
                    <a:pt x="38049" y="145625"/>
                    <a:pt x="38049" y="133350"/>
                  </a:cubicBezTo>
                  <a:cubicBezTo>
                    <a:pt x="39862" y="121102"/>
                    <a:pt x="35736" y="108723"/>
                    <a:pt x="26937" y="100012"/>
                  </a:cubicBezTo>
                </a:path>
              </a:pathLst>
            </a:custGeom>
            <a:noFill/>
            <a:ln w="9525">
              <a:solidFill>
                <a:srgbClr val="E8834A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022191" y="5503862"/>
              <a:ext cx="51118" cy="9525"/>
            </a:xfrm>
            <a:custGeom>
              <a:avLst/>
              <a:gdLst/>
              <a:ahLst/>
              <a:cxnLst/>
              <a:rect l="l" t="t" r="r" b="b"/>
              <a:pathLst>
                <a:path w="51118" h="9525">
                  <a:moveTo>
                    <a:pt x="0" y="0"/>
                  </a:moveTo>
                  <a:lnTo>
                    <a:pt x="51118" y="0"/>
                  </a:lnTo>
                </a:path>
              </a:pathLst>
            </a:custGeom>
            <a:noFill/>
            <a:ln w="9525">
              <a:solidFill>
                <a:srgbClr val="E8834A"/>
              </a:solidFill>
            </a:ln>
          </p:spPr>
        </p:sp>
      </p:grpSp>
      <p:sp>
        <p:nvSpPr>
          <p:cNvPr id="43" name="TextBox 43"/>
          <p:cNvSpPr txBox="1"/>
          <p:nvPr/>
        </p:nvSpPr>
        <p:spPr>
          <a:xfrm>
            <a:off x="1279208" y="5329714"/>
            <a:ext cx="101000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E8834A"/>
                </a:solidFill>
                <a:latin typeface="Arial"/>
                <a:ea typeface="Microsoft YaHei"/>
                <a:cs typeface="Arial"/>
              </a:rPr>
              <a:t>物理意义：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98208" y="5577364"/>
            <a:ext cx="301180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能量量子化是边界条件的直接结果，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98208" y="5815489"/>
            <a:ext cx="263937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不是人为假设，而是数学必然。</a:t>
            </a:r>
          </a:p>
        </p:txBody>
      </p:sp>
      <p:sp>
        <p:nvSpPr>
          <p:cNvPr id="46" name="Freeform 46"/>
          <p:cNvSpPr/>
          <p:nvPr/>
        </p:nvSpPr>
        <p:spPr>
          <a:xfrm>
            <a:off x="6667500" y="876300"/>
            <a:ext cx="4953000" cy="5429250"/>
          </a:xfrm>
          <a:custGeom>
            <a:avLst/>
            <a:gdLst/>
            <a:ahLst/>
            <a:cxnLst/>
            <a:rect l="l" t="t" r="r" b="b"/>
            <a:pathLst>
              <a:path w="4953000" h="5429250">
                <a:moveTo>
                  <a:pt x="95250" y="0"/>
                </a:moveTo>
                <a:lnTo>
                  <a:pt x="4857750" y="0"/>
                </a:lnTo>
                <a:cubicBezTo>
                  <a:pt x="4910355" y="0"/>
                  <a:pt x="4953000" y="42645"/>
                  <a:pt x="4953000" y="95250"/>
                </a:cubicBezTo>
                <a:lnTo>
                  <a:pt x="4953000" y="5334000"/>
                </a:lnTo>
                <a:cubicBezTo>
                  <a:pt x="4953000" y="5386605"/>
                  <a:pt x="4910355" y="5429250"/>
                  <a:pt x="4857750" y="5429250"/>
                </a:cubicBezTo>
                <a:lnTo>
                  <a:pt x="95250" y="5429250"/>
                </a:lnTo>
                <a:cubicBezTo>
                  <a:pt x="42645" y="5429250"/>
                  <a:pt x="0" y="5386605"/>
                  <a:pt x="0" y="5334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gradFill>
            <a:gsLst>
              <a:gs pos="0">
                <a:srgbClr val="FFF8F0"/>
              </a:gs>
              <a:gs pos="100000">
                <a:srgbClr val="FDFAF5"/>
              </a:gs>
            </a:gsLst>
            <a:lin ang="5400000" scaled="1"/>
          </a:gradFill>
          <a:ln w="14288">
            <a:solidFill>
              <a:srgbClr val="E8DDD5"/>
            </a:solidFill>
          </a:ln>
        </p:spPr>
      </p:sp>
      <p:sp>
        <p:nvSpPr>
          <p:cNvPr id="47" name="Freeform 47"/>
          <p:cNvSpPr/>
          <p:nvPr/>
        </p:nvSpPr>
        <p:spPr>
          <a:xfrm>
            <a:off x="6667500" y="876300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95250" y="0"/>
                </a:moveTo>
                <a:lnTo>
                  <a:pt x="4857750" y="0"/>
                </a:lnTo>
                <a:cubicBezTo>
                  <a:pt x="4910355" y="0"/>
                  <a:pt x="4953000" y="42645"/>
                  <a:pt x="4953000" y="95250"/>
                </a:cubicBezTo>
                <a:lnTo>
                  <a:pt x="4953000" y="323850"/>
                </a:lnTo>
                <a:cubicBezTo>
                  <a:pt x="4953000" y="376455"/>
                  <a:pt x="4910355" y="419100"/>
                  <a:pt x="4857750" y="419100"/>
                </a:cubicBezTo>
                <a:lnTo>
                  <a:pt x="95250" y="419100"/>
                </a:lnTo>
                <a:cubicBezTo>
                  <a:pt x="42645" y="419100"/>
                  <a:pt x="0" y="376455"/>
                  <a:pt x="0" y="3238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834A">
              <a:alpha val="12000"/>
            </a:srgbClr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6667500" y="1104900"/>
            <a:ext cx="4953000" cy="190500"/>
          </a:xfrm>
          <a:prstGeom prst="rect">
            <a:avLst/>
          </a:prstGeom>
          <a:solidFill>
            <a:srgbClr val="E8834A">
              <a:alpha val="12000"/>
            </a:srgbClr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798112" y="989171"/>
            <a:ext cx="69177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E8834A"/>
                </a:solidFill>
                <a:latin typeface="Arial"/>
                <a:ea typeface="Microsoft YaHei"/>
                <a:cs typeface="Arial"/>
              </a:rPr>
              <a:t>能级图</a:t>
            </a:r>
          </a:p>
        </p:txBody>
      </p:sp>
      <p:sp>
        <p:nvSpPr>
          <p:cNvPr id="50" name="Line 50"/>
          <p:cNvSpPr/>
          <p:nvPr/>
        </p:nvSpPr>
        <p:spPr>
          <a:xfrm>
            <a:off x="7810500" y="1381125"/>
            <a:ext cx="9525" cy="4143375"/>
          </a:xfrm>
          <a:custGeom>
            <a:avLst/>
            <a:gdLst/>
            <a:ahLst/>
            <a:cxnLst/>
            <a:rect l="l" t="t" r="r" b="b"/>
            <a:pathLst>
              <a:path w="9525" h="4143375">
                <a:moveTo>
                  <a:pt x="0" y="414337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3D3530"/>
            </a:solidFill>
          </a:ln>
        </p:spPr>
      </p:sp>
      <p:sp>
        <p:nvSpPr>
          <p:cNvPr id="51" name="Polygon 51"/>
          <p:cNvSpPr/>
          <p:nvPr/>
        </p:nvSpPr>
        <p:spPr>
          <a:xfrm>
            <a:off x="7762875" y="1381125"/>
            <a:ext cx="95250" cy="123825"/>
          </a:xfrm>
          <a:custGeom>
            <a:avLst/>
            <a:gdLst/>
            <a:ahLst/>
            <a:cxnLst/>
            <a:rect l="l" t="t" r="r" b="b"/>
            <a:pathLst>
              <a:path w="95250" h="123825">
                <a:moveTo>
                  <a:pt x="47625" y="0"/>
                </a:moveTo>
                <a:lnTo>
                  <a:pt x="0" y="123825"/>
                </a:lnTo>
                <a:lnTo>
                  <a:pt x="95250" y="123825"/>
                </a:lnTo>
                <a:close/>
              </a:path>
            </a:pathLst>
          </a:custGeom>
          <a:solidFill>
            <a:srgbClr val="3D3530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7604760" y="120396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D3530"/>
                </a:solidFill>
                <a:latin typeface="Consolas"/>
                <a:ea typeface="Microsoft YaHei"/>
                <a:cs typeface="Consolas"/>
              </a:rPr>
              <a:t>E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39915" y="539210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D3530"/>
                </a:solidFill>
                <a:latin typeface="Consolas"/>
                <a:ea typeface="Microsoft YaHei"/>
                <a:cs typeface="Consolas"/>
              </a:rPr>
              <a:t>0</a:t>
            </a:r>
          </a:p>
        </p:txBody>
      </p:sp>
      <p:sp>
        <p:nvSpPr>
          <p:cNvPr id="54" name="Line 54"/>
          <p:cNvSpPr/>
          <p:nvPr/>
        </p:nvSpPr>
        <p:spPr>
          <a:xfrm>
            <a:off x="7762875" y="5476875"/>
            <a:ext cx="95250" cy="9525"/>
          </a:xfrm>
          <a:custGeom>
            <a:avLst/>
            <a:gdLst/>
            <a:ahLst/>
            <a:cxnLst/>
            <a:rect l="l" t="t" r="r" b="b"/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/>
          <a:ln w="14288">
            <a:solidFill>
              <a:srgbClr val="3D3530"/>
            </a:solidFill>
          </a:ln>
        </p:spPr>
      </p:sp>
      <p:sp>
        <p:nvSpPr>
          <p:cNvPr id="55" name="Line 55"/>
          <p:cNvSpPr/>
          <p:nvPr/>
        </p:nvSpPr>
        <p:spPr>
          <a:xfrm>
            <a:off x="7810500" y="4953000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28575">
            <a:solidFill>
              <a:srgbClr val="4CAF7D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6938962" y="4879181"/>
            <a:ext cx="2093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CAF7D"/>
                </a:solidFill>
                <a:latin typeface="Consolas"/>
                <a:ea typeface="Microsoft YaHei"/>
                <a:cs typeface="Consolas"/>
              </a:rPr>
              <a:t>E₁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558462" y="4879181"/>
            <a:ext cx="2586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CAF7D"/>
                </a:solidFill>
                <a:latin typeface="Consolas"/>
                <a:ea typeface="Microsoft YaHei"/>
                <a:cs typeface="Consolas"/>
              </a:rPr>
              <a:t>n=1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478917" y="4792028"/>
            <a:ext cx="13301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CAF7D"/>
                </a:solidFill>
                <a:latin typeface="Consolas"/>
                <a:ea typeface="Microsoft YaHei"/>
                <a:cs typeface="Consolas"/>
              </a:rPr>
              <a:t>E₁ (基态，零点能)</a:t>
            </a:r>
          </a:p>
        </p:txBody>
      </p:sp>
      <p:sp>
        <p:nvSpPr>
          <p:cNvPr id="59" name="Line 59"/>
          <p:cNvSpPr/>
          <p:nvPr/>
        </p:nvSpPr>
        <p:spPr>
          <a:xfrm>
            <a:off x="7810500" y="4095750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28575">
            <a:solidFill>
              <a:srgbClr val="2E86AB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6938962" y="4021931"/>
            <a:ext cx="2093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E86AB"/>
                </a:solidFill>
                <a:latin typeface="Consolas"/>
                <a:ea typeface="Microsoft YaHei"/>
                <a:cs typeface="Consolas"/>
              </a:rPr>
              <a:t>E₂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558462" y="4021931"/>
            <a:ext cx="2996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E86AB"/>
                </a:solidFill>
                <a:latin typeface="Consolas"/>
                <a:ea typeface="Microsoft YaHei"/>
                <a:cs typeface="Consolas"/>
              </a:rPr>
              <a:t>n=2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9004149" y="3906202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E86AB"/>
                </a:solidFill>
                <a:latin typeface="Consolas"/>
                <a:ea typeface="Microsoft YaHei"/>
                <a:cs typeface="Consolas"/>
              </a:rPr>
              <a:t>4E₁</a:t>
            </a:r>
          </a:p>
        </p:txBody>
      </p:sp>
      <p:sp>
        <p:nvSpPr>
          <p:cNvPr id="63" name="Line 63"/>
          <p:cNvSpPr/>
          <p:nvPr/>
        </p:nvSpPr>
        <p:spPr>
          <a:xfrm>
            <a:off x="7810500" y="2952750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28575">
            <a:solidFill>
              <a:srgbClr val="E8834A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6938962" y="2878931"/>
            <a:ext cx="2093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834A"/>
                </a:solidFill>
                <a:latin typeface="Consolas"/>
                <a:ea typeface="Microsoft YaHei"/>
                <a:cs typeface="Consolas"/>
              </a:rPr>
              <a:t>E₃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0558462" y="2878931"/>
            <a:ext cx="2996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834A"/>
                </a:solidFill>
                <a:latin typeface="Consolas"/>
                <a:ea typeface="Microsoft YaHei"/>
                <a:cs typeface="Consolas"/>
              </a:rPr>
              <a:t>n=3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004149" y="2763202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834A"/>
                </a:solidFill>
                <a:latin typeface="Consolas"/>
                <a:ea typeface="Microsoft YaHei"/>
                <a:cs typeface="Consolas"/>
              </a:rPr>
              <a:t>9E₁</a:t>
            </a:r>
          </a:p>
        </p:txBody>
      </p:sp>
      <p:sp>
        <p:nvSpPr>
          <p:cNvPr id="67" name="Line 67"/>
          <p:cNvSpPr/>
          <p:nvPr/>
        </p:nvSpPr>
        <p:spPr>
          <a:xfrm>
            <a:off x="7810500" y="2000250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28575">
            <a:solidFill>
              <a:srgbClr val="DE3545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6938962" y="1926431"/>
            <a:ext cx="2093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DE3545"/>
                </a:solidFill>
                <a:latin typeface="Consolas"/>
                <a:ea typeface="Microsoft YaHei"/>
                <a:cs typeface="Consolas"/>
              </a:rPr>
              <a:t>E₄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0558462" y="1926431"/>
            <a:ext cx="2996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DE3545"/>
                </a:solidFill>
                <a:latin typeface="Consolas"/>
                <a:ea typeface="Microsoft YaHei"/>
                <a:cs typeface="Consolas"/>
              </a:rPr>
              <a:t>n=4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981146" y="1810702"/>
            <a:ext cx="325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DE3545"/>
                </a:solidFill>
                <a:latin typeface="Consolas"/>
                <a:ea typeface="Microsoft YaHei"/>
                <a:cs typeface="Consolas"/>
              </a:rPr>
              <a:t>16E₁</a:t>
            </a:r>
          </a:p>
        </p:txBody>
      </p:sp>
      <p:sp>
        <p:nvSpPr>
          <p:cNvPr id="71" name="Ellipse 71"/>
          <p:cNvSpPr/>
          <p:nvPr/>
        </p:nvSpPr>
        <p:spPr>
          <a:xfrm>
            <a:off x="9105900" y="1562100"/>
            <a:ext cx="76200" cy="76200"/>
          </a:xfrm>
          <a:prstGeom prst="ellipse">
            <a:avLst/>
          </a:prstGeom>
          <a:solidFill>
            <a:srgbClr val="7A6E68"/>
          </a:solidFill>
          <a:ln>
            <a:noFill/>
          </a:ln>
        </p:spPr>
      </p:sp>
      <p:sp>
        <p:nvSpPr>
          <p:cNvPr id="72" name="Ellipse 72"/>
          <p:cNvSpPr/>
          <p:nvPr/>
        </p:nvSpPr>
        <p:spPr>
          <a:xfrm>
            <a:off x="9105900" y="1438275"/>
            <a:ext cx="76200" cy="76200"/>
          </a:xfrm>
          <a:prstGeom prst="ellipse">
            <a:avLst/>
          </a:prstGeom>
          <a:solidFill>
            <a:srgbClr val="7A6E68"/>
          </a:solidFill>
          <a:ln>
            <a:noFill/>
          </a:ln>
        </p:spPr>
      </p:sp>
      <p:sp>
        <p:nvSpPr>
          <p:cNvPr id="73" name="Ellipse 73"/>
          <p:cNvSpPr/>
          <p:nvPr/>
        </p:nvSpPr>
        <p:spPr>
          <a:xfrm>
            <a:off x="9105900" y="1314450"/>
            <a:ext cx="76200" cy="76200"/>
          </a:xfrm>
          <a:prstGeom prst="ellipse">
            <a:avLst/>
          </a:prstGeom>
          <a:solidFill>
            <a:srgbClr val="7A6E68"/>
          </a:solidFill>
          <a:ln>
            <a:noFill/>
          </a:ln>
        </p:spPr>
      </p:sp>
      <p:sp>
        <p:nvSpPr>
          <p:cNvPr id="74" name="Line 74"/>
          <p:cNvSpPr/>
          <p:nvPr/>
        </p:nvSpPr>
        <p:spPr>
          <a:xfrm>
            <a:off x="7620000" y="4095750"/>
            <a:ext cx="9525" cy="857250"/>
          </a:xfrm>
          <a:custGeom>
            <a:avLst/>
            <a:gdLst/>
            <a:ahLst/>
            <a:cxnLst/>
            <a:rect l="l" t="t" r="r" b="b"/>
            <a:pathLst>
              <a:path w="9525" h="857250">
                <a:moveTo>
                  <a:pt x="0" y="85725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7A6E68"/>
            </a:solidFill>
            <a:custDash>
              <a:ds d="300000" sp="300000"/>
            </a:custDash>
          </a:ln>
        </p:spPr>
      </p:sp>
      <p:sp>
        <p:nvSpPr>
          <p:cNvPr id="75" name="Polygon 75"/>
          <p:cNvSpPr/>
          <p:nvPr/>
        </p:nvSpPr>
        <p:spPr>
          <a:xfrm>
            <a:off x="7581900" y="409575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76200" h="114300">
                <a:moveTo>
                  <a:pt x="38100" y="0"/>
                </a:moveTo>
                <a:lnTo>
                  <a:pt x="0" y="114300"/>
                </a:lnTo>
                <a:lnTo>
                  <a:pt x="76200" y="114300"/>
                </a:lnTo>
                <a:close/>
              </a:path>
            </a:pathLst>
          </a:custGeom>
          <a:solidFill>
            <a:srgbClr val="7A6E68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7226618" y="4466749"/>
            <a:ext cx="2597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A6E68"/>
                </a:solidFill>
                <a:latin typeface="Consolas"/>
                <a:ea typeface="Microsoft YaHei"/>
                <a:cs typeface="Consolas"/>
              </a:rPr>
              <a:t>3E₁</a:t>
            </a:r>
          </a:p>
        </p:txBody>
      </p:sp>
      <p:sp>
        <p:nvSpPr>
          <p:cNvPr id="77" name="Line 77"/>
          <p:cNvSpPr/>
          <p:nvPr/>
        </p:nvSpPr>
        <p:spPr>
          <a:xfrm>
            <a:off x="7620000" y="2952750"/>
            <a:ext cx="9525" cy="1143000"/>
          </a:xfrm>
          <a:custGeom>
            <a:avLst/>
            <a:gdLst/>
            <a:ahLst/>
            <a:cxnLst/>
            <a:rect l="l" t="t" r="r" b="b"/>
            <a:pathLst>
              <a:path w="9525" h="1143000">
                <a:moveTo>
                  <a:pt x="0" y="11430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7A6E68"/>
            </a:solidFill>
            <a:custDash>
              <a:ds d="300000" sp="300000"/>
            </a:custDash>
          </a:ln>
        </p:spPr>
      </p:sp>
      <p:sp>
        <p:nvSpPr>
          <p:cNvPr id="78" name="Polygon 78"/>
          <p:cNvSpPr/>
          <p:nvPr/>
        </p:nvSpPr>
        <p:spPr>
          <a:xfrm>
            <a:off x="7581900" y="295275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76200" h="114300">
                <a:moveTo>
                  <a:pt x="38100" y="0"/>
                </a:moveTo>
                <a:lnTo>
                  <a:pt x="0" y="114300"/>
                </a:lnTo>
                <a:lnTo>
                  <a:pt x="76200" y="114300"/>
                </a:lnTo>
                <a:close/>
              </a:path>
            </a:pathLst>
          </a:custGeom>
          <a:solidFill>
            <a:srgbClr val="7A6E68"/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7226618" y="3466624"/>
            <a:ext cx="2597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A6E68"/>
                </a:solidFill>
                <a:latin typeface="Consolas"/>
                <a:ea typeface="Microsoft YaHei"/>
                <a:cs typeface="Consolas"/>
              </a:rPr>
              <a:t>5E₁</a:t>
            </a:r>
          </a:p>
        </p:txBody>
      </p:sp>
      <p:sp>
        <p:nvSpPr>
          <p:cNvPr id="80" name="Freeform 80"/>
          <p:cNvSpPr/>
          <p:nvPr/>
        </p:nvSpPr>
        <p:spPr>
          <a:xfrm>
            <a:off x="6858000" y="5715000"/>
            <a:ext cx="4572000" cy="419100"/>
          </a:xfrm>
          <a:custGeom>
            <a:avLst/>
            <a:gdLst/>
            <a:ahLst/>
            <a:cxnLst/>
            <a:rect l="l" t="t" r="r" b="b"/>
            <a:pathLst>
              <a:path w="4572000" h="419100">
                <a:moveTo>
                  <a:pt x="57150" y="0"/>
                </a:moveTo>
                <a:lnTo>
                  <a:pt x="4514850" y="0"/>
                </a:lnTo>
                <a:cubicBezTo>
                  <a:pt x="4546413" y="0"/>
                  <a:pt x="4572000" y="25587"/>
                  <a:pt x="4572000" y="57150"/>
                </a:cubicBezTo>
                <a:lnTo>
                  <a:pt x="4572000" y="361950"/>
                </a:lnTo>
                <a:cubicBezTo>
                  <a:pt x="4572000" y="393513"/>
                  <a:pt x="4546413" y="419100"/>
                  <a:pt x="4514850" y="419100"/>
                </a:cubicBezTo>
                <a:lnTo>
                  <a:pt x="57150" y="419100"/>
                </a:lnTo>
                <a:cubicBezTo>
                  <a:pt x="25587" y="419100"/>
                  <a:pt x="0" y="393513"/>
                  <a:pt x="0" y="3619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DE3545">
              <a:alpha val="10000"/>
            </a:srgbClr>
          </a:solidFill>
          <a:ln w="14288">
            <a:solidFill>
              <a:srgbClr val="DE3545">
                <a:alpha val="40000"/>
              </a:srgbClr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7765660" y="5835968"/>
            <a:ext cx="27566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DE3545"/>
                </a:solidFill>
                <a:latin typeface="Consolas"/>
                <a:ea typeface="Microsoft YaHei"/>
                <a:cs typeface="Consolas"/>
              </a:rPr>
              <a:t>E_n = n² · E₁，间距越来越大</a:t>
            </a:r>
          </a:p>
        </p:txBody>
      </p:sp>
      <p:sp>
        <p:nvSpPr>
          <p:cNvPr id="82" name="Rectangle 82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3D3530">
              <a:alpha val="6000"/>
            </a:srgbClr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559118" y="6647974"/>
            <a:ext cx="26093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9E98"/>
                </a:solidFill>
                <a:latin typeface="Arial"/>
                <a:ea typeface="Microsoft YaHei"/>
                <a:cs typeface="Arial"/>
              </a:rPr>
              <a:t>量子力学基础 · 定态与一维无限深方势阱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1451479" y="6647974"/>
            <a:ext cx="181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E98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742950"/>
            <a:ext cx="12192000" cy="28575"/>
          </a:xfrm>
          <a:prstGeom prst="rect">
            <a:avLst/>
          </a:prstGeom>
          <a:gradFill>
            <a:gsLst>
              <a:gs pos="0">
                <a:srgbClr val="DE3545"/>
              </a:gs>
              <a:gs pos="100000">
                <a:srgbClr val="E8834A"/>
              </a:gs>
            </a:gsLst>
            <a:lin ang="0" scaled="1"/>
          </a:gra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11239500" y="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0" y="0"/>
                </a:moveTo>
                <a:lnTo>
                  <a:pt x="952500" y="0"/>
                </a:lnTo>
                <a:lnTo>
                  <a:pt x="952500" y="762000"/>
                </a:lnTo>
                <a:close/>
              </a:path>
            </a:pathLst>
          </a:custGeom>
          <a:solidFill>
            <a:srgbClr val="DE3545">
              <a:alpha val="12000"/>
            </a:srgbClr>
          </a:solidFill>
          <a:ln>
            <a:noFill/>
          </a:ln>
        </p:spPr>
      </p:sp>
      <p:sp>
        <p:nvSpPr>
          <p:cNvPr id="6" name="Polygon 6"/>
          <p:cNvSpPr/>
          <p:nvPr/>
        </p:nvSpPr>
        <p:spPr>
          <a:xfrm>
            <a:off x="571500" y="190500"/>
            <a:ext cx="114300" cy="285750"/>
          </a:xfrm>
          <a:custGeom>
            <a:avLst/>
            <a:gdLst/>
            <a:ahLst/>
            <a:cxnLst/>
            <a:rect l="l" t="t" r="r" b="b"/>
            <a:pathLst>
              <a:path w="114300" h="285750">
                <a:moveTo>
                  <a:pt x="0" y="0"/>
                </a:moveTo>
                <a:lnTo>
                  <a:pt x="1143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7" name="Polygon 7"/>
          <p:cNvSpPr/>
          <p:nvPr/>
        </p:nvSpPr>
        <p:spPr>
          <a:xfrm>
            <a:off x="742950" y="190500"/>
            <a:ext cx="114300" cy="285750"/>
          </a:xfrm>
          <a:custGeom>
            <a:avLst/>
            <a:gdLst/>
            <a:ahLst/>
            <a:cxnLst/>
            <a:rect l="l" t="t" r="r" b="b"/>
            <a:pathLst>
              <a:path w="114300" h="285750">
                <a:moveTo>
                  <a:pt x="0" y="0"/>
                </a:moveTo>
                <a:lnTo>
                  <a:pt x="1143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E8834A">
              <a:alpha val="6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23925" y="252412"/>
            <a:ext cx="5077527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新知6：每个能级对应一个波函数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876300"/>
            <a:ext cx="5048250" cy="5429250"/>
          </a:xfrm>
          <a:custGeom>
            <a:avLst/>
            <a:gdLst/>
            <a:ahLst/>
            <a:cxnLst/>
            <a:rect l="l" t="t" r="r" b="b"/>
            <a:pathLst>
              <a:path w="5048250" h="5429250">
                <a:moveTo>
                  <a:pt x="95250" y="0"/>
                </a:moveTo>
                <a:lnTo>
                  <a:pt x="4953000" y="0"/>
                </a:lnTo>
                <a:cubicBezTo>
                  <a:pt x="5005605" y="0"/>
                  <a:pt x="5048250" y="42645"/>
                  <a:pt x="5048250" y="95250"/>
                </a:cubicBezTo>
                <a:lnTo>
                  <a:pt x="5048250" y="5334000"/>
                </a:lnTo>
                <a:cubicBezTo>
                  <a:pt x="5048250" y="5386605"/>
                  <a:pt x="5005605" y="5429250"/>
                  <a:pt x="4953000" y="5429250"/>
                </a:cubicBezTo>
                <a:lnTo>
                  <a:pt x="95250" y="5429250"/>
                </a:lnTo>
                <a:cubicBezTo>
                  <a:pt x="42645" y="5429250"/>
                  <a:pt x="0" y="5386605"/>
                  <a:pt x="0" y="5334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8DDD5"/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571500" y="876300"/>
            <a:ext cx="5048250" cy="419100"/>
          </a:xfrm>
          <a:custGeom>
            <a:avLst/>
            <a:gdLst/>
            <a:ahLst/>
            <a:cxnLst/>
            <a:rect l="l" t="t" r="r" b="b"/>
            <a:pathLst>
              <a:path w="5048250" h="419100">
                <a:moveTo>
                  <a:pt x="95250" y="0"/>
                </a:moveTo>
                <a:lnTo>
                  <a:pt x="4953000" y="0"/>
                </a:lnTo>
                <a:cubicBezTo>
                  <a:pt x="5005605" y="0"/>
                  <a:pt x="5048250" y="42645"/>
                  <a:pt x="5048250" y="95250"/>
                </a:cubicBezTo>
                <a:lnTo>
                  <a:pt x="5048250" y="323850"/>
                </a:lnTo>
                <a:cubicBezTo>
                  <a:pt x="5048250" y="376455"/>
                  <a:pt x="5005605" y="419100"/>
                  <a:pt x="4953000" y="419100"/>
                </a:cubicBezTo>
                <a:lnTo>
                  <a:pt x="95250" y="419100"/>
                </a:lnTo>
                <a:cubicBezTo>
                  <a:pt x="42645" y="419100"/>
                  <a:pt x="0" y="376455"/>
                  <a:pt x="0" y="3238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E86AB">
              <a:alpha val="12000"/>
            </a:srgbClr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71500" y="1104900"/>
            <a:ext cx="5048250" cy="190500"/>
          </a:xfrm>
          <a:prstGeom prst="rect">
            <a:avLst/>
          </a:prstGeom>
          <a:solidFill>
            <a:srgbClr val="2E86AB">
              <a:alpha val="12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872554" y="997268"/>
            <a:ext cx="244614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86AB"/>
                </a:solidFill>
                <a:latin typeface="Arial"/>
                <a:ea typeface="Microsoft YaHei"/>
                <a:cs typeface="Arial"/>
              </a:rPr>
              <a:t>ψ_n(x) 与 |ψ_n(x)|² 图像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6760" y="1413510"/>
            <a:ext cx="9137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CAF7D"/>
                </a:solidFill>
                <a:latin typeface="Consolas"/>
                <a:ea typeface="Microsoft YaHei"/>
                <a:cs typeface="Consolas"/>
              </a:rPr>
              <a:t>n=1 (基态)</a:t>
            </a:r>
          </a:p>
        </p:txBody>
      </p:sp>
      <p:sp>
        <p:nvSpPr>
          <p:cNvPr id="14" name="Line 14"/>
          <p:cNvSpPr/>
          <p:nvPr/>
        </p:nvSpPr>
        <p:spPr>
          <a:xfrm>
            <a:off x="952500" y="2047875"/>
            <a:ext cx="2476500" cy="9525"/>
          </a:xfrm>
          <a:custGeom>
            <a:avLst/>
            <a:gdLst/>
            <a:ahLst/>
            <a:cxnLst/>
            <a:rect l="l" t="t" r="r" b="b"/>
            <a:pathLst>
              <a:path w="2476500" h="9525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/>
          <a:ln w="9525">
            <a:solidFill>
              <a:srgbClr val="CCCCCC"/>
            </a:solidFill>
          </a:ln>
        </p:spPr>
      </p:sp>
      <p:sp>
        <p:nvSpPr>
          <p:cNvPr id="15" name="Line 15"/>
          <p:cNvSpPr/>
          <p:nvPr/>
        </p:nvSpPr>
        <p:spPr>
          <a:xfrm>
            <a:off x="952500" y="1571625"/>
            <a:ext cx="9525" cy="523875"/>
          </a:xfrm>
          <a:custGeom>
            <a:avLst/>
            <a:gdLst/>
            <a:ahLst/>
            <a:cxnLst/>
            <a:rect l="l" t="t" r="r" b="b"/>
            <a:pathLst>
              <a:path w="9525" h="523875">
                <a:moveTo>
                  <a:pt x="0" y="0"/>
                </a:moveTo>
                <a:lnTo>
                  <a:pt x="0" y="523875"/>
                </a:lnTo>
              </a:path>
            </a:pathLst>
          </a:custGeom>
          <a:noFill/>
          <a:ln w="9525">
            <a:solidFill>
              <a:srgbClr val="CCCCCC"/>
            </a:solidFill>
          </a:ln>
        </p:spPr>
      </p:sp>
      <p:sp>
        <p:nvSpPr>
          <p:cNvPr id="16" name="Freeform 16"/>
          <p:cNvSpPr/>
          <p:nvPr/>
        </p:nvSpPr>
        <p:spPr>
          <a:xfrm>
            <a:off x="952500" y="1571625"/>
            <a:ext cx="2476500" cy="476250"/>
          </a:xfrm>
          <a:custGeom>
            <a:avLst/>
            <a:gdLst/>
            <a:ahLst/>
            <a:cxnLst/>
            <a:rect l="l" t="t" r="r" b="b"/>
            <a:pathLst>
              <a:path w="2476500" h="476250">
                <a:moveTo>
                  <a:pt x="0" y="476250"/>
                </a:moveTo>
                <a:cubicBezTo>
                  <a:pt x="381000" y="476250"/>
                  <a:pt x="571500" y="0"/>
                  <a:pt x="1238250" y="0"/>
                </a:cubicBezTo>
                <a:cubicBezTo>
                  <a:pt x="1905000" y="0"/>
                  <a:pt x="2095500" y="476250"/>
                  <a:pt x="2476500" y="476250"/>
                </a:cubicBezTo>
              </a:path>
            </a:pathLst>
          </a:custGeom>
          <a:noFill/>
          <a:ln w="23812">
            <a:solidFill>
              <a:srgbClr val="4CAF7D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952500" y="1666875"/>
            <a:ext cx="2476500" cy="381000"/>
          </a:xfrm>
          <a:custGeom>
            <a:avLst/>
            <a:gdLst/>
            <a:ahLst/>
            <a:cxnLst/>
            <a:rect l="l" t="t" r="r" b="b"/>
            <a:pathLst>
              <a:path w="2476500" h="381000">
                <a:moveTo>
                  <a:pt x="0" y="381000"/>
                </a:moveTo>
                <a:cubicBezTo>
                  <a:pt x="381000" y="381000"/>
                  <a:pt x="571500" y="0"/>
                  <a:pt x="1238250" y="0"/>
                </a:cubicBezTo>
                <a:cubicBezTo>
                  <a:pt x="1905000" y="0"/>
                  <a:pt x="2095500" y="381000"/>
                  <a:pt x="2476500" y="381000"/>
                </a:cubicBezTo>
              </a:path>
            </a:pathLst>
          </a:custGeom>
          <a:solidFill>
            <a:srgbClr val="4CAF7D">
              <a:alpha val="15000"/>
            </a:srgbClr>
          </a:solidFill>
          <a:ln w="14288">
            <a:solidFill>
              <a:srgbClr val="4CAF7D"/>
            </a:solidFill>
            <a:custDash>
              <a:ds d="333333" sp="200000"/>
            </a:custDash>
          </a:ln>
        </p:spPr>
      </p:sp>
      <p:sp>
        <p:nvSpPr>
          <p:cNvPr id="18" name="TextBox 18"/>
          <p:cNvSpPr txBox="1"/>
          <p:nvPr/>
        </p:nvSpPr>
        <p:spPr>
          <a:xfrm>
            <a:off x="3510915" y="17440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CAF7D"/>
                </a:solidFill>
                <a:latin typeface="Consolas"/>
                <a:ea typeface="Microsoft YaHei"/>
                <a:cs typeface="Consolas"/>
              </a:rPr>
              <a:t>ψ₁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0118" y="210454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A6E68"/>
                </a:solidFill>
                <a:latin typeface="Consolas"/>
                <a:ea typeface="Microsoft YaHei"/>
                <a:cs typeface="Consolas"/>
              </a:rPr>
              <a:t>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340418" y="210454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A6E68"/>
                </a:solidFill>
                <a:latin typeface="Consolas"/>
                <a:ea typeface="Microsoft YaHei"/>
                <a:cs typeface="Consolas"/>
              </a:rPr>
              <a:t>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9618" y="1561624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CAF7D"/>
                </a:solidFill>
                <a:latin typeface="Consolas"/>
                <a:ea typeface="Microsoft YaHei"/>
                <a:cs typeface="Consolas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6760" y="2366010"/>
            <a:ext cx="151186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E86AB"/>
                </a:solidFill>
                <a:latin typeface="Consolas"/>
                <a:ea typeface="Microsoft YaHei"/>
                <a:cs typeface="Consolas"/>
              </a:rPr>
              <a:t>n=2 (第一激发态)</a:t>
            </a:r>
          </a:p>
        </p:txBody>
      </p:sp>
      <p:sp>
        <p:nvSpPr>
          <p:cNvPr id="23" name="Line 23"/>
          <p:cNvSpPr/>
          <p:nvPr/>
        </p:nvSpPr>
        <p:spPr>
          <a:xfrm>
            <a:off x="952500" y="3143250"/>
            <a:ext cx="2476500" cy="9525"/>
          </a:xfrm>
          <a:custGeom>
            <a:avLst/>
            <a:gdLst/>
            <a:ahLst/>
            <a:cxnLst/>
            <a:rect l="l" t="t" r="r" b="b"/>
            <a:pathLst>
              <a:path w="2476500" h="9525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/>
          <a:ln w="9525">
            <a:solidFill>
              <a:srgbClr val="CCCCCC"/>
            </a:solidFill>
          </a:ln>
        </p:spPr>
      </p:sp>
      <p:sp>
        <p:nvSpPr>
          <p:cNvPr id="24" name="Line 24"/>
          <p:cNvSpPr/>
          <p:nvPr/>
        </p:nvSpPr>
        <p:spPr>
          <a:xfrm>
            <a:off x="952500" y="2619375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 w="9525">
            <a:solidFill>
              <a:srgbClr val="CCCCCC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952500" y="2647950"/>
            <a:ext cx="2476500" cy="990600"/>
          </a:xfrm>
          <a:custGeom>
            <a:avLst/>
            <a:gdLst/>
            <a:ahLst/>
            <a:cxnLst/>
            <a:rect l="l" t="t" r="r" b="b"/>
            <a:pathLst>
              <a:path w="2476500" h="990600">
                <a:moveTo>
                  <a:pt x="0" y="495300"/>
                </a:moveTo>
                <a:cubicBezTo>
                  <a:pt x="190500" y="495300"/>
                  <a:pt x="285750" y="0"/>
                  <a:pt x="619125" y="0"/>
                </a:cubicBezTo>
                <a:cubicBezTo>
                  <a:pt x="952500" y="0"/>
                  <a:pt x="1047750" y="495300"/>
                  <a:pt x="1238250" y="495300"/>
                </a:cubicBezTo>
                <a:cubicBezTo>
                  <a:pt x="1428750" y="495300"/>
                  <a:pt x="1524000" y="990600"/>
                  <a:pt x="1857375" y="990600"/>
                </a:cubicBezTo>
                <a:cubicBezTo>
                  <a:pt x="2190750" y="990600"/>
                  <a:pt x="2286000" y="495300"/>
                  <a:pt x="2476500" y="495300"/>
                </a:cubicBezTo>
              </a:path>
            </a:pathLst>
          </a:custGeom>
          <a:noFill/>
          <a:ln w="23812">
            <a:solidFill>
              <a:srgbClr val="2E86AB"/>
            </a:solidFill>
          </a:ln>
        </p:spPr>
      </p:sp>
      <p:sp>
        <p:nvSpPr>
          <p:cNvPr id="26" name="Freeform 26"/>
          <p:cNvSpPr/>
          <p:nvPr/>
        </p:nvSpPr>
        <p:spPr>
          <a:xfrm>
            <a:off x="952500" y="2762250"/>
            <a:ext cx="2476500" cy="381000"/>
          </a:xfrm>
          <a:custGeom>
            <a:avLst/>
            <a:gdLst/>
            <a:ahLst/>
            <a:cxnLst/>
            <a:rect l="l" t="t" r="r" b="b"/>
            <a:pathLst>
              <a:path w="2476500" h="381000">
                <a:moveTo>
                  <a:pt x="0" y="381000"/>
                </a:moveTo>
                <a:cubicBezTo>
                  <a:pt x="190500" y="381000"/>
                  <a:pt x="285750" y="0"/>
                  <a:pt x="619125" y="0"/>
                </a:cubicBezTo>
                <a:cubicBezTo>
                  <a:pt x="952500" y="0"/>
                  <a:pt x="1047750" y="381000"/>
                  <a:pt x="1238250" y="381000"/>
                </a:cubicBezTo>
                <a:cubicBezTo>
                  <a:pt x="1428750" y="381000"/>
                  <a:pt x="1524000" y="0"/>
                  <a:pt x="1857375" y="0"/>
                </a:cubicBezTo>
                <a:cubicBezTo>
                  <a:pt x="2190750" y="0"/>
                  <a:pt x="2286000" y="381000"/>
                  <a:pt x="2476500" y="381000"/>
                </a:cubicBezTo>
              </a:path>
            </a:pathLst>
          </a:custGeom>
          <a:solidFill>
            <a:srgbClr val="2E86AB">
              <a:alpha val="12000"/>
            </a:srgbClr>
          </a:solidFill>
          <a:ln w="14288">
            <a:solidFill>
              <a:srgbClr val="2E86AB"/>
            </a:solidFill>
            <a:custDash>
              <a:ds d="333333" sp="200000"/>
            </a:custDash>
          </a:ln>
        </p:spPr>
      </p:sp>
      <p:sp>
        <p:nvSpPr>
          <p:cNvPr id="27" name="TextBox 27"/>
          <p:cNvSpPr txBox="1"/>
          <p:nvPr/>
        </p:nvSpPr>
        <p:spPr>
          <a:xfrm>
            <a:off x="3510915" y="283940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E86AB"/>
                </a:solidFill>
                <a:latin typeface="Consolas"/>
                <a:ea typeface="Microsoft YaHei"/>
                <a:cs typeface="Consolas"/>
              </a:rPr>
              <a:t>ψ₂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40118" y="3199924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A6E68"/>
                </a:solidFill>
                <a:latin typeface="Consolas"/>
                <a:ea typeface="Microsoft YaHei"/>
                <a:cs typeface="Consolas"/>
              </a:rPr>
              <a:t>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340418" y="3199924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A6E68"/>
                </a:solidFill>
                <a:latin typeface="Consolas"/>
                <a:ea typeface="Microsoft YaHei"/>
                <a:cs typeface="Consolas"/>
              </a:rPr>
              <a:t>a</a:t>
            </a:r>
          </a:p>
        </p:txBody>
      </p:sp>
      <p:sp>
        <p:nvSpPr>
          <p:cNvPr id="30" name="Ellipse 30"/>
          <p:cNvSpPr/>
          <p:nvPr/>
        </p:nvSpPr>
        <p:spPr>
          <a:xfrm>
            <a:off x="2152650" y="3105150"/>
            <a:ext cx="76200" cy="76200"/>
          </a:xfrm>
          <a:prstGeom prst="ellipse">
            <a:avLst/>
          </a:prstGeom>
          <a:solidFill>
            <a:srgbClr val="DE3545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2102168" y="332374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节点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6760" y="3509010"/>
            <a:ext cx="151186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834A"/>
                </a:solidFill>
                <a:latin typeface="Consolas"/>
                <a:ea typeface="Microsoft YaHei"/>
                <a:cs typeface="Consolas"/>
              </a:rPr>
              <a:t>n=3 (第二激发态)</a:t>
            </a:r>
          </a:p>
        </p:txBody>
      </p:sp>
      <p:sp>
        <p:nvSpPr>
          <p:cNvPr id="33" name="Line 33"/>
          <p:cNvSpPr/>
          <p:nvPr/>
        </p:nvSpPr>
        <p:spPr>
          <a:xfrm>
            <a:off x="952500" y="4286250"/>
            <a:ext cx="2476500" cy="9525"/>
          </a:xfrm>
          <a:custGeom>
            <a:avLst/>
            <a:gdLst/>
            <a:ahLst/>
            <a:cxnLst/>
            <a:rect l="l" t="t" r="r" b="b"/>
            <a:pathLst>
              <a:path w="2476500" h="9525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/>
          <a:ln w="9525">
            <a:solidFill>
              <a:srgbClr val="CCCCCC"/>
            </a:solidFill>
          </a:ln>
        </p:spPr>
      </p:sp>
      <p:sp>
        <p:nvSpPr>
          <p:cNvPr id="34" name="Line 34"/>
          <p:cNvSpPr/>
          <p:nvPr/>
        </p:nvSpPr>
        <p:spPr>
          <a:xfrm>
            <a:off x="952500" y="3762375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 w="9525">
            <a:solidFill>
              <a:srgbClr val="CCCCCC"/>
            </a:solidFill>
          </a:ln>
        </p:spPr>
      </p:sp>
      <p:sp>
        <p:nvSpPr>
          <p:cNvPr id="35" name="Freeform 35"/>
          <p:cNvSpPr/>
          <p:nvPr/>
        </p:nvSpPr>
        <p:spPr>
          <a:xfrm>
            <a:off x="952500" y="3886200"/>
            <a:ext cx="2476500" cy="800100"/>
          </a:xfrm>
          <a:custGeom>
            <a:avLst/>
            <a:gdLst/>
            <a:ahLst/>
            <a:cxnLst/>
            <a:rect l="l" t="t" r="r" b="b"/>
            <a:pathLst>
              <a:path w="2476500" h="800100">
                <a:moveTo>
                  <a:pt x="0" y="400050"/>
                </a:moveTo>
                <a:cubicBezTo>
                  <a:pt x="142875" y="400050"/>
                  <a:pt x="190500" y="0"/>
                  <a:pt x="409575" y="0"/>
                </a:cubicBezTo>
                <a:cubicBezTo>
                  <a:pt x="628650" y="0"/>
                  <a:pt x="676275" y="400050"/>
                  <a:pt x="857250" y="400050"/>
                </a:cubicBezTo>
                <a:cubicBezTo>
                  <a:pt x="1038225" y="400050"/>
                  <a:pt x="1085850" y="800100"/>
                  <a:pt x="1304925" y="800100"/>
                </a:cubicBezTo>
                <a:cubicBezTo>
                  <a:pt x="1524000" y="800100"/>
                  <a:pt x="1571625" y="400050"/>
                  <a:pt x="1743075" y="400050"/>
                </a:cubicBezTo>
                <a:cubicBezTo>
                  <a:pt x="1914525" y="400050"/>
                  <a:pt x="1962150" y="0"/>
                  <a:pt x="2190750" y="0"/>
                </a:cubicBezTo>
                <a:cubicBezTo>
                  <a:pt x="2419350" y="0"/>
                  <a:pt x="2457450" y="400050"/>
                  <a:pt x="2476500" y="400050"/>
                </a:cubicBezTo>
              </a:path>
            </a:pathLst>
          </a:custGeom>
          <a:noFill/>
          <a:ln w="23812">
            <a:solidFill>
              <a:srgbClr val="E8834A"/>
            </a:solidFill>
          </a:ln>
        </p:spPr>
      </p:sp>
      <p:sp>
        <p:nvSpPr>
          <p:cNvPr id="36" name="Freeform 36"/>
          <p:cNvSpPr/>
          <p:nvPr/>
        </p:nvSpPr>
        <p:spPr>
          <a:xfrm>
            <a:off x="952500" y="3981450"/>
            <a:ext cx="2476500" cy="304800"/>
          </a:xfrm>
          <a:custGeom>
            <a:avLst/>
            <a:gdLst/>
            <a:ahLst/>
            <a:cxnLst/>
            <a:rect l="l" t="t" r="r" b="b"/>
            <a:pathLst>
              <a:path w="2476500" h="304800">
                <a:moveTo>
                  <a:pt x="0" y="304800"/>
                </a:moveTo>
                <a:cubicBezTo>
                  <a:pt x="142875" y="304800"/>
                  <a:pt x="190500" y="0"/>
                  <a:pt x="409575" y="0"/>
                </a:cubicBezTo>
                <a:cubicBezTo>
                  <a:pt x="628650" y="0"/>
                  <a:pt x="676275" y="304800"/>
                  <a:pt x="857250" y="304800"/>
                </a:cubicBezTo>
                <a:cubicBezTo>
                  <a:pt x="1038225" y="304800"/>
                  <a:pt x="1085850" y="0"/>
                  <a:pt x="1304925" y="0"/>
                </a:cubicBezTo>
                <a:cubicBezTo>
                  <a:pt x="1524000" y="0"/>
                  <a:pt x="1571625" y="304800"/>
                  <a:pt x="1743075" y="304800"/>
                </a:cubicBezTo>
                <a:cubicBezTo>
                  <a:pt x="1914525" y="304800"/>
                  <a:pt x="1962150" y="0"/>
                  <a:pt x="2190750" y="0"/>
                </a:cubicBezTo>
                <a:cubicBezTo>
                  <a:pt x="2419350" y="0"/>
                  <a:pt x="2457450" y="304800"/>
                  <a:pt x="2476500" y="304800"/>
                </a:cubicBezTo>
              </a:path>
            </a:pathLst>
          </a:custGeom>
          <a:solidFill>
            <a:srgbClr val="E8834A">
              <a:alpha val="12000"/>
            </a:srgbClr>
          </a:solidFill>
          <a:ln w="14288">
            <a:solidFill>
              <a:srgbClr val="E8834A"/>
            </a:solidFill>
            <a:custDash>
              <a:ds d="333333" sp="200000"/>
            </a:custDash>
          </a:ln>
        </p:spPr>
      </p:sp>
      <p:sp>
        <p:nvSpPr>
          <p:cNvPr id="37" name="TextBox 37"/>
          <p:cNvSpPr txBox="1"/>
          <p:nvPr/>
        </p:nvSpPr>
        <p:spPr>
          <a:xfrm>
            <a:off x="3510915" y="398240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834A"/>
                </a:solidFill>
                <a:latin typeface="Consolas"/>
                <a:ea typeface="Microsoft YaHei"/>
                <a:cs typeface="Consolas"/>
              </a:rPr>
              <a:t>ψ₃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40118" y="4342924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A6E68"/>
                </a:solidFill>
                <a:latin typeface="Consolas"/>
                <a:ea typeface="Microsoft YaHei"/>
                <a:cs typeface="Consolas"/>
              </a:rPr>
              <a:t>0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340418" y="4342924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A6E68"/>
                </a:solidFill>
                <a:latin typeface="Consolas"/>
                <a:ea typeface="Microsoft YaHei"/>
                <a:cs typeface="Consolas"/>
              </a:rPr>
              <a:t>a</a:t>
            </a:r>
          </a:p>
        </p:txBody>
      </p:sp>
      <p:sp>
        <p:nvSpPr>
          <p:cNvPr id="40" name="Line 40"/>
          <p:cNvSpPr/>
          <p:nvPr/>
        </p:nvSpPr>
        <p:spPr>
          <a:xfrm>
            <a:off x="762000" y="485775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3D3530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1224915" y="4792028"/>
            <a:ext cx="12994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ψ_n(x)（波函数）</a:t>
            </a:r>
          </a:p>
        </p:txBody>
      </p:sp>
      <p:sp>
        <p:nvSpPr>
          <p:cNvPr id="42" name="Line 42"/>
          <p:cNvSpPr/>
          <p:nvPr/>
        </p:nvSpPr>
        <p:spPr>
          <a:xfrm>
            <a:off x="762000" y="5095875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4288">
            <a:solidFill>
              <a:srgbClr val="3D3530"/>
            </a:solidFill>
            <a:custDash>
              <a:ds d="333333" sp="200000"/>
            </a:custDash>
          </a:ln>
        </p:spPr>
      </p:sp>
      <p:sp>
        <p:nvSpPr>
          <p:cNvPr id="43" name="Rectangle 43"/>
          <p:cNvSpPr/>
          <p:nvPr/>
        </p:nvSpPr>
        <p:spPr>
          <a:xfrm>
            <a:off x="762000" y="5019675"/>
            <a:ext cx="381000" cy="133350"/>
          </a:xfrm>
          <a:prstGeom prst="rect">
            <a:avLst/>
          </a:prstGeom>
          <a:solidFill>
            <a:srgbClr val="3D3530">
              <a:alpha val="10000"/>
            </a:srgbClr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224915" y="5030152"/>
            <a:ext cx="16292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|ψ_n(x)|²（概率密度）</a:t>
            </a:r>
          </a:p>
        </p:txBody>
      </p:sp>
      <p:sp>
        <p:nvSpPr>
          <p:cNvPr id="45" name="Freeform 45"/>
          <p:cNvSpPr/>
          <p:nvPr/>
        </p:nvSpPr>
        <p:spPr>
          <a:xfrm>
            <a:off x="762000" y="5314950"/>
            <a:ext cx="4667250" cy="800100"/>
          </a:xfrm>
          <a:custGeom>
            <a:avLst/>
            <a:gdLst/>
            <a:ahLst/>
            <a:cxnLst/>
            <a:rect l="l" t="t" r="r" b="b"/>
            <a:pathLst>
              <a:path w="4667250" h="800100">
                <a:moveTo>
                  <a:pt x="57150" y="0"/>
                </a:moveTo>
                <a:lnTo>
                  <a:pt x="4610100" y="0"/>
                </a:lnTo>
                <a:cubicBezTo>
                  <a:pt x="4641663" y="0"/>
                  <a:pt x="4667250" y="25587"/>
                  <a:pt x="4667250" y="57150"/>
                </a:cubicBezTo>
                <a:lnTo>
                  <a:pt x="4667250" y="742950"/>
                </a:lnTo>
                <a:cubicBezTo>
                  <a:pt x="4667250" y="774513"/>
                  <a:pt x="4641663" y="800100"/>
                  <a:pt x="4610100" y="800100"/>
                </a:cubicBezTo>
                <a:lnTo>
                  <a:pt x="57150" y="800100"/>
                </a:lnTo>
                <a:cubicBezTo>
                  <a:pt x="25587" y="800100"/>
                  <a:pt x="0" y="774513"/>
                  <a:pt x="0" y="7429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EF6FF"/>
          </a:solidFill>
          <a:ln w="9525">
            <a:solidFill>
              <a:srgbClr val="2E86AB">
                <a:alpha val="40000"/>
              </a:srgbClr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1613772" y="5397818"/>
            <a:ext cx="296370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86AB"/>
                </a:solidFill>
                <a:latin typeface="Consolas"/>
                <a:ea typeface="Microsoft YaHei"/>
                <a:cs typeface="Consolas"/>
              </a:rPr>
              <a:t>ψ_n(x) = √(2/a) · sin(nπx/a)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892998" y="5680710"/>
            <a:ext cx="24052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n = 1, 2, 3, ... （0 &lt; x &lt; a）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791533" y="5898356"/>
            <a:ext cx="26081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n-1 个节点（波函数为零的内部点）</a:t>
            </a:r>
          </a:p>
        </p:txBody>
      </p:sp>
      <p:sp>
        <p:nvSpPr>
          <p:cNvPr id="49" name="Freeform 49"/>
          <p:cNvSpPr/>
          <p:nvPr/>
        </p:nvSpPr>
        <p:spPr>
          <a:xfrm>
            <a:off x="5810250" y="876300"/>
            <a:ext cx="5810250" cy="5429250"/>
          </a:xfrm>
          <a:custGeom>
            <a:avLst/>
            <a:gdLst/>
            <a:ahLst/>
            <a:cxnLst/>
            <a:rect l="l" t="t" r="r" b="b"/>
            <a:pathLst>
              <a:path w="5810250" h="5429250">
                <a:moveTo>
                  <a:pt x="95250" y="0"/>
                </a:moveTo>
                <a:lnTo>
                  <a:pt x="5715000" y="0"/>
                </a:lnTo>
                <a:cubicBezTo>
                  <a:pt x="5767605" y="0"/>
                  <a:pt x="5810250" y="42645"/>
                  <a:pt x="5810250" y="95250"/>
                </a:cubicBezTo>
                <a:lnTo>
                  <a:pt x="5810250" y="5334000"/>
                </a:lnTo>
                <a:cubicBezTo>
                  <a:pt x="5810250" y="5386605"/>
                  <a:pt x="5767605" y="5429250"/>
                  <a:pt x="5715000" y="5429250"/>
                </a:cubicBezTo>
                <a:lnTo>
                  <a:pt x="95250" y="5429250"/>
                </a:lnTo>
                <a:cubicBezTo>
                  <a:pt x="42645" y="5429250"/>
                  <a:pt x="0" y="5386605"/>
                  <a:pt x="0" y="5334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DFAF5"/>
          </a:solidFill>
          <a:ln w="14288">
            <a:solidFill>
              <a:srgbClr val="E8DDD5"/>
            </a:solidFill>
          </a:ln>
        </p:spPr>
      </p:sp>
      <p:sp>
        <p:nvSpPr>
          <p:cNvPr id="50" name="Freeform 50"/>
          <p:cNvSpPr/>
          <p:nvPr/>
        </p:nvSpPr>
        <p:spPr>
          <a:xfrm>
            <a:off x="6000750" y="1028700"/>
            <a:ext cx="5429250" cy="1047750"/>
          </a:xfrm>
          <a:custGeom>
            <a:avLst/>
            <a:gdLst/>
            <a:ahLst/>
            <a:cxnLst/>
            <a:rect l="l" t="t" r="r" b="b"/>
            <a:pathLst>
              <a:path w="5429250" h="1047750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971550"/>
                </a:lnTo>
                <a:cubicBezTo>
                  <a:pt x="5429250" y="1013634"/>
                  <a:pt x="5395134" y="1047750"/>
                  <a:pt x="5353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4CAF7D">
                <a:alpha val="50000"/>
              </a:srgbClr>
            </a:solidFill>
          </a:ln>
        </p:spPr>
      </p:sp>
      <p:sp>
        <p:nvSpPr>
          <p:cNvPr id="51" name="Freeform 51"/>
          <p:cNvSpPr/>
          <p:nvPr/>
        </p:nvSpPr>
        <p:spPr>
          <a:xfrm>
            <a:off x="6000750" y="1028700"/>
            <a:ext cx="57150" cy="1047750"/>
          </a:xfrm>
          <a:custGeom>
            <a:avLst/>
            <a:gdLst/>
            <a:ahLst/>
            <a:cxnLst/>
            <a:rect l="l" t="t" r="r" b="b"/>
            <a:pathLst>
              <a:path w="57150" h="10477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019175"/>
                </a:lnTo>
                <a:cubicBezTo>
                  <a:pt x="57150" y="1034957"/>
                  <a:pt x="44357" y="1047750"/>
                  <a:pt x="28575" y="1047750"/>
                </a:cubicBezTo>
                <a:lnTo>
                  <a:pt x="28575" y="1047750"/>
                </a:lnTo>
                <a:cubicBezTo>
                  <a:pt x="12793" y="1047750"/>
                  <a:pt x="0" y="1034957"/>
                  <a:pt x="0" y="10191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4CAF7D"/>
          </a:solidFill>
          <a:ln>
            <a:noFill/>
          </a:ln>
        </p:spPr>
      </p:sp>
      <p:sp>
        <p:nvSpPr>
          <p:cNvPr id="52" name="Freeform 52"/>
          <p:cNvSpPr/>
          <p:nvPr/>
        </p:nvSpPr>
        <p:spPr>
          <a:xfrm>
            <a:off x="6249988" y="1157288"/>
            <a:ext cx="111125" cy="200025"/>
          </a:xfrm>
          <a:custGeom>
            <a:avLst/>
            <a:gdLst/>
            <a:ahLst/>
            <a:cxnLst/>
            <a:rect l="l" t="t" r="r" b="b"/>
            <a:pathLst>
              <a:path w="111125" h="200025">
                <a:moveTo>
                  <a:pt x="0" y="177800"/>
                </a:moveTo>
                <a:cubicBezTo>
                  <a:pt x="0" y="190075"/>
                  <a:pt x="9950" y="200025"/>
                  <a:pt x="22225" y="200025"/>
                </a:cubicBezTo>
                <a:cubicBezTo>
                  <a:pt x="44450" y="200025"/>
                  <a:pt x="44450" y="155575"/>
                  <a:pt x="55563" y="100012"/>
                </a:cubicBezTo>
                <a:cubicBezTo>
                  <a:pt x="66675" y="44450"/>
                  <a:pt x="66675" y="0"/>
                  <a:pt x="88900" y="0"/>
                </a:cubicBezTo>
                <a:cubicBezTo>
                  <a:pt x="101175" y="0"/>
                  <a:pt x="111125" y="9950"/>
                  <a:pt x="111125" y="22225"/>
                </a:cubicBezTo>
              </a:path>
            </a:pathLst>
          </a:custGeom>
          <a:noFill/>
          <a:ln w="9525">
            <a:solidFill>
              <a:srgbClr val="4CAF7D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6555105" y="114966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4CAF7D"/>
                </a:solidFill>
                <a:latin typeface="Arial"/>
                <a:ea typeface="Microsoft YaHei"/>
                <a:cs typeface="Arial"/>
              </a:rPr>
              <a:t>归一化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156008" y="1433989"/>
            <a:ext cx="233212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D3530"/>
                </a:solidFill>
                <a:latin typeface="Consolas"/>
                <a:ea typeface="Microsoft YaHei"/>
                <a:cs typeface="Consolas"/>
              </a:rPr>
              <a:t>∫|ψ_n|² dx = 1 → A = √(2/a)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156960" y="1775460"/>
            <a:ext cx="23614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概率总和为1，确定归一化系数</a:t>
            </a:r>
          </a:p>
        </p:txBody>
      </p:sp>
      <p:sp>
        <p:nvSpPr>
          <p:cNvPr id="56" name="Freeform 56"/>
          <p:cNvSpPr/>
          <p:nvPr/>
        </p:nvSpPr>
        <p:spPr>
          <a:xfrm>
            <a:off x="6000750" y="2209800"/>
            <a:ext cx="5429250" cy="1047750"/>
          </a:xfrm>
          <a:custGeom>
            <a:avLst/>
            <a:gdLst/>
            <a:ahLst/>
            <a:cxnLst/>
            <a:rect l="l" t="t" r="r" b="b"/>
            <a:pathLst>
              <a:path w="5429250" h="1047750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971550"/>
                </a:lnTo>
                <a:cubicBezTo>
                  <a:pt x="5429250" y="1013634"/>
                  <a:pt x="5395134" y="1047750"/>
                  <a:pt x="5353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2E86AB">
                <a:alpha val="50000"/>
              </a:srgbClr>
            </a:solidFill>
          </a:ln>
        </p:spPr>
      </p:sp>
      <p:sp>
        <p:nvSpPr>
          <p:cNvPr id="57" name="Freeform 57"/>
          <p:cNvSpPr/>
          <p:nvPr/>
        </p:nvSpPr>
        <p:spPr>
          <a:xfrm>
            <a:off x="6000750" y="2209800"/>
            <a:ext cx="57150" cy="1047750"/>
          </a:xfrm>
          <a:custGeom>
            <a:avLst/>
            <a:gdLst/>
            <a:ahLst/>
            <a:cxnLst/>
            <a:rect l="l" t="t" r="r" b="b"/>
            <a:pathLst>
              <a:path w="57150" h="10477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019175"/>
                </a:lnTo>
                <a:cubicBezTo>
                  <a:pt x="57150" y="1034957"/>
                  <a:pt x="44357" y="1047750"/>
                  <a:pt x="28575" y="1047750"/>
                </a:cubicBezTo>
                <a:lnTo>
                  <a:pt x="28575" y="1047750"/>
                </a:lnTo>
                <a:cubicBezTo>
                  <a:pt x="12793" y="1047750"/>
                  <a:pt x="0" y="1034957"/>
                  <a:pt x="0" y="10191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E86AB"/>
          </a:solidFill>
          <a:ln>
            <a:noFill/>
          </a:ln>
        </p:spPr>
      </p:sp>
      <p:grpSp>
        <p:nvGrpSpPr>
          <p:cNvPr id="62" name="Group 62"/>
          <p:cNvGrpSpPr/>
          <p:nvPr/>
        </p:nvGrpSpPr>
        <p:grpSpPr>
          <a:xfrm>
            <a:off x="6205538" y="2338388"/>
            <a:ext cx="200025" cy="200025"/>
            <a:chOff x="6205538" y="2338388"/>
            <a:chExt cx="200025" cy="200025"/>
          </a:xfrm>
        </p:grpSpPr>
        <p:sp>
          <p:nvSpPr>
            <p:cNvPr id="58" name="Freeform 58"/>
            <p:cNvSpPr/>
            <p:nvPr/>
          </p:nvSpPr>
          <p:spPr>
            <a:xfrm>
              <a:off x="6205538" y="2338388"/>
              <a:ext cx="111125" cy="200025"/>
            </a:xfrm>
            <a:custGeom>
              <a:avLst/>
              <a:gdLst/>
              <a:ahLst/>
              <a:cxnLst/>
              <a:rect l="l" t="t" r="r" b="b"/>
              <a:pathLst>
                <a:path w="111125" h="200025">
                  <a:moveTo>
                    <a:pt x="0" y="177800"/>
                  </a:moveTo>
                  <a:cubicBezTo>
                    <a:pt x="0" y="190075"/>
                    <a:pt x="9950" y="200025"/>
                    <a:pt x="22225" y="200025"/>
                  </a:cubicBezTo>
                  <a:cubicBezTo>
                    <a:pt x="44450" y="200025"/>
                    <a:pt x="44450" y="155575"/>
                    <a:pt x="55563" y="100012"/>
                  </a:cubicBezTo>
                  <a:cubicBezTo>
                    <a:pt x="66675" y="44450"/>
                    <a:pt x="66675" y="0"/>
                    <a:pt x="88900" y="0"/>
                  </a:cubicBezTo>
                  <a:cubicBezTo>
                    <a:pt x="101175" y="0"/>
                    <a:pt x="111125" y="9950"/>
                    <a:pt x="111125" y="22225"/>
                  </a:cubicBezTo>
                </a:path>
              </a:pathLst>
            </a:custGeom>
            <a:noFill/>
            <a:ln w="9525">
              <a:solidFill>
                <a:srgbClr val="2E86AB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6227762" y="2438400"/>
              <a:ext cx="66675" cy="9525"/>
            </a:xfrm>
            <a:custGeom>
              <a:avLst/>
              <a:gdLst/>
              <a:ahLst/>
              <a:cxnLst/>
              <a:rect l="l" t="t" r="r" b="b"/>
              <a:pathLst>
                <a:path w="66675" h="9525">
                  <a:moveTo>
                    <a:pt x="0" y="0"/>
                  </a:moveTo>
                  <a:lnTo>
                    <a:pt x="66675" y="0"/>
                  </a:lnTo>
                </a:path>
              </a:pathLst>
            </a:custGeom>
            <a:noFill/>
            <a:ln w="9525">
              <a:solidFill>
                <a:srgbClr val="2E86AB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6338888" y="2438400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0"/>
                  </a:moveTo>
                  <a:lnTo>
                    <a:pt x="66675" y="66675"/>
                  </a:lnTo>
                </a:path>
              </a:pathLst>
            </a:custGeom>
            <a:noFill/>
            <a:ln w="9525">
              <a:solidFill>
                <a:srgbClr val="2E86AB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6338888" y="2438400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66675"/>
                  </a:moveTo>
                  <a:lnTo>
                    <a:pt x="66675" y="0"/>
                  </a:lnTo>
                </a:path>
              </a:pathLst>
            </a:custGeom>
            <a:noFill/>
            <a:ln w="9525">
              <a:solidFill>
                <a:srgbClr val="2E86AB"/>
              </a:solidFill>
            </a:ln>
          </p:spPr>
        </p:sp>
      </p:grpSp>
      <p:sp>
        <p:nvSpPr>
          <p:cNvPr id="63" name="TextBox 63"/>
          <p:cNvSpPr txBox="1"/>
          <p:nvPr/>
        </p:nvSpPr>
        <p:spPr>
          <a:xfrm>
            <a:off x="6555105" y="233076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E86AB"/>
                </a:solidFill>
                <a:latin typeface="Arial"/>
                <a:ea typeface="Microsoft YaHei"/>
                <a:cs typeface="Arial"/>
              </a:rPr>
              <a:t>正交归一性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156008" y="2624614"/>
            <a:ext cx="186659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D3530"/>
                </a:solidFill>
                <a:latin typeface="Consolas"/>
                <a:ea typeface="Microsoft YaHei"/>
                <a:cs typeface="Consolas"/>
              </a:rPr>
              <a:t>∫ψ_m* ψ_n dx = δ_mn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156960" y="2966085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不同能级的波函数互相正交</a:t>
            </a:r>
          </a:p>
        </p:txBody>
      </p:sp>
      <p:sp>
        <p:nvSpPr>
          <p:cNvPr id="66" name="Freeform 66"/>
          <p:cNvSpPr/>
          <p:nvPr/>
        </p:nvSpPr>
        <p:spPr>
          <a:xfrm>
            <a:off x="6000750" y="3390900"/>
            <a:ext cx="5429250" cy="1047750"/>
          </a:xfrm>
          <a:custGeom>
            <a:avLst/>
            <a:gdLst/>
            <a:ahLst/>
            <a:cxnLst/>
            <a:rect l="l" t="t" r="r" b="b"/>
            <a:pathLst>
              <a:path w="5429250" h="1047750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971550"/>
                </a:lnTo>
                <a:cubicBezTo>
                  <a:pt x="5429250" y="1013634"/>
                  <a:pt x="5395134" y="1047750"/>
                  <a:pt x="5353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8834A">
                <a:alpha val="50000"/>
              </a:srgbClr>
            </a:solidFill>
          </a:ln>
        </p:spPr>
      </p:sp>
      <p:sp>
        <p:nvSpPr>
          <p:cNvPr id="67" name="Freeform 67"/>
          <p:cNvSpPr/>
          <p:nvPr/>
        </p:nvSpPr>
        <p:spPr>
          <a:xfrm>
            <a:off x="6000750" y="3390900"/>
            <a:ext cx="57150" cy="1047750"/>
          </a:xfrm>
          <a:custGeom>
            <a:avLst/>
            <a:gdLst/>
            <a:ahLst/>
            <a:cxnLst/>
            <a:rect l="l" t="t" r="r" b="b"/>
            <a:pathLst>
              <a:path w="57150" h="10477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019175"/>
                </a:lnTo>
                <a:cubicBezTo>
                  <a:pt x="57150" y="1034957"/>
                  <a:pt x="44357" y="1047750"/>
                  <a:pt x="28575" y="1047750"/>
                </a:cubicBezTo>
                <a:lnTo>
                  <a:pt x="28575" y="1047750"/>
                </a:lnTo>
                <a:cubicBezTo>
                  <a:pt x="12793" y="1047750"/>
                  <a:pt x="0" y="1034957"/>
                  <a:pt x="0" y="10191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834A"/>
          </a:solidFill>
          <a:ln>
            <a:noFill/>
          </a:ln>
        </p:spPr>
      </p:sp>
      <p:grpSp>
        <p:nvGrpSpPr>
          <p:cNvPr id="70" name="Group 70"/>
          <p:cNvGrpSpPr/>
          <p:nvPr/>
        </p:nvGrpSpPr>
        <p:grpSpPr>
          <a:xfrm>
            <a:off x="6216650" y="3552825"/>
            <a:ext cx="177800" cy="153988"/>
            <a:chOff x="6216650" y="3552825"/>
            <a:chExt cx="177800" cy="153988"/>
          </a:xfrm>
        </p:grpSpPr>
        <p:sp>
          <p:nvSpPr>
            <p:cNvPr id="68" name="Freeform 68"/>
            <p:cNvSpPr/>
            <p:nvPr/>
          </p:nvSpPr>
          <p:spPr>
            <a:xfrm>
              <a:off x="6216650" y="3697288"/>
              <a:ext cx="177800" cy="9525"/>
            </a:xfrm>
            <a:custGeom>
              <a:avLst/>
              <a:gdLst/>
              <a:ahLst/>
              <a:cxnLst/>
              <a:rect l="l" t="t" r="r" b="b"/>
              <a:pathLst>
                <a:path w="177800" h="9525">
                  <a:moveTo>
                    <a:pt x="0" y="0"/>
                  </a:moveTo>
                  <a:lnTo>
                    <a:pt x="177800" y="0"/>
                  </a:lnTo>
                </a:path>
              </a:pathLst>
            </a:custGeom>
            <a:noFill/>
            <a:ln w="9525">
              <a:solidFill>
                <a:srgbClr val="E8834A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6216650" y="3552825"/>
              <a:ext cx="177800" cy="100012"/>
            </a:xfrm>
            <a:custGeom>
              <a:avLst/>
              <a:gdLst/>
              <a:ahLst/>
              <a:cxnLst/>
              <a:rect l="l" t="t" r="r" b="b"/>
              <a:pathLst>
                <a:path w="177800" h="100012">
                  <a:moveTo>
                    <a:pt x="0" y="100012"/>
                  </a:moveTo>
                  <a:lnTo>
                    <a:pt x="44450" y="33338"/>
                  </a:lnTo>
                  <a:lnTo>
                    <a:pt x="88900" y="55562"/>
                  </a:lnTo>
                  <a:lnTo>
                    <a:pt x="133350" y="0"/>
                  </a:lnTo>
                  <a:lnTo>
                    <a:pt x="177800" y="44450"/>
                  </a:lnTo>
                </a:path>
              </a:pathLst>
            </a:custGeom>
            <a:noFill/>
            <a:ln w="9525">
              <a:solidFill>
                <a:srgbClr val="E8834A"/>
              </a:solidFill>
            </a:ln>
          </p:spPr>
        </p:sp>
      </p:grpSp>
      <p:sp>
        <p:nvSpPr>
          <p:cNvPr id="71" name="TextBox 71"/>
          <p:cNvSpPr txBox="1"/>
          <p:nvPr/>
        </p:nvSpPr>
        <p:spPr>
          <a:xfrm>
            <a:off x="6555105" y="3511868"/>
            <a:ext cx="18975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834A"/>
                </a:solidFill>
                <a:latin typeface="Arial"/>
                <a:ea typeface="Microsoft YaHei"/>
                <a:cs typeface="Arial"/>
              </a:rPr>
              <a:t>完备性（展开定理）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156008" y="3805714"/>
            <a:ext cx="179210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D3530"/>
                </a:solidFill>
                <a:latin typeface="Consolas"/>
                <a:ea typeface="Microsoft YaHei"/>
                <a:cs typeface="Consolas"/>
              </a:rPr>
              <a:t>f(x) = Σ c_n ψ_n(x)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156960" y="4137660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任意函数可用本征函数展开</a:t>
            </a:r>
          </a:p>
        </p:txBody>
      </p:sp>
      <p:sp>
        <p:nvSpPr>
          <p:cNvPr id="74" name="Freeform 74"/>
          <p:cNvSpPr/>
          <p:nvPr/>
        </p:nvSpPr>
        <p:spPr>
          <a:xfrm>
            <a:off x="6000750" y="4572000"/>
            <a:ext cx="5429250" cy="1047750"/>
          </a:xfrm>
          <a:custGeom>
            <a:avLst/>
            <a:gdLst/>
            <a:ahLst/>
            <a:cxnLst/>
            <a:rect l="l" t="t" r="r" b="b"/>
            <a:pathLst>
              <a:path w="5429250" h="1047750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971550"/>
                </a:lnTo>
                <a:cubicBezTo>
                  <a:pt x="5429250" y="1013634"/>
                  <a:pt x="5395134" y="1047750"/>
                  <a:pt x="5353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DE3545">
                <a:alpha val="50000"/>
              </a:srgbClr>
            </a:solidFill>
          </a:ln>
        </p:spPr>
      </p:sp>
      <p:sp>
        <p:nvSpPr>
          <p:cNvPr id="75" name="Freeform 75"/>
          <p:cNvSpPr/>
          <p:nvPr/>
        </p:nvSpPr>
        <p:spPr>
          <a:xfrm>
            <a:off x="6000750" y="4572000"/>
            <a:ext cx="57150" cy="1047750"/>
          </a:xfrm>
          <a:custGeom>
            <a:avLst/>
            <a:gdLst/>
            <a:ahLst/>
            <a:cxnLst/>
            <a:rect l="l" t="t" r="r" b="b"/>
            <a:pathLst>
              <a:path w="57150" h="10477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019175"/>
                </a:lnTo>
                <a:cubicBezTo>
                  <a:pt x="57150" y="1034957"/>
                  <a:pt x="44357" y="1047750"/>
                  <a:pt x="28575" y="1047750"/>
                </a:cubicBezTo>
                <a:lnTo>
                  <a:pt x="28575" y="1047750"/>
                </a:lnTo>
                <a:cubicBezTo>
                  <a:pt x="12793" y="1047750"/>
                  <a:pt x="0" y="1034957"/>
                  <a:pt x="0" y="10191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76" name="Freeform 76"/>
          <p:cNvSpPr/>
          <p:nvPr/>
        </p:nvSpPr>
        <p:spPr>
          <a:xfrm>
            <a:off x="6249988" y="4700588"/>
            <a:ext cx="111125" cy="200025"/>
          </a:xfrm>
          <a:custGeom>
            <a:avLst/>
            <a:gdLst/>
            <a:ahLst/>
            <a:cxnLst/>
            <a:rect l="l" t="t" r="r" b="b"/>
            <a:pathLst>
              <a:path w="111125" h="200025">
                <a:moveTo>
                  <a:pt x="0" y="177800"/>
                </a:moveTo>
                <a:cubicBezTo>
                  <a:pt x="0" y="190075"/>
                  <a:pt x="9950" y="200025"/>
                  <a:pt x="22225" y="200025"/>
                </a:cubicBezTo>
                <a:cubicBezTo>
                  <a:pt x="44450" y="200025"/>
                  <a:pt x="44450" y="155575"/>
                  <a:pt x="55563" y="100012"/>
                </a:cubicBezTo>
                <a:cubicBezTo>
                  <a:pt x="66675" y="44450"/>
                  <a:pt x="66675" y="0"/>
                  <a:pt x="88900" y="0"/>
                </a:cubicBezTo>
                <a:cubicBezTo>
                  <a:pt x="101175" y="0"/>
                  <a:pt x="111125" y="9950"/>
                  <a:pt x="111125" y="22225"/>
                </a:cubicBezTo>
              </a:path>
            </a:pathLst>
          </a:custGeom>
          <a:noFill/>
          <a:ln w="9525">
            <a:solidFill>
              <a:srgbClr val="DE3545"/>
            </a:solidFill>
          </a:ln>
        </p:spPr>
      </p:sp>
      <p:sp>
        <p:nvSpPr>
          <p:cNvPr id="77" name="TextBox 77"/>
          <p:cNvSpPr txBox="1"/>
          <p:nvPr/>
        </p:nvSpPr>
        <p:spPr>
          <a:xfrm>
            <a:off x="6555105" y="4692968"/>
            <a:ext cx="14834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展开系数与概率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6156008" y="4986814"/>
            <a:ext cx="209935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D3530"/>
                </a:solidFill>
                <a:latin typeface="Consolas"/>
                <a:ea typeface="Microsoft YaHei"/>
                <a:cs typeface="Consolas"/>
              </a:rPr>
              <a:t>c_n = ∫ψ_n*(x) f(x) dx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6156960" y="5318760"/>
            <a:ext cx="26944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|c_n|² = 测量得到能量 E_n 的概率</a:t>
            </a:r>
          </a:p>
        </p:txBody>
      </p:sp>
      <p:sp>
        <p:nvSpPr>
          <p:cNvPr id="80" name="Rectangle 80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3D3530">
              <a:alpha val="6000"/>
            </a:srgbClr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559118" y="6647974"/>
            <a:ext cx="26093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9E98"/>
                </a:solidFill>
                <a:latin typeface="Arial"/>
                <a:ea typeface="Microsoft YaHei"/>
                <a:cs typeface="Arial"/>
              </a:rPr>
              <a:t>量子力学基础 · 定态与一维无限深方势阱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1451479" y="6647974"/>
            <a:ext cx="181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E98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742950"/>
            <a:ext cx="12192000" cy="28575"/>
          </a:xfrm>
          <a:prstGeom prst="rect">
            <a:avLst/>
          </a:prstGeom>
          <a:gradFill>
            <a:gsLst>
              <a:gs pos="0">
                <a:srgbClr val="DE3545"/>
              </a:gs>
              <a:gs pos="100000">
                <a:srgbClr val="E8834A"/>
              </a:gs>
            </a:gsLst>
            <a:lin ang="0" scaled="1"/>
          </a:gra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11239500" y="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0" y="0"/>
                </a:moveTo>
                <a:lnTo>
                  <a:pt x="952500" y="0"/>
                </a:lnTo>
                <a:lnTo>
                  <a:pt x="952500" y="762000"/>
                </a:lnTo>
                <a:close/>
              </a:path>
            </a:pathLst>
          </a:custGeom>
          <a:solidFill>
            <a:srgbClr val="DE3545">
              <a:alpha val="12000"/>
            </a:srgbClr>
          </a:solidFill>
          <a:ln>
            <a:noFill/>
          </a:ln>
        </p:spPr>
      </p:sp>
      <p:sp>
        <p:nvSpPr>
          <p:cNvPr id="6" name="Polygon 6"/>
          <p:cNvSpPr/>
          <p:nvPr/>
        </p:nvSpPr>
        <p:spPr>
          <a:xfrm>
            <a:off x="571500" y="190500"/>
            <a:ext cx="114300" cy="285750"/>
          </a:xfrm>
          <a:custGeom>
            <a:avLst/>
            <a:gdLst/>
            <a:ahLst/>
            <a:cxnLst/>
            <a:rect l="l" t="t" r="r" b="b"/>
            <a:pathLst>
              <a:path w="114300" h="285750">
                <a:moveTo>
                  <a:pt x="0" y="0"/>
                </a:moveTo>
                <a:lnTo>
                  <a:pt x="1143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7" name="Polygon 7"/>
          <p:cNvSpPr/>
          <p:nvPr/>
        </p:nvSpPr>
        <p:spPr>
          <a:xfrm>
            <a:off x="742950" y="190500"/>
            <a:ext cx="114300" cy="285750"/>
          </a:xfrm>
          <a:custGeom>
            <a:avLst/>
            <a:gdLst/>
            <a:ahLst/>
            <a:cxnLst/>
            <a:rect l="l" t="t" r="r" b="b"/>
            <a:pathLst>
              <a:path w="114300" h="285750">
                <a:moveTo>
                  <a:pt x="0" y="0"/>
                </a:moveTo>
                <a:lnTo>
                  <a:pt x="1143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E8834A">
              <a:alpha val="6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23925" y="252412"/>
            <a:ext cx="418041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例题精讲：求展开系数 c_n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404600" y="248205"/>
            <a:ext cx="272495" cy="272495"/>
            <a:chOff x="11404600" y="248205"/>
            <a:chExt cx="272495" cy="272495"/>
          </a:xfrm>
        </p:grpSpPr>
        <p:sp>
          <p:nvSpPr>
            <p:cNvPr id="9" name="Freeform 9"/>
            <p:cNvSpPr/>
            <p:nvPr/>
          </p:nvSpPr>
          <p:spPr>
            <a:xfrm>
              <a:off x="11404600" y="248205"/>
              <a:ext cx="272495" cy="272495"/>
            </a:xfrm>
            <a:custGeom>
              <a:avLst/>
              <a:gdLst/>
              <a:ahLst/>
              <a:cxnLst/>
              <a:rect l="l" t="t" r="r" b="b"/>
              <a:pathLst>
                <a:path w="272495" h="272495">
                  <a:moveTo>
                    <a:pt x="0" y="272495"/>
                  </a:moveTo>
                  <a:lnTo>
                    <a:pt x="69850" y="272495"/>
                  </a:lnTo>
                  <a:lnTo>
                    <a:pt x="253206" y="89139"/>
                  </a:lnTo>
                  <a:cubicBezTo>
                    <a:pt x="272495" y="69850"/>
                    <a:pt x="272495" y="38577"/>
                    <a:pt x="253206" y="19289"/>
                  </a:cubicBezTo>
                  <a:cubicBezTo>
                    <a:pt x="233918" y="0"/>
                    <a:pt x="202645" y="0"/>
                    <a:pt x="183356" y="19289"/>
                  </a:cubicBezTo>
                  <a:lnTo>
                    <a:pt x="0" y="202645"/>
                  </a:lnTo>
                  <a:lnTo>
                    <a:pt x="0" y="272495"/>
                  </a:lnTo>
                </a:path>
              </a:pathLst>
            </a:custGeom>
            <a:noFill/>
            <a:ln w="9525">
              <a:solidFill>
                <a:srgbClr val="E8834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1570494" y="284956"/>
              <a:ext cx="69850" cy="69850"/>
            </a:xfrm>
            <a:custGeom>
              <a:avLst/>
              <a:gdLst/>
              <a:ahLst/>
              <a:cxnLst/>
              <a:rect l="l" t="t" r="r" b="b"/>
              <a:pathLst>
                <a:path w="69850" h="69850">
                  <a:moveTo>
                    <a:pt x="0" y="0"/>
                  </a:moveTo>
                  <a:lnTo>
                    <a:pt x="69850" y="69850"/>
                  </a:lnTo>
                </a:path>
              </a:pathLst>
            </a:custGeom>
            <a:noFill/>
            <a:ln w="9525">
              <a:solidFill>
                <a:srgbClr val="E8834A"/>
              </a:solidFill>
            </a:ln>
          </p:spPr>
        </p:sp>
      </p:grpSp>
      <p:sp>
        <p:nvSpPr>
          <p:cNvPr id="12" name="Freeform 12"/>
          <p:cNvSpPr/>
          <p:nvPr/>
        </p:nvSpPr>
        <p:spPr>
          <a:xfrm>
            <a:off x="571500" y="876300"/>
            <a:ext cx="11049000" cy="857250"/>
          </a:xfrm>
          <a:custGeom>
            <a:avLst/>
            <a:gdLst/>
            <a:ahLst/>
            <a:cxnLst/>
            <a:rect l="l" t="t" r="r" b="b"/>
            <a:pathLst>
              <a:path w="11049000" h="857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781050"/>
                </a:lnTo>
                <a:cubicBezTo>
                  <a:pt x="11049000" y="823134"/>
                  <a:pt x="11014884" y="857250"/>
                  <a:pt x="1097280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EF6FF"/>
          </a:solidFill>
          <a:ln w="19050">
            <a:solidFill>
              <a:srgbClr val="2E86AB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571500" y="876300"/>
            <a:ext cx="76200" cy="857250"/>
          </a:xfrm>
          <a:custGeom>
            <a:avLst/>
            <a:gdLst/>
            <a:ahLst/>
            <a:cxnLst/>
            <a:rect l="l" t="t" r="r" b="b"/>
            <a:pathLst>
              <a:path w="76200" h="85725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819150"/>
                </a:lnTo>
                <a:cubicBezTo>
                  <a:pt x="76200" y="840192"/>
                  <a:pt x="59142" y="857250"/>
                  <a:pt x="38100" y="857250"/>
                </a:cubicBezTo>
                <a:lnTo>
                  <a:pt x="38100" y="857250"/>
                </a:lnTo>
                <a:cubicBezTo>
                  <a:pt x="17058" y="857250"/>
                  <a:pt x="0" y="840192"/>
                  <a:pt x="0" y="819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2E86A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20102" y="951071"/>
            <a:ext cx="91030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E86AB"/>
                </a:solidFill>
                <a:latin typeface="Arial"/>
                <a:ea typeface="Microsoft YaHei"/>
                <a:cs typeface="Arial"/>
              </a:rPr>
              <a:t>【题目】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0102" y="1227296"/>
            <a:ext cx="7653433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已知 t=0 时，Ψ(x,0) = Ax(a-x)（0 &lt; x &lt; a），求归一化常数 A 及展开系数 c_n。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2008" y="1481614"/>
            <a:ext cx="541396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7A6E68"/>
                </a:solidFill>
                <a:latin typeface="Consolas"/>
                <a:ea typeface="Microsoft YaHei"/>
                <a:cs typeface="Consolas"/>
              </a:rPr>
              <a:t>（其中 ψ_n(x) = √(2/a) sin(nπx/a) 为无限深方势阱本征函数）</a:t>
            </a:r>
          </a:p>
        </p:txBody>
      </p:sp>
      <p:sp>
        <p:nvSpPr>
          <p:cNvPr id="17" name="Freeform 17"/>
          <p:cNvSpPr/>
          <p:nvPr/>
        </p:nvSpPr>
        <p:spPr>
          <a:xfrm>
            <a:off x="571500" y="1866900"/>
            <a:ext cx="5524500" cy="1238250"/>
          </a:xfrm>
          <a:custGeom>
            <a:avLst/>
            <a:gdLst/>
            <a:ahLst/>
            <a:cxnLst/>
            <a:rect l="l" t="t" r="r" b="b"/>
            <a:pathLst>
              <a:path w="5524500" h="1238250">
                <a:moveTo>
                  <a:pt x="76200" y="0"/>
                </a:moveTo>
                <a:lnTo>
                  <a:pt x="5448300" y="0"/>
                </a:lnTo>
                <a:cubicBezTo>
                  <a:pt x="5490384" y="0"/>
                  <a:pt x="5524500" y="34116"/>
                  <a:pt x="5524500" y="76200"/>
                </a:cubicBezTo>
                <a:lnTo>
                  <a:pt x="5524500" y="1162050"/>
                </a:lnTo>
                <a:cubicBezTo>
                  <a:pt x="5524500" y="1204134"/>
                  <a:pt x="5490384" y="1238250"/>
                  <a:pt x="54483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4CAF7D"/>
            </a:solidFill>
          </a:ln>
        </p:spPr>
      </p:sp>
      <p:sp>
        <p:nvSpPr>
          <p:cNvPr id="18" name="Freeform 18"/>
          <p:cNvSpPr/>
          <p:nvPr/>
        </p:nvSpPr>
        <p:spPr>
          <a:xfrm>
            <a:off x="571500" y="1866900"/>
            <a:ext cx="5524500" cy="381000"/>
          </a:xfrm>
          <a:custGeom>
            <a:avLst/>
            <a:gdLst/>
            <a:ahLst/>
            <a:cxnLst/>
            <a:rect l="l" t="t" r="r" b="b"/>
            <a:pathLst>
              <a:path w="5524500" h="381000">
                <a:moveTo>
                  <a:pt x="76200" y="0"/>
                </a:moveTo>
                <a:lnTo>
                  <a:pt x="5448300" y="0"/>
                </a:lnTo>
                <a:cubicBezTo>
                  <a:pt x="5490384" y="0"/>
                  <a:pt x="5524500" y="34116"/>
                  <a:pt x="5524500" y="76200"/>
                </a:cubicBezTo>
                <a:lnTo>
                  <a:pt x="5524500" y="304800"/>
                </a:lnTo>
                <a:cubicBezTo>
                  <a:pt x="5524500" y="346884"/>
                  <a:pt x="5490384" y="381000"/>
                  <a:pt x="54483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CAF7D">
              <a:alpha val="15000"/>
            </a:srgbClr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571500" y="2057400"/>
            <a:ext cx="5524500" cy="190500"/>
          </a:xfrm>
          <a:prstGeom prst="rect">
            <a:avLst/>
          </a:prstGeom>
          <a:solidFill>
            <a:srgbClr val="4CAF7D">
              <a:alpha val="15000"/>
            </a:srgbClr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723900" y="1924050"/>
            <a:ext cx="266700" cy="266700"/>
          </a:xfrm>
          <a:prstGeom prst="ellipse">
            <a:avLst/>
          </a:prstGeom>
          <a:solidFill>
            <a:srgbClr val="4CAF7D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19762" y="1991678"/>
            <a:ext cx="749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87755" y="1959292"/>
            <a:ext cx="12453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4CAF7D"/>
                </a:solidFill>
                <a:latin typeface="Arial"/>
                <a:ea typeface="Microsoft YaHei"/>
                <a:cs typeface="Arial"/>
              </a:rPr>
              <a:t>归一化：求 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5808" y="2319814"/>
            <a:ext cx="185728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D3530"/>
                </a:solidFill>
                <a:latin typeface="Consolas"/>
                <a:ea typeface="Microsoft YaHei"/>
                <a:cs typeface="Consolas"/>
              </a:rPr>
              <a:t>∫₀ᵃ |Ax(a-x)|² dx = 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5808" y="2576989"/>
            <a:ext cx="112173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D3530"/>
                </a:solidFill>
                <a:latin typeface="Consolas"/>
                <a:ea typeface="Microsoft YaHei"/>
                <a:cs typeface="Consolas"/>
              </a:rPr>
              <a:t>A²·a⁵/30 = 1</a:t>
            </a:r>
          </a:p>
        </p:txBody>
      </p:sp>
      <p:sp>
        <p:nvSpPr>
          <p:cNvPr id="25" name="Freeform 25"/>
          <p:cNvSpPr/>
          <p:nvPr/>
        </p:nvSpPr>
        <p:spPr>
          <a:xfrm>
            <a:off x="762000" y="2809875"/>
            <a:ext cx="5143500" cy="209550"/>
          </a:xfrm>
          <a:custGeom>
            <a:avLst/>
            <a:gdLst/>
            <a:ahLst/>
            <a:cxnLst/>
            <a:rect l="l" t="t" r="r" b="b"/>
            <a:pathLst>
              <a:path w="5143500" h="209550">
                <a:moveTo>
                  <a:pt x="38100" y="0"/>
                </a:moveTo>
                <a:lnTo>
                  <a:pt x="5105400" y="0"/>
                </a:lnTo>
                <a:cubicBezTo>
                  <a:pt x="5126442" y="0"/>
                  <a:pt x="5143500" y="17058"/>
                  <a:pt x="5143500" y="38100"/>
                </a:cubicBezTo>
                <a:lnTo>
                  <a:pt x="5143500" y="171450"/>
                </a:lnTo>
                <a:cubicBezTo>
                  <a:pt x="5143500" y="192492"/>
                  <a:pt x="5126442" y="209550"/>
                  <a:pt x="5105400" y="209550"/>
                </a:cubicBezTo>
                <a:lnTo>
                  <a:pt x="38100" y="209550"/>
                </a:lnTo>
                <a:cubicBezTo>
                  <a:pt x="17058" y="209550"/>
                  <a:pt x="0" y="192492"/>
                  <a:pt x="0" y="1714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4CAF7D">
              <a:alpha val="12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2721208" y="2824639"/>
            <a:ext cx="122508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4CAF7D"/>
                </a:solidFill>
                <a:latin typeface="Consolas"/>
                <a:ea typeface="Microsoft YaHei"/>
                <a:cs typeface="Consolas"/>
              </a:rPr>
              <a:t>A = √(30/a⁵)</a:t>
            </a:r>
          </a:p>
        </p:txBody>
      </p:sp>
      <p:sp>
        <p:nvSpPr>
          <p:cNvPr id="27" name="Freeform 27"/>
          <p:cNvSpPr/>
          <p:nvPr/>
        </p:nvSpPr>
        <p:spPr>
          <a:xfrm>
            <a:off x="6286500" y="1866900"/>
            <a:ext cx="5524500" cy="1238250"/>
          </a:xfrm>
          <a:custGeom>
            <a:avLst/>
            <a:gdLst/>
            <a:ahLst/>
            <a:cxnLst/>
            <a:rect l="l" t="t" r="r" b="b"/>
            <a:pathLst>
              <a:path w="5524500" h="1238250">
                <a:moveTo>
                  <a:pt x="76200" y="0"/>
                </a:moveTo>
                <a:lnTo>
                  <a:pt x="5448300" y="0"/>
                </a:lnTo>
                <a:cubicBezTo>
                  <a:pt x="5490384" y="0"/>
                  <a:pt x="5524500" y="34116"/>
                  <a:pt x="5524500" y="76200"/>
                </a:cubicBezTo>
                <a:lnTo>
                  <a:pt x="5524500" y="1162050"/>
                </a:lnTo>
                <a:cubicBezTo>
                  <a:pt x="5524500" y="1204134"/>
                  <a:pt x="5490384" y="1238250"/>
                  <a:pt x="54483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2E86AB"/>
            </a:solidFill>
          </a:ln>
        </p:spPr>
      </p:sp>
      <p:sp>
        <p:nvSpPr>
          <p:cNvPr id="28" name="Freeform 28"/>
          <p:cNvSpPr/>
          <p:nvPr/>
        </p:nvSpPr>
        <p:spPr>
          <a:xfrm>
            <a:off x="6286500" y="1866900"/>
            <a:ext cx="5524500" cy="381000"/>
          </a:xfrm>
          <a:custGeom>
            <a:avLst/>
            <a:gdLst/>
            <a:ahLst/>
            <a:cxnLst/>
            <a:rect l="l" t="t" r="r" b="b"/>
            <a:pathLst>
              <a:path w="5524500" h="381000">
                <a:moveTo>
                  <a:pt x="76200" y="0"/>
                </a:moveTo>
                <a:lnTo>
                  <a:pt x="5448300" y="0"/>
                </a:lnTo>
                <a:cubicBezTo>
                  <a:pt x="5490384" y="0"/>
                  <a:pt x="5524500" y="34116"/>
                  <a:pt x="5524500" y="76200"/>
                </a:cubicBezTo>
                <a:lnTo>
                  <a:pt x="5524500" y="304800"/>
                </a:lnTo>
                <a:cubicBezTo>
                  <a:pt x="5524500" y="346884"/>
                  <a:pt x="5490384" y="381000"/>
                  <a:pt x="54483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2E86AB">
              <a:alpha val="15000"/>
            </a:srgbClr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6286500" y="2057400"/>
            <a:ext cx="5524500" cy="190500"/>
          </a:xfrm>
          <a:prstGeom prst="rect">
            <a:avLst/>
          </a:prstGeom>
          <a:solidFill>
            <a:srgbClr val="2E86AB">
              <a:alpha val="15000"/>
            </a:srgbClr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6438900" y="1924050"/>
            <a:ext cx="266700" cy="2667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514634" y="1991678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802755" y="1959292"/>
            <a:ext cx="20941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E86AB"/>
                </a:solidFill>
                <a:latin typeface="Arial"/>
                <a:ea typeface="Microsoft YaHei"/>
                <a:cs typeface="Arial"/>
              </a:rPr>
              <a:t>利用正交归一性求 c_n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460808" y="2319814"/>
            <a:ext cx="261144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D3530"/>
                </a:solidFill>
                <a:latin typeface="Consolas"/>
                <a:ea typeface="Microsoft YaHei"/>
                <a:cs typeface="Consolas"/>
              </a:rPr>
              <a:t>c_n = ∫₀ᵃ ψ_n*(x)·Ψ(x,0) dx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460808" y="2576989"/>
            <a:ext cx="332836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D3530"/>
                </a:solidFill>
                <a:latin typeface="Consolas"/>
                <a:ea typeface="Microsoft YaHei"/>
                <a:cs typeface="Consolas"/>
              </a:rPr>
              <a:t>= ∫₀ᵃ √(2/a)·sin(nπx/a)·Ax(a-x) dx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462712" y="2831306"/>
            <a:ext cx="16716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（利用分部积分计算）</a:t>
            </a:r>
          </a:p>
        </p:txBody>
      </p:sp>
      <p:sp>
        <p:nvSpPr>
          <p:cNvPr id="36" name="Freeform 36"/>
          <p:cNvSpPr/>
          <p:nvPr/>
        </p:nvSpPr>
        <p:spPr>
          <a:xfrm>
            <a:off x="571500" y="323850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876300"/>
                </a:lnTo>
                <a:cubicBezTo>
                  <a:pt x="11049000" y="918384"/>
                  <a:pt x="11014884" y="952500"/>
                  <a:pt x="10972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8834A"/>
            </a:solidFill>
          </a:ln>
        </p:spPr>
      </p:sp>
      <p:sp>
        <p:nvSpPr>
          <p:cNvPr id="37" name="Freeform 37"/>
          <p:cNvSpPr/>
          <p:nvPr/>
        </p:nvSpPr>
        <p:spPr>
          <a:xfrm>
            <a:off x="571500" y="3238500"/>
            <a:ext cx="76200" cy="952500"/>
          </a:xfrm>
          <a:custGeom>
            <a:avLst/>
            <a:gdLst/>
            <a:ahLst/>
            <a:cxnLst/>
            <a:rect l="l" t="t" r="r" b="b"/>
            <a:pathLst>
              <a:path w="76200" h="9525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914400"/>
                </a:lnTo>
                <a:cubicBezTo>
                  <a:pt x="76200" y="935442"/>
                  <a:pt x="59142" y="952500"/>
                  <a:pt x="38100" y="952500"/>
                </a:cubicBezTo>
                <a:lnTo>
                  <a:pt x="38100" y="952500"/>
                </a:lnTo>
                <a:cubicBezTo>
                  <a:pt x="17058" y="952500"/>
                  <a:pt x="0" y="935442"/>
                  <a:pt x="0" y="914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834A"/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723900" y="3581400"/>
            <a:ext cx="266700" cy="266700"/>
          </a:xfrm>
          <a:prstGeom prst="ellipse">
            <a:avLst/>
          </a:prstGeom>
          <a:solidFill>
            <a:srgbClr val="E8834A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99634" y="3649028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87755" y="333089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834A"/>
                </a:solidFill>
                <a:latin typeface="Arial"/>
                <a:ea typeface="Microsoft YaHei"/>
                <a:cs typeface="Arial"/>
              </a:rPr>
              <a:t>计算结果</a:t>
            </a:r>
          </a:p>
        </p:txBody>
      </p:sp>
      <p:sp>
        <p:nvSpPr>
          <p:cNvPr id="41" name="Freeform 41"/>
          <p:cNvSpPr/>
          <p:nvPr/>
        </p:nvSpPr>
        <p:spPr>
          <a:xfrm>
            <a:off x="1104900" y="3543300"/>
            <a:ext cx="4762500" cy="533400"/>
          </a:xfrm>
          <a:custGeom>
            <a:avLst/>
            <a:gdLst/>
            <a:ahLst/>
            <a:cxnLst/>
            <a:rect l="l" t="t" r="r" b="b"/>
            <a:pathLst>
              <a:path w="4762500" h="533400">
                <a:moveTo>
                  <a:pt x="38100" y="0"/>
                </a:moveTo>
                <a:lnTo>
                  <a:pt x="4724400" y="0"/>
                </a:lnTo>
                <a:cubicBezTo>
                  <a:pt x="4745442" y="0"/>
                  <a:pt x="4762500" y="17058"/>
                  <a:pt x="4762500" y="38100"/>
                </a:cubicBezTo>
                <a:lnTo>
                  <a:pt x="4762500" y="495300"/>
                </a:lnTo>
                <a:cubicBezTo>
                  <a:pt x="4762500" y="516342"/>
                  <a:pt x="4745442" y="533400"/>
                  <a:pt x="4724400" y="533400"/>
                </a:cubicBezTo>
                <a:lnTo>
                  <a:pt x="38100" y="533400"/>
                </a:lnTo>
                <a:cubicBezTo>
                  <a:pt x="17058" y="533400"/>
                  <a:pt x="0" y="516342"/>
                  <a:pt x="0" y="4953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4EC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2585442" y="3634264"/>
            <a:ext cx="180141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E8834A"/>
                </a:solidFill>
                <a:latin typeface="Consolas"/>
                <a:ea typeface="Microsoft YaHei"/>
                <a:cs typeface="Consolas"/>
              </a:rPr>
              <a:t>c_n = 0，当 n 为偶数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239566" y="3879056"/>
            <a:ext cx="24931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（奇函数与偶函数乘积积分为零）</a:t>
            </a:r>
          </a:p>
        </p:txBody>
      </p:sp>
      <p:sp>
        <p:nvSpPr>
          <p:cNvPr id="44" name="Freeform 44"/>
          <p:cNvSpPr/>
          <p:nvPr/>
        </p:nvSpPr>
        <p:spPr>
          <a:xfrm>
            <a:off x="6057900" y="3543300"/>
            <a:ext cx="5372100" cy="533400"/>
          </a:xfrm>
          <a:custGeom>
            <a:avLst/>
            <a:gdLst/>
            <a:ahLst/>
            <a:cxnLst/>
            <a:rect l="l" t="t" r="r" b="b"/>
            <a:pathLst>
              <a:path w="5372100" h="533400">
                <a:moveTo>
                  <a:pt x="38100" y="0"/>
                </a:moveTo>
                <a:lnTo>
                  <a:pt x="5334000" y="0"/>
                </a:lnTo>
                <a:cubicBezTo>
                  <a:pt x="5355042" y="0"/>
                  <a:pt x="5372100" y="17058"/>
                  <a:pt x="5372100" y="38100"/>
                </a:cubicBezTo>
                <a:lnTo>
                  <a:pt x="5372100" y="495300"/>
                </a:lnTo>
                <a:cubicBezTo>
                  <a:pt x="5372100" y="516342"/>
                  <a:pt x="5355042" y="533400"/>
                  <a:pt x="5334000" y="533400"/>
                </a:cubicBezTo>
                <a:lnTo>
                  <a:pt x="38100" y="533400"/>
                </a:lnTo>
                <a:cubicBezTo>
                  <a:pt x="17058" y="533400"/>
                  <a:pt x="0" y="516342"/>
                  <a:pt x="0" y="4953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4EC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7280877" y="3634264"/>
            <a:ext cx="292614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DE3545"/>
                </a:solidFill>
                <a:latin typeface="Consolas"/>
                <a:ea typeface="Microsoft YaHei"/>
                <a:cs typeface="Consolas"/>
              </a:rPr>
              <a:t>c_n = 8√15 / (nπ)³，当 n 为奇数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65638" y="3879056"/>
            <a:ext cx="155662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（n = 1, 3, 5, ...）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1377612" y="3424238"/>
            <a:ext cx="257175" cy="257175"/>
            <a:chOff x="11377612" y="3424238"/>
            <a:chExt cx="257175" cy="257175"/>
          </a:xfrm>
        </p:grpSpPr>
        <p:sp>
          <p:nvSpPr>
            <p:cNvPr id="47" name="Freeform 47"/>
            <p:cNvSpPr/>
            <p:nvPr/>
          </p:nvSpPr>
          <p:spPr>
            <a:xfrm>
              <a:off x="11377612" y="3424238"/>
              <a:ext cx="257175" cy="257175"/>
            </a:xfrm>
            <a:custGeom>
              <a:avLst/>
              <a:gdLst/>
              <a:ahLst/>
              <a:cxnLst/>
              <a:rect l="l" t="t" r="r" b="b"/>
              <a:pathLst>
                <a:path w="257175" h="257175">
                  <a:moveTo>
                    <a:pt x="0" y="128588"/>
                  </a:moveTo>
                  <a:cubicBezTo>
                    <a:pt x="0" y="199604"/>
                    <a:pt x="57571" y="257175"/>
                    <a:pt x="128588" y="257175"/>
                  </a:cubicBezTo>
                  <a:cubicBezTo>
                    <a:pt x="199604" y="257175"/>
                    <a:pt x="257175" y="199604"/>
                    <a:pt x="257175" y="128588"/>
                  </a:cubicBezTo>
                  <a:cubicBezTo>
                    <a:pt x="257175" y="57571"/>
                    <a:pt x="199604" y="0"/>
                    <a:pt x="128588" y="0"/>
                  </a:cubicBezTo>
                  <a:cubicBezTo>
                    <a:pt x="57571" y="0"/>
                    <a:pt x="0" y="57571"/>
                    <a:pt x="0" y="128588"/>
                  </a:cubicBezTo>
                </a:path>
              </a:pathLst>
            </a:custGeom>
            <a:noFill/>
            <a:ln w="9525">
              <a:solidFill>
                <a:srgbClr val="4CAF7D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1463338" y="3524250"/>
              <a:ext cx="85725" cy="57150"/>
            </a:xfrm>
            <a:custGeom>
              <a:avLst/>
              <a:gdLst/>
              <a:ahLst/>
              <a:cxnLst/>
              <a:rect l="l" t="t" r="r" b="b"/>
              <a:pathLst>
                <a:path w="85725" h="57150">
                  <a:moveTo>
                    <a:pt x="0" y="28575"/>
                  </a:moveTo>
                  <a:lnTo>
                    <a:pt x="28575" y="57150"/>
                  </a:lnTo>
                  <a:lnTo>
                    <a:pt x="85725" y="0"/>
                  </a:lnTo>
                </a:path>
              </a:pathLst>
            </a:custGeom>
            <a:noFill/>
            <a:ln w="9525">
              <a:solidFill>
                <a:srgbClr val="4CAF7D"/>
              </a:solidFill>
            </a:ln>
          </p:spPr>
        </p:sp>
      </p:grpSp>
      <p:sp>
        <p:nvSpPr>
          <p:cNvPr id="50" name="Freeform 50"/>
          <p:cNvSpPr/>
          <p:nvPr/>
        </p:nvSpPr>
        <p:spPr>
          <a:xfrm>
            <a:off x="571500" y="4324350"/>
            <a:ext cx="11049000" cy="1047750"/>
          </a:xfrm>
          <a:custGeom>
            <a:avLst/>
            <a:gdLst/>
            <a:ahLst/>
            <a:cxnLst/>
            <a:rect l="l" t="t" r="r" b="b"/>
            <a:pathLst>
              <a:path w="11049000" h="10477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971550"/>
                </a:lnTo>
                <a:cubicBezTo>
                  <a:pt x="11049000" y="1013634"/>
                  <a:pt x="11014884" y="1047750"/>
                  <a:pt x="1097280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0F1"/>
          </a:solidFill>
          <a:ln w="19050">
            <a:solidFill>
              <a:srgbClr val="DE3545"/>
            </a:solidFill>
          </a:ln>
        </p:spPr>
      </p:sp>
      <p:sp>
        <p:nvSpPr>
          <p:cNvPr id="51" name="Freeform 51"/>
          <p:cNvSpPr/>
          <p:nvPr/>
        </p:nvSpPr>
        <p:spPr>
          <a:xfrm>
            <a:off x="571500" y="4324350"/>
            <a:ext cx="76200" cy="1047750"/>
          </a:xfrm>
          <a:custGeom>
            <a:avLst/>
            <a:gdLst/>
            <a:ahLst/>
            <a:cxnLst/>
            <a:rect l="l" t="t" r="r" b="b"/>
            <a:pathLst>
              <a:path w="76200" h="104775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1009650"/>
                </a:lnTo>
                <a:cubicBezTo>
                  <a:pt x="76200" y="1030692"/>
                  <a:pt x="59142" y="1047750"/>
                  <a:pt x="38100" y="1047750"/>
                </a:cubicBezTo>
                <a:lnTo>
                  <a:pt x="38100" y="1047750"/>
                </a:lnTo>
                <a:cubicBezTo>
                  <a:pt x="17058" y="1047750"/>
                  <a:pt x="0" y="1030692"/>
                  <a:pt x="0" y="1009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grpSp>
        <p:nvGrpSpPr>
          <p:cNvPr id="56" name="Group 56"/>
          <p:cNvGrpSpPr/>
          <p:nvPr/>
        </p:nvGrpSpPr>
        <p:grpSpPr>
          <a:xfrm>
            <a:off x="812800" y="4513522"/>
            <a:ext cx="200025" cy="233103"/>
            <a:chOff x="812800" y="4513522"/>
            <a:chExt cx="200025" cy="233103"/>
          </a:xfrm>
        </p:grpSpPr>
        <p:sp>
          <p:nvSpPr>
            <p:cNvPr id="52" name="Freeform 52"/>
            <p:cNvSpPr/>
            <p:nvPr/>
          </p:nvSpPr>
          <p:spPr>
            <a:xfrm>
              <a:off x="812800" y="4513522"/>
              <a:ext cx="198178" cy="198178"/>
            </a:xfrm>
            <a:custGeom>
              <a:avLst/>
              <a:gdLst/>
              <a:ahLst/>
              <a:cxnLst/>
              <a:rect l="l" t="t" r="r" b="b"/>
              <a:pathLst>
                <a:path w="198178" h="198178">
                  <a:moveTo>
                    <a:pt x="0" y="198178"/>
                  </a:moveTo>
                  <a:lnTo>
                    <a:pt x="50800" y="198178"/>
                  </a:lnTo>
                  <a:lnTo>
                    <a:pt x="184150" y="64828"/>
                  </a:lnTo>
                  <a:cubicBezTo>
                    <a:pt x="198178" y="50800"/>
                    <a:pt x="198178" y="28056"/>
                    <a:pt x="184150" y="14028"/>
                  </a:cubicBezTo>
                  <a:cubicBezTo>
                    <a:pt x="170122" y="0"/>
                    <a:pt x="147378" y="0"/>
                    <a:pt x="133350" y="14028"/>
                  </a:cubicBezTo>
                  <a:lnTo>
                    <a:pt x="0" y="147378"/>
                  </a:lnTo>
                  <a:lnTo>
                    <a:pt x="0" y="198178"/>
                  </a:lnTo>
                </a:path>
              </a:pathLst>
            </a:custGeom>
            <a:noFill/>
            <a:ln w="9525">
              <a:solidFill>
                <a:srgbClr val="DE3545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933450" y="454025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50800" y="50800"/>
                  </a:lnTo>
                </a:path>
              </a:pathLst>
            </a:custGeom>
            <a:noFill/>
            <a:ln w="9525">
              <a:solidFill>
                <a:srgbClr val="DE3545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1003300" y="4660900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9525">
              <a:solidFill>
                <a:srgbClr val="DE3545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1003300" y="47371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127"/>
                  </a:lnTo>
                </a:path>
              </a:pathLst>
            </a:custGeom>
            <a:noFill/>
            <a:ln w="9525">
              <a:solidFill>
                <a:srgbClr val="DE3545"/>
              </a:solidFill>
            </a:ln>
          </p:spPr>
        </p:sp>
      </p:grpSp>
      <p:sp>
        <p:nvSpPr>
          <p:cNvPr id="57" name="TextBox 57"/>
          <p:cNvSpPr txBox="1"/>
          <p:nvPr/>
        </p:nvSpPr>
        <p:spPr>
          <a:xfrm>
            <a:off x="1182052" y="4494371"/>
            <a:ext cx="156588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【易错点提醒】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43902" y="4799171"/>
            <a:ext cx="588440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易错1：</a:t>
            </a:r>
            <a:r>
              <a:rPr lang="zh-CN" sz="1425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量子数 n 从 1 开始，不是 0！n=0 时 ψ=0，无物理意义。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43902" y="5084921"/>
            <a:ext cx="689379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易错2：</a:t>
            </a:r>
            <a:r>
              <a:rPr lang="zh-CN" sz="1425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c_n 不是概率，|c_n|² 才是测量得到 E_n 的概率，且 Σ|c_n|² = 1。</a:t>
            </a:r>
          </a:p>
        </p:txBody>
      </p:sp>
      <p:sp>
        <p:nvSpPr>
          <p:cNvPr id="60" name="Freeform 60"/>
          <p:cNvSpPr/>
          <p:nvPr/>
        </p:nvSpPr>
        <p:spPr>
          <a:xfrm>
            <a:off x="571500" y="5505450"/>
            <a:ext cx="11049000" cy="685800"/>
          </a:xfrm>
          <a:custGeom>
            <a:avLst/>
            <a:gdLst/>
            <a:ahLst/>
            <a:cxnLst/>
            <a:rect l="l" t="t" r="r" b="b"/>
            <a:pathLst>
              <a:path w="11049000" h="6858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609600"/>
                </a:lnTo>
                <a:cubicBezTo>
                  <a:pt x="11049000" y="651684"/>
                  <a:pt x="11014884" y="685800"/>
                  <a:pt x="10972800" y="685800"/>
                </a:cubicBezTo>
                <a:lnTo>
                  <a:pt x="76200" y="685800"/>
                </a:lnTo>
                <a:cubicBezTo>
                  <a:pt x="34116" y="685800"/>
                  <a:pt x="0" y="651684"/>
                  <a:pt x="0" y="609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DFAF3"/>
          </a:solidFill>
          <a:ln w="14288">
            <a:solidFill>
              <a:srgbClr val="4CAF7D">
                <a:alpha val="50000"/>
              </a:srgbClr>
            </a:solidFill>
          </a:ln>
        </p:spPr>
      </p:sp>
      <p:grpSp>
        <p:nvGrpSpPr>
          <p:cNvPr id="63" name="Group 63"/>
          <p:cNvGrpSpPr/>
          <p:nvPr/>
        </p:nvGrpSpPr>
        <p:grpSpPr>
          <a:xfrm>
            <a:off x="795338" y="5691188"/>
            <a:ext cx="200025" cy="200025"/>
            <a:chOff x="795338" y="5691188"/>
            <a:chExt cx="200025" cy="200025"/>
          </a:xfrm>
        </p:grpSpPr>
        <p:sp>
          <p:nvSpPr>
            <p:cNvPr id="61" name="Freeform 61"/>
            <p:cNvSpPr/>
            <p:nvPr/>
          </p:nvSpPr>
          <p:spPr>
            <a:xfrm>
              <a:off x="795338" y="5691188"/>
              <a:ext cx="200025" cy="200025"/>
            </a:xfrm>
            <a:custGeom>
              <a:avLst/>
              <a:gdLst/>
              <a:ahLst/>
              <a:cxnLst/>
              <a:rect l="l" t="t" r="r" b="b"/>
              <a:pathLst>
                <a:path w="200025" h="200025">
                  <a:moveTo>
                    <a:pt x="0" y="100012"/>
                  </a:moveTo>
                  <a:cubicBezTo>
                    <a:pt x="0" y="155248"/>
                    <a:pt x="44777" y="200025"/>
                    <a:pt x="100012" y="200025"/>
                  </a:cubicBezTo>
                  <a:cubicBezTo>
                    <a:pt x="155248" y="200025"/>
                    <a:pt x="200025" y="155248"/>
                    <a:pt x="200025" y="100012"/>
                  </a:cubicBezTo>
                  <a:cubicBezTo>
                    <a:pt x="200025" y="44777"/>
                    <a:pt x="155248" y="0"/>
                    <a:pt x="100012" y="0"/>
                  </a:cubicBezTo>
                  <a:cubicBezTo>
                    <a:pt x="44777" y="0"/>
                    <a:pt x="0" y="44777"/>
                    <a:pt x="0" y="100012"/>
                  </a:cubicBezTo>
                </a:path>
              </a:pathLst>
            </a:custGeom>
            <a:noFill/>
            <a:ln w="9525">
              <a:solidFill>
                <a:srgbClr val="4CAF7D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862012" y="5768975"/>
              <a:ext cx="66675" cy="44450"/>
            </a:xfrm>
            <a:custGeom>
              <a:avLst/>
              <a:gdLst/>
              <a:ahLst/>
              <a:cxnLst/>
              <a:rect l="l" t="t" r="r" b="b"/>
              <a:pathLst>
                <a:path w="66675" h="44450">
                  <a:moveTo>
                    <a:pt x="0" y="22225"/>
                  </a:moveTo>
                  <a:lnTo>
                    <a:pt x="22225" y="44450"/>
                  </a:lnTo>
                  <a:lnTo>
                    <a:pt x="66675" y="0"/>
                  </a:lnTo>
                </a:path>
              </a:pathLst>
            </a:custGeom>
            <a:noFill/>
            <a:ln w="9525">
              <a:solidFill>
                <a:srgbClr val="4CAF7D"/>
              </a:solidFill>
            </a:ln>
          </p:spPr>
        </p:sp>
      </p:grpSp>
      <p:sp>
        <p:nvSpPr>
          <p:cNvPr id="64" name="TextBox 64"/>
          <p:cNvSpPr txBox="1"/>
          <p:nvPr/>
        </p:nvSpPr>
        <p:spPr>
          <a:xfrm>
            <a:off x="1144905" y="566451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4CAF7D"/>
                </a:solidFill>
                <a:latin typeface="Arial"/>
                <a:ea typeface="Microsoft YaHei"/>
                <a:cs typeface="Arial"/>
              </a:rPr>
              <a:t>时间演化：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45858" y="5939314"/>
            <a:ext cx="571190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D3530"/>
                </a:solidFill>
                <a:latin typeface="Consolas"/>
                <a:ea typeface="Microsoft YaHei"/>
                <a:cs typeface="Consolas"/>
              </a:rPr>
              <a:t>Ψ(x,t) = Σ c_n · ψ_n(x) · e^(-iE_n t/ℏ) （叠加态，不是定态！）</a:t>
            </a:r>
          </a:p>
        </p:txBody>
      </p:sp>
      <p:sp>
        <p:nvSpPr>
          <p:cNvPr id="66" name="Rectangle 6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3D3530">
              <a:alpha val="6000"/>
            </a:srgbClr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559118" y="6647974"/>
            <a:ext cx="26093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9E98"/>
                </a:solidFill>
                <a:latin typeface="Arial"/>
                <a:ea typeface="Microsoft YaHei"/>
                <a:cs typeface="Arial"/>
              </a:rPr>
              <a:t>量子力学基础 · 定态与一维无限深方势阱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1487079" y="6647974"/>
            <a:ext cx="1458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E98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742950"/>
            <a:ext cx="12192000" cy="28575"/>
          </a:xfrm>
          <a:prstGeom prst="rect">
            <a:avLst/>
          </a:prstGeom>
          <a:gradFill>
            <a:gsLst>
              <a:gs pos="0">
                <a:srgbClr val="DE3545"/>
              </a:gs>
              <a:gs pos="100000">
                <a:srgbClr val="E8834A"/>
              </a:gs>
            </a:gsLst>
            <a:lin ang="0" scaled="1"/>
          </a:gra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11239500" y="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0" y="0"/>
                </a:moveTo>
                <a:lnTo>
                  <a:pt x="952500" y="0"/>
                </a:lnTo>
                <a:lnTo>
                  <a:pt x="952500" y="762000"/>
                </a:lnTo>
                <a:close/>
              </a:path>
            </a:pathLst>
          </a:custGeom>
          <a:solidFill>
            <a:srgbClr val="DE3545">
              <a:alpha val="12000"/>
            </a:srgbClr>
          </a:solidFill>
          <a:ln>
            <a:noFill/>
          </a:ln>
        </p:spPr>
      </p:sp>
      <p:sp>
        <p:nvSpPr>
          <p:cNvPr id="6" name="Polygon 6"/>
          <p:cNvSpPr/>
          <p:nvPr/>
        </p:nvSpPr>
        <p:spPr>
          <a:xfrm>
            <a:off x="571500" y="190500"/>
            <a:ext cx="114300" cy="285750"/>
          </a:xfrm>
          <a:custGeom>
            <a:avLst/>
            <a:gdLst/>
            <a:ahLst/>
            <a:cxnLst/>
            <a:rect l="l" t="t" r="r" b="b"/>
            <a:pathLst>
              <a:path w="114300" h="285750">
                <a:moveTo>
                  <a:pt x="0" y="0"/>
                </a:moveTo>
                <a:lnTo>
                  <a:pt x="1143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7" name="Polygon 7"/>
          <p:cNvSpPr/>
          <p:nvPr/>
        </p:nvSpPr>
        <p:spPr>
          <a:xfrm>
            <a:off x="742950" y="190500"/>
            <a:ext cx="114300" cy="285750"/>
          </a:xfrm>
          <a:custGeom>
            <a:avLst/>
            <a:gdLst/>
            <a:ahLst/>
            <a:cxnLst/>
            <a:rect l="l" t="t" r="r" b="b"/>
            <a:pathLst>
              <a:path w="114300" h="285750">
                <a:moveTo>
                  <a:pt x="0" y="0"/>
                </a:moveTo>
                <a:lnTo>
                  <a:pt x="1143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E8834A">
              <a:alpha val="6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23925" y="252412"/>
            <a:ext cx="385262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课堂练习：请同学们思考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474450" y="258762"/>
            <a:ext cx="141021" cy="254000"/>
            <a:chOff x="11474450" y="258762"/>
            <a:chExt cx="141021" cy="254000"/>
          </a:xfrm>
        </p:grpSpPr>
        <p:sp>
          <p:nvSpPr>
            <p:cNvPr id="9" name="Freeform 9"/>
            <p:cNvSpPr/>
            <p:nvPr/>
          </p:nvSpPr>
          <p:spPr>
            <a:xfrm>
              <a:off x="11474450" y="258762"/>
              <a:ext cx="141021" cy="174625"/>
            </a:xfrm>
            <a:custGeom>
              <a:avLst/>
              <a:gdLst/>
              <a:ahLst/>
              <a:cxnLst/>
              <a:rect l="l" t="t" r="r" b="b"/>
              <a:pathLst>
                <a:path w="141021" h="174625">
                  <a:moveTo>
                    <a:pt x="0" y="52388"/>
                  </a:moveTo>
                  <a:cubicBezTo>
                    <a:pt x="0" y="23455"/>
                    <a:pt x="27364" y="0"/>
                    <a:pt x="61119" y="0"/>
                  </a:cubicBezTo>
                  <a:lnTo>
                    <a:pt x="78581" y="0"/>
                  </a:lnTo>
                  <a:cubicBezTo>
                    <a:pt x="112336" y="0"/>
                    <a:pt x="139700" y="23455"/>
                    <a:pt x="139700" y="52388"/>
                  </a:cubicBezTo>
                  <a:cubicBezTo>
                    <a:pt x="141021" y="75678"/>
                    <a:pt x="126782" y="97036"/>
                    <a:pt x="104775" y="104775"/>
                  </a:cubicBezTo>
                  <a:cubicBezTo>
                    <a:pt x="82768" y="115093"/>
                    <a:pt x="68529" y="143571"/>
                    <a:pt x="69850" y="174625"/>
                  </a:cubicBezTo>
                </a:path>
              </a:pathLst>
            </a:custGeom>
            <a:noFill/>
            <a:ln w="9525">
              <a:solidFill>
                <a:srgbClr val="4CAF7D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1544300" y="503237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175"/>
                  </a:lnTo>
                </a:path>
              </a:pathLst>
            </a:custGeom>
            <a:noFill/>
            <a:ln w="9525">
              <a:solidFill>
                <a:srgbClr val="4CAF7D"/>
              </a:solidFill>
            </a:ln>
          </p:spPr>
        </p:sp>
      </p:grpSp>
      <p:sp>
        <p:nvSpPr>
          <p:cNvPr id="12" name="Freeform 12"/>
          <p:cNvSpPr/>
          <p:nvPr/>
        </p:nvSpPr>
        <p:spPr>
          <a:xfrm>
            <a:off x="571500" y="876300"/>
            <a:ext cx="11049000" cy="457200"/>
          </a:xfrm>
          <a:custGeom>
            <a:avLst/>
            <a:gdLst/>
            <a:ahLst/>
            <a:cxnLst/>
            <a:rect l="l" t="t" r="r" b="b"/>
            <a:pathLst>
              <a:path w="11049000" h="4572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381000"/>
                </a:lnTo>
                <a:cubicBezTo>
                  <a:pt x="11049000" y="423084"/>
                  <a:pt x="11014884" y="457200"/>
                  <a:pt x="10972800" y="457200"/>
                </a:cubicBezTo>
                <a:lnTo>
                  <a:pt x="76200" y="457200"/>
                </a:lnTo>
                <a:cubicBezTo>
                  <a:pt x="34116" y="457200"/>
                  <a:pt x="0" y="423084"/>
                  <a:pt x="0" y="3810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CAF7D">
              <a:alpha val="12000"/>
            </a:srgbClr>
          </a:solidFill>
          <a:ln w="14288">
            <a:solidFill>
              <a:srgbClr val="4CAF7D">
                <a:alpha val="40000"/>
              </a:srgbClr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111394" y="1008221"/>
            <a:ext cx="596921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4CAF7D"/>
                </a:solidFill>
                <a:latin typeface="Arial"/>
                <a:ea typeface="Microsoft YaHei"/>
                <a:cs typeface="Arial"/>
              </a:rPr>
              <a:t>请先独立思考 2 分钟，再与同桌讨论，最后我们一起来看答案</a:t>
            </a:r>
          </a:p>
        </p:txBody>
      </p:sp>
      <p:sp>
        <p:nvSpPr>
          <p:cNvPr id="14" name="Freeform 14"/>
          <p:cNvSpPr/>
          <p:nvPr/>
        </p:nvSpPr>
        <p:spPr>
          <a:xfrm>
            <a:off x="571500" y="1466850"/>
            <a:ext cx="11049000" cy="2286000"/>
          </a:xfrm>
          <a:custGeom>
            <a:avLst/>
            <a:gdLst/>
            <a:ahLst/>
            <a:cxnLst/>
            <a:rect l="l" t="t" r="r" b="b"/>
            <a:pathLst>
              <a:path w="11049000" h="228600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2190750"/>
                </a:lnTo>
                <a:cubicBezTo>
                  <a:pt x="11049000" y="2243355"/>
                  <a:pt x="11006355" y="2286000"/>
                  <a:pt x="1095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gradFill>
            <a:gsLst>
              <a:gs pos="0">
                <a:srgbClr val="EDFAF3"/>
              </a:gs>
              <a:gs pos="100000">
                <a:srgbClr val="F5FDF8"/>
              </a:gs>
            </a:gsLst>
            <a:lin ang="5400000" scaled="1"/>
          </a:gradFill>
          <a:ln w="19050">
            <a:solidFill>
              <a:srgbClr val="4CAF7D"/>
            </a:solidFill>
          </a:ln>
        </p:spPr>
      </p:sp>
      <p:sp>
        <p:nvSpPr>
          <p:cNvPr id="15" name="Freeform 15"/>
          <p:cNvSpPr/>
          <p:nvPr/>
        </p:nvSpPr>
        <p:spPr>
          <a:xfrm>
            <a:off x="571500" y="1466850"/>
            <a:ext cx="76200" cy="2286000"/>
          </a:xfrm>
          <a:custGeom>
            <a:avLst/>
            <a:gdLst/>
            <a:ahLst/>
            <a:cxnLst/>
            <a:rect l="l" t="t" r="r" b="b"/>
            <a:pathLst>
              <a:path w="76200" h="22860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2247900"/>
                </a:lnTo>
                <a:cubicBezTo>
                  <a:pt x="76200" y="2268942"/>
                  <a:pt x="59142" y="2286000"/>
                  <a:pt x="38100" y="2286000"/>
                </a:cubicBezTo>
                <a:lnTo>
                  <a:pt x="38100" y="2286000"/>
                </a:lnTo>
                <a:cubicBezTo>
                  <a:pt x="17058" y="2286000"/>
                  <a:pt x="0" y="2268942"/>
                  <a:pt x="0" y="2247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4CAF7D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742950" y="1600200"/>
            <a:ext cx="419100" cy="419100"/>
          </a:xfrm>
          <a:prstGeom prst="ellipse">
            <a:avLst/>
          </a:prstGeom>
          <a:solidFill>
            <a:srgbClr val="4CAF7D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26666" y="1730692"/>
            <a:ext cx="2516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Q1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14450" y="1600200"/>
            <a:ext cx="18783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叠加态的能量测量</a:t>
            </a:r>
          </a:p>
        </p:txBody>
      </p:sp>
      <p:sp>
        <p:nvSpPr>
          <p:cNvPr id="19" name="Freeform 19"/>
          <p:cNvSpPr/>
          <p:nvPr/>
        </p:nvSpPr>
        <p:spPr>
          <a:xfrm>
            <a:off x="762000" y="1924050"/>
            <a:ext cx="10668000" cy="685800"/>
          </a:xfrm>
          <a:custGeom>
            <a:avLst/>
            <a:gdLst/>
            <a:ahLst/>
            <a:cxnLst/>
            <a:rect l="l" t="t" r="r" b="b"/>
            <a:pathLst>
              <a:path w="10668000" h="685800">
                <a:moveTo>
                  <a:pt x="57150" y="0"/>
                </a:moveTo>
                <a:lnTo>
                  <a:pt x="10610850" y="0"/>
                </a:lnTo>
                <a:cubicBezTo>
                  <a:pt x="10642413" y="0"/>
                  <a:pt x="10668000" y="25587"/>
                  <a:pt x="10668000" y="57150"/>
                </a:cubicBezTo>
                <a:lnTo>
                  <a:pt x="10668000" y="628650"/>
                </a:lnTo>
                <a:cubicBezTo>
                  <a:pt x="10668000" y="660213"/>
                  <a:pt x="10642413" y="685800"/>
                  <a:pt x="10610850" y="685800"/>
                </a:cubicBezTo>
                <a:lnTo>
                  <a:pt x="57150" y="685800"/>
                </a:lnTo>
                <a:cubicBezTo>
                  <a:pt x="25587" y="685800"/>
                  <a:pt x="0" y="660213"/>
                  <a:pt x="0" y="628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141357" y="2017871"/>
            <a:ext cx="190928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若粒子处于叠加态：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94540" y="2295525"/>
            <a:ext cx="260292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E86AB"/>
                </a:solidFill>
                <a:latin typeface="Consolas"/>
                <a:ea typeface="Microsoft YaHei"/>
                <a:cs typeface="Consolas"/>
              </a:rPr>
              <a:t>Ψ = (1/√2)ψ₁ + (1/√2)ψ₂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3902" y="2722721"/>
            <a:ext cx="2710553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① 测量能量可能得到哪些值？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3902" y="3008471"/>
            <a:ext cx="321004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② 得到 E₁ 和 E₂ 的概率各是多少？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5808" y="3310414"/>
            <a:ext cx="290007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（提示：回顾 |c_n|² 的物理意义）</a:t>
            </a:r>
          </a:p>
        </p:txBody>
      </p:sp>
      <p:sp>
        <p:nvSpPr>
          <p:cNvPr id="25" name="Freeform 25"/>
          <p:cNvSpPr/>
          <p:nvPr/>
        </p:nvSpPr>
        <p:spPr>
          <a:xfrm>
            <a:off x="8572500" y="2857500"/>
            <a:ext cx="2857500" cy="685800"/>
          </a:xfrm>
          <a:custGeom>
            <a:avLst/>
            <a:gdLst/>
            <a:ahLst/>
            <a:cxnLst/>
            <a:rect l="l" t="t" r="r" b="b"/>
            <a:pathLst>
              <a:path w="2857500" h="685800">
                <a:moveTo>
                  <a:pt x="57150" y="0"/>
                </a:moveTo>
                <a:lnTo>
                  <a:pt x="2800350" y="0"/>
                </a:lnTo>
                <a:cubicBezTo>
                  <a:pt x="2831913" y="0"/>
                  <a:pt x="2857500" y="25587"/>
                  <a:pt x="2857500" y="57150"/>
                </a:cubicBezTo>
                <a:lnTo>
                  <a:pt x="2857500" y="628650"/>
                </a:lnTo>
                <a:cubicBezTo>
                  <a:pt x="2857500" y="660213"/>
                  <a:pt x="2831913" y="685800"/>
                  <a:pt x="2800350" y="685800"/>
                </a:cubicBezTo>
                <a:lnTo>
                  <a:pt x="57150" y="685800"/>
                </a:lnTo>
                <a:cubicBezTo>
                  <a:pt x="25587" y="685800"/>
                  <a:pt x="0" y="660213"/>
                  <a:pt x="0" y="628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4CAF7D">
              <a:alpha val="10000"/>
            </a:srgbClr>
          </a:solidFill>
          <a:ln w="9525">
            <a:solidFill>
              <a:srgbClr val="4CAF7D"/>
            </a:solidFill>
            <a:custDash>
              <a:ds d="400000" sp="300000"/>
            </a:custDash>
          </a:ln>
        </p:spPr>
      </p:sp>
      <p:sp>
        <p:nvSpPr>
          <p:cNvPr id="26" name="TextBox 26"/>
          <p:cNvSpPr txBox="1"/>
          <p:nvPr/>
        </p:nvSpPr>
        <p:spPr>
          <a:xfrm>
            <a:off x="9547860" y="299466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4CAF7D"/>
                </a:solidFill>
                <a:latin typeface="Arial"/>
                <a:ea typeface="Microsoft YaHei"/>
                <a:cs typeface="Arial"/>
              </a:rPr>
              <a:t>答案提示：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49144" y="3223260"/>
            <a:ext cx="17042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4CAF7D"/>
                </a:solidFill>
                <a:latin typeface="Consolas"/>
                <a:ea typeface="Microsoft YaHei"/>
                <a:cs typeface="Consolas"/>
              </a:rPr>
              <a:t>P(E₁) = |1/√2|² = 1/2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149144" y="3413760"/>
            <a:ext cx="17042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4CAF7D"/>
                </a:solidFill>
                <a:latin typeface="Consolas"/>
                <a:ea typeface="Microsoft YaHei"/>
                <a:cs typeface="Consolas"/>
              </a:rPr>
              <a:t>P(E₂) = |1/√2|² = 1/2</a:t>
            </a:r>
          </a:p>
        </p:txBody>
      </p:sp>
      <p:sp>
        <p:nvSpPr>
          <p:cNvPr id="29" name="Freeform 29"/>
          <p:cNvSpPr/>
          <p:nvPr/>
        </p:nvSpPr>
        <p:spPr>
          <a:xfrm>
            <a:off x="571500" y="3886200"/>
            <a:ext cx="11049000" cy="2190750"/>
          </a:xfrm>
          <a:custGeom>
            <a:avLst/>
            <a:gdLst/>
            <a:ahLst/>
            <a:cxnLst/>
            <a:rect l="l" t="t" r="r" b="b"/>
            <a:pathLst>
              <a:path w="11049000" h="219075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2095500"/>
                </a:lnTo>
                <a:cubicBezTo>
                  <a:pt x="11049000" y="2148105"/>
                  <a:pt x="11006355" y="2190750"/>
                  <a:pt x="10953750" y="2190750"/>
                </a:cubicBezTo>
                <a:lnTo>
                  <a:pt x="95250" y="2190750"/>
                </a:lnTo>
                <a:cubicBezTo>
                  <a:pt x="42645" y="2190750"/>
                  <a:pt x="0" y="2148105"/>
                  <a:pt x="0" y="2095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gradFill>
            <a:gsLst>
              <a:gs pos="0">
                <a:srgbClr val="EEF6FF"/>
              </a:gs>
              <a:gs pos="100000">
                <a:srgbClr val="F5FAFF"/>
              </a:gs>
            </a:gsLst>
            <a:lin ang="5400000" scaled="1"/>
          </a:gradFill>
          <a:ln w="19050">
            <a:solidFill>
              <a:srgbClr val="2E86AB"/>
            </a:solidFill>
          </a:ln>
        </p:spPr>
      </p:sp>
      <p:sp>
        <p:nvSpPr>
          <p:cNvPr id="30" name="Freeform 30"/>
          <p:cNvSpPr/>
          <p:nvPr/>
        </p:nvSpPr>
        <p:spPr>
          <a:xfrm>
            <a:off x="571500" y="3886200"/>
            <a:ext cx="76200" cy="2190750"/>
          </a:xfrm>
          <a:custGeom>
            <a:avLst/>
            <a:gdLst/>
            <a:ahLst/>
            <a:cxnLst/>
            <a:rect l="l" t="t" r="r" b="b"/>
            <a:pathLst>
              <a:path w="76200" h="219075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2152650"/>
                </a:lnTo>
                <a:cubicBezTo>
                  <a:pt x="76200" y="2173692"/>
                  <a:pt x="59142" y="2190750"/>
                  <a:pt x="38100" y="2190750"/>
                </a:cubicBezTo>
                <a:lnTo>
                  <a:pt x="38100" y="2190750"/>
                </a:lnTo>
                <a:cubicBezTo>
                  <a:pt x="17058" y="2190750"/>
                  <a:pt x="0" y="2173692"/>
                  <a:pt x="0" y="2152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2E86AB"/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742950" y="4019550"/>
            <a:ext cx="419100" cy="4191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00788" y="4150042"/>
            <a:ext cx="30342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Q2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14450" y="4019550"/>
            <a:ext cx="233838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势阱宽度与能量的关系</a:t>
            </a:r>
          </a:p>
        </p:txBody>
      </p:sp>
      <p:sp>
        <p:nvSpPr>
          <p:cNvPr id="34" name="Freeform 34"/>
          <p:cNvSpPr/>
          <p:nvPr/>
        </p:nvSpPr>
        <p:spPr>
          <a:xfrm>
            <a:off x="762000" y="4343400"/>
            <a:ext cx="10668000" cy="457200"/>
          </a:xfrm>
          <a:custGeom>
            <a:avLst/>
            <a:gdLst/>
            <a:ahLst/>
            <a:cxnLst/>
            <a:rect l="l" t="t" r="r" b="b"/>
            <a:pathLst>
              <a:path w="10668000" h="457200">
                <a:moveTo>
                  <a:pt x="57150" y="0"/>
                </a:moveTo>
                <a:lnTo>
                  <a:pt x="10610850" y="0"/>
                </a:lnTo>
                <a:cubicBezTo>
                  <a:pt x="10642413" y="0"/>
                  <a:pt x="10668000" y="25587"/>
                  <a:pt x="10668000" y="57150"/>
                </a:cubicBezTo>
                <a:lnTo>
                  <a:pt x="10668000" y="400050"/>
                </a:lnTo>
                <a:cubicBezTo>
                  <a:pt x="10668000" y="431613"/>
                  <a:pt x="10642413" y="457200"/>
                  <a:pt x="10610850" y="457200"/>
                </a:cubicBezTo>
                <a:lnTo>
                  <a:pt x="57150" y="457200"/>
                </a:lnTo>
                <a:cubicBezTo>
                  <a:pt x="25587" y="457200"/>
                  <a:pt x="0" y="431613"/>
                  <a:pt x="0" y="4000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913442" y="4475321"/>
            <a:ext cx="436511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无限深方势阱中，基态能量 E₁ = π²ℏ²/(2ma²)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3902" y="4894421"/>
            <a:ext cx="469811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① 若势阱宽度 a 减小为原来的一半，E₁ 如何变化？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43902" y="5180171"/>
            <a:ext cx="499988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② 这说明了什么物理规律？（联系不确定性原理思考）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45808" y="5482114"/>
            <a:ext cx="352389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（提示：a → a/2，E₁ 变为原来的几倍？）</a:t>
            </a:r>
          </a:p>
        </p:txBody>
      </p:sp>
      <p:sp>
        <p:nvSpPr>
          <p:cNvPr id="39" name="Freeform 39"/>
          <p:cNvSpPr/>
          <p:nvPr/>
        </p:nvSpPr>
        <p:spPr>
          <a:xfrm>
            <a:off x="8572500" y="5048250"/>
            <a:ext cx="2857500" cy="533400"/>
          </a:xfrm>
          <a:custGeom>
            <a:avLst/>
            <a:gdLst/>
            <a:ahLst/>
            <a:cxnLst/>
            <a:rect l="l" t="t" r="r" b="b"/>
            <a:pathLst>
              <a:path w="2857500" h="533400">
                <a:moveTo>
                  <a:pt x="57150" y="0"/>
                </a:moveTo>
                <a:lnTo>
                  <a:pt x="2800350" y="0"/>
                </a:lnTo>
                <a:cubicBezTo>
                  <a:pt x="2831913" y="0"/>
                  <a:pt x="2857500" y="25587"/>
                  <a:pt x="2857500" y="57150"/>
                </a:cubicBezTo>
                <a:lnTo>
                  <a:pt x="2857500" y="476250"/>
                </a:lnTo>
                <a:cubicBezTo>
                  <a:pt x="2857500" y="507813"/>
                  <a:pt x="2831913" y="533400"/>
                  <a:pt x="2800350" y="533400"/>
                </a:cubicBezTo>
                <a:lnTo>
                  <a:pt x="57150" y="533400"/>
                </a:lnTo>
                <a:cubicBezTo>
                  <a:pt x="25587" y="533400"/>
                  <a:pt x="0" y="507813"/>
                  <a:pt x="0" y="4762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E86AB">
              <a:alpha val="10000"/>
            </a:srgbClr>
          </a:solidFill>
          <a:ln w="9525">
            <a:solidFill>
              <a:srgbClr val="2E86AB"/>
            </a:solidFill>
            <a:custDash>
              <a:ds d="400000" sp="300000"/>
            </a:custDash>
          </a:ln>
        </p:spPr>
      </p:sp>
      <p:sp>
        <p:nvSpPr>
          <p:cNvPr id="40" name="TextBox 40"/>
          <p:cNvSpPr txBox="1"/>
          <p:nvPr/>
        </p:nvSpPr>
        <p:spPr>
          <a:xfrm>
            <a:off x="9547860" y="514731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86AB"/>
                </a:solidFill>
                <a:latin typeface="Arial"/>
                <a:ea typeface="Microsoft YaHei"/>
                <a:cs typeface="Arial"/>
              </a:rPr>
              <a:t>答案提示：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236774" y="5356860"/>
            <a:ext cx="15289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86AB"/>
                </a:solidFill>
                <a:latin typeface="Consolas"/>
                <a:ea typeface="Microsoft YaHei"/>
                <a:cs typeface="Consolas"/>
              </a:rPr>
              <a:t>E₁ 变为原来的 4 倍</a:t>
            </a:r>
          </a:p>
        </p:txBody>
      </p:sp>
      <p:sp>
        <p:nvSpPr>
          <p:cNvPr id="42" name="Rectangle 42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3D3530">
              <a:alpha val="6000"/>
            </a:srgb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59118" y="6647974"/>
            <a:ext cx="26093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9E98"/>
                </a:solidFill>
                <a:latin typeface="Arial"/>
                <a:ea typeface="Microsoft YaHei"/>
                <a:cs typeface="Arial"/>
              </a:rPr>
              <a:t>量子力学基础 · 定态与一维无限深方势阱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522678" y="6647974"/>
            <a:ext cx="1102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E98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742950"/>
            <a:ext cx="12192000" cy="28575"/>
          </a:xfrm>
          <a:prstGeom prst="rect">
            <a:avLst/>
          </a:prstGeom>
          <a:gradFill>
            <a:gsLst>
              <a:gs pos="0">
                <a:srgbClr val="DE3545"/>
              </a:gs>
              <a:gs pos="100000">
                <a:srgbClr val="E8834A"/>
              </a:gs>
            </a:gsLst>
            <a:lin ang="0" scaled="1"/>
          </a:gra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11239500" y="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0" y="0"/>
                </a:moveTo>
                <a:lnTo>
                  <a:pt x="952500" y="0"/>
                </a:lnTo>
                <a:lnTo>
                  <a:pt x="952500" y="762000"/>
                </a:lnTo>
                <a:close/>
              </a:path>
            </a:pathLst>
          </a:custGeom>
          <a:solidFill>
            <a:srgbClr val="DE3545">
              <a:alpha val="12000"/>
            </a:srgbClr>
          </a:solidFill>
          <a:ln>
            <a:noFill/>
          </a:ln>
        </p:spPr>
      </p:sp>
      <p:sp>
        <p:nvSpPr>
          <p:cNvPr id="6" name="Polygon 6"/>
          <p:cNvSpPr/>
          <p:nvPr/>
        </p:nvSpPr>
        <p:spPr>
          <a:xfrm>
            <a:off x="571500" y="190500"/>
            <a:ext cx="114300" cy="285750"/>
          </a:xfrm>
          <a:custGeom>
            <a:avLst/>
            <a:gdLst/>
            <a:ahLst/>
            <a:cxnLst/>
            <a:rect l="l" t="t" r="r" b="b"/>
            <a:pathLst>
              <a:path w="114300" h="285750">
                <a:moveTo>
                  <a:pt x="0" y="0"/>
                </a:moveTo>
                <a:lnTo>
                  <a:pt x="1143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7" name="Polygon 7"/>
          <p:cNvSpPr/>
          <p:nvPr/>
        </p:nvSpPr>
        <p:spPr>
          <a:xfrm>
            <a:off x="742950" y="190500"/>
            <a:ext cx="114300" cy="285750"/>
          </a:xfrm>
          <a:custGeom>
            <a:avLst/>
            <a:gdLst/>
            <a:ahLst/>
            <a:cxnLst/>
            <a:rect l="l" t="t" r="r" b="b"/>
            <a:pathLst>
              <a:path w="114300" h="285750">
                <a:moveTo>
                  <a:pt x="0" y="0"/>
                </a:moveTo>
                <a:lnTo>
                  <a:pt x="1143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E8834A">
              <a:alpha val="6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23925" y="252412"/>
            <a:ext cx="143732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本讲小结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422062" y="241300"/>
            <a:ext cx="261938" cy="296862"/>
            <a:chOff x="11422062" y="241300"/>
            <a:chExt cx="261938" cy="296862"/>
          </a:xfrm>
        </p:grpSpPr>
        <p:sp>
          <p:nvSpPr>
            <p:cNvPr id="9" name="Freeform 9"/>
            <p:cNvSpPr/>
            <p:nvPr/>
          </p:nvSpPr>
          <p:spPr>
            <a:xfrm>
              <a:off x="11422062" y="241300"/>
              <a:ext cx="209550" cy="279400"/>
            </a:xfrm>
            <a:custGeom>
              <a:avLst/>
              <a:gdLst/>
              <a:ahLst/>
              <a:cxnLst/>
              <a:rect l="l" t="t" r="r" b="b"/>
              <a:pathLst>
                <a:path w="209550" h="279400">
                  <a:moveTo>
                    <a:pt x="80589" y="279400"/>
                  </a:moveTo>
                  <a:lnTo>
                    <a:pt x="34925" y="279400"/>
                  </a:lnTo>
                  <a:cubicBezTo>
                    <a:pt x="15636" y="279400"/>
                    <a:pt x="0" y="263764"/>
                    <a:pt x="0" y="244475"/>
                  </a:cubicBezTo>
                  <a:lnTo>
                    <a:pt x="0" y="34925"/>
                  </a:lnTo>
                  <a:cubicBezTo>
                    <a:pt x="0" y="15636"/>
                    <a:pt x="15636" y="0"/>
                    <a:pt x="34925" y="0"/>
                  </a:cubicBezTo>
                  <a:lnTo>
                    <a:pt x="174625" y="0"/>
                  </a:lnTo>
                  <a:cubicBezTo>
                    <a:pt x="193914" y="0"/>
                    <a:pt x="209550" y="15636"/>
                    <a:pt x="209550" y="34925"/>
                  </a:cubicBezTo>
                  <a:lnTo>
                    <a:pt x="209550" y="174625"/>
                  </a:lnTo>
                </a:path>
              </a:pathLst>
            </a:custGeom>
            <a:noFill/>
            <a:ln w="9525">
              <a:solidFill>
                <a:srgbClr val="DE354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1579225" y="468312"/>
              <a:ext cx="104775" cy="69850"/>
            </a:xfrm>
            <a:custGeom>
              <a:avLst/>
              <a:gdLst/>
              <a:ahLst/>
              <a:cxnLst/>
              <a:rect l="l" t="t" r="r" b="b"/>
              <a:pathLst>
                <a:path w="104775" h="69850">
                  <a:moveTo>
                    <a:pt x="0" y="34925"/>
                  </a:moveTo>
                  <a:lnTo>
                    <a:pt x="34925" y="69850"/>
                  </a:lnTo>
                  <a:lnTo>
                    <a:pt x="104775" y="0"/>
                  </a:lnTo>
                </a:path>
              </a:pathLst>
            </a:custGeom>
            <a:noFill/>
            <a:ln w="9525">
              <a:solidFill>
                <a:srgbClr val="DE354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1491912" y="311150"/>
              <a:ext cx="69850" cy="9525"/>
            </a:xfrm>
            <a:custGeom>
              <a:avLst/>
              <a:gdLst/>
              <a:ahLst/>
              <a:cxnLst/>
              <a:rect l="l" t="t" r="r" b="b"/>
              <a:pathLst>
                <a:path w="69850" h="9525">
                  <a:moveTo>
                    <a:pt x="0" y="0"/>
                  </a:moveTo>
                  <a:lnTo>
                    <a:pt x="69850" y="0"/>
                  </a:lnTo>
                </a:path>
              </a:pathLst>
            </a:custGeom>
            <a:noFill/>
            <a:ln w="9525">
              <a:solidFill>
                <a:srgbClr val="DE354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1491912" y="381000"/>
              <a:ext cx="34925" cy="9525"/>
            </a:xfrm>
            <a:custGeom>
              <a:avLst/>
              <a:gdLst/>
              <a:ahLst/>
              <a:cxnLst/>
              <a:rect l="l" t="t" r="r" b="b"/>
              <a:pathLst>
                <a:path w="34925" h="9525">
                  <a:moveTo>
                    <a:pt x="0" y="0"/>
                  </a:moveTo>
                  <a:lnTo>
                    <a:pt x="34925" y="0"/>
                  </a:lnTo>
                </a:path>
              </a:pathLst>
            </a:custGeom>
            <a:noFill/>
            <a:ln w="9525">
              <a:solidFill>
                <a:srgbClr val="DE3545"/>
              </a:solidFill>
            </a:ln>
          </p:spPr>
        </p:sp>
      </p:grpSp>
      <p:sp>
        <p:nvSpPr>
          <p:cNvPr id="14" name="Freeform 14"/>
          <p:cNvSpPr/>
          <p:nvPr/>
        </p:nvSpPr>
        <p:spPr>
          <a:xfrm>
            <a:off x="571500" y="876300"/>
            <a:ext cx="6858000" cy="5334000"/>
          </a:xfrm>
          <a:custGeom>
            <a:avLst/>
            <a:gdLst/>
            <a:ahLst/>
            <a:cxnLst/>
            <a:rect l="l" t="t" r="r" b="b"/>
            <a:pathLst>
              <a:path w="6858000" h="5334000">
                <a:moveTo>
                  <a:pt x="95250" y="0"/>
                </a:moveTo>
                <a:lnTo>
                  <a:pt x="6762750" y="0"/>
                </a:lnTo>
                <a:cubicBezTo>
                  <a:pt x="6815355" y="0"/>
                  <a:pt x="6858000" y="42645"/>
                  <a:pt x="6858000" y="95250"/>
                </a:cubicBezTo>
                <a:lnTo>
                  <a:pt x="6858000" y="5238750"/>
                </a:lnTo>
                <a:cubicBezTo>
                  <a:pt x="6858000" y="5291355"/>
                  <a:pt x="6815355" y="5334000"/>
                  <a:pt x="6762750" y="5334000"/>
                </a:cubicBezTo>
                <a:lnTo>
                  <a:pt x="95250" y="5334000"/>
                </a:lnTo>
                <a:cubicBezTo>
                  <a:pt x="42645" y="5334000"/>
                  <a:pt x="0" y="5291355"/>
                  <a:pt x="0" y="5238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FDFAF5"/>
              </a:gs>
            </a:gsLst>
            <a:lin ang="5400000" scaled="1"/>
          </a:gradFill>
          <a:ln w="14288">
            <a:solidFill>
              <a:srgbClr val="E8DDD5"/>
            </a:solidFill>
          </a:ln>
        </p:spPr>
      </p:sp>
      <p:sp>
        <p:nvSpPr>
          <p:cNvPr id="15" name="Freeform 15"/>
          <p:cNvSpPr/>
          <p:nvPr/>
        </p:nvSpPr>
        <p:spPr>
          <a:xfrm>
            <a:off x="571500" y="876300"/>
            <a:ext cx="6858000" cy="419100"/>
          </a:xfrm>
          <a:custGeom>
            <a:avLst/>
            <a:gdLst/>
            <a:ahLst/>
            <a:cxnLst/>
            <a:rect l="l" t="t" r="r" b="b"/>
            <a:pathLst>
              <a:path w="6858000" h="419100">
                <a:moveTo>
                  <a:pt x="95250" y="0"/>
                </a:moveTo>
                <a:lnTo>
                  <a:pt x="6762750" y="0"/>
                </a:lnTo>
                <a:cubicBezTo>
                  <a:pt x="6815355" y="0"/>
                  <a:pt x="6858000" y="42645"/>
                  <a:pt x="6858000" y="95250"/>
                </a:cubicBezTo>
                <a:lnTo>
                  <a:pt x="6858000" y="323850"/>
                </a:lnTo>
                <a:cubicBezTo>
                  <a:pt x="6858000" y="376455"/>
                  <a:pt x="6815355" y="419100"/>
                  <a:pt x="6762750" y="419100"/>
                </a:cubicBezTo>
                <a:lnTo>
                  <a:pt x="95250" y="419100"/>
                </a:lnTo>
                <a:cubicBezTo>
                  <a:pt x="42645" y="419100"/>
                  <a:pt x="0" y="376455"/>
                  <a:pt x="0" y="3238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DE3545">
              <a:alpha val="10000"/>
            </a:srgbClr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1104900"/>
            <a:ext cx="6858000" cy="190500"/>
          </a:xfrm>
          <a:prstGeom prst="rect">
            <a:avLst/>
          </a:prstGeom>
          <a:solidFill>
            <a:srgbClr val="DE3545">
              <a:alpha val="10000"/>
            </a:srgbClr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779462" y="996950"/>
            <a:ext cx="166688" cy="188912"/>
            <a:chOff x="779462" y="996950"/>
            <a:chExt cx="166688" cy="188912"/>
          </a:xfrm>
        </p:grpSpPr>
        <p:sp>
          <p:nvSpPr>
            <p:cNvPr id="17" name="Freeform 17"/>
            <p:cNvSpPr/>
            <p:nvPr/>
          </p:nvSpPr>
          <p:spPr>
            <a:xfrm>
              <a:off x="779462" y="996950"/>
              <a:ext cx="133350" cy="177800"/>
            </a:xfrm>
            <a:custGeom>
              <a:avLst/>
              <a:gdLst/>
              <a:ahLst/>
              <a:cxnLst/>
              <a:rect l="l" t="t" r="r" b="b"/>
              <a:pathLst>
                <a:path w="133350" h="177800">
                  <a:moveTo>
                    <a:pt x="51284" y="177800"/>
                  </a:moveTo>
                  <a:lnTo>
                    <a:pt x="22225" y="177800"/>
                  </a:lnTo>
                  <a:cubicBezTo>
                    <a:pt x="9950" y="177800"/>
                    <a:pt x="0" y="167850"/>
                    <a:pt x="0" y="155575"/>
                  </a:cubicBezTo>
                  <a:lnTo>
                    <a:pt x="0" y="22225"/>
                  </a:lnTo>
                  <a:cubicBezTo>
                    <a:pt x="0" y="9950"/>
                    <a:pt x="9950" y="0"/>
                    <a:pt x="22225" y="0"/>
                  </a:cubicBezTo>
                  <a:lnTo>
                    <a:pt x="111125" y="0"/>
                  </a:lnTo>
                  <a:cubicBezTo>
                    <a:pt x="123400" y="0"/>
                    <a:pt x="133350" y="9950"/>
                    <a:pt x="133350" y="22225"/>
                  </a:cubicBezTo>
                  <a:lnTo>
                    <a:pt x="133350" y="111125"/>
                  </a:lnTo>
                </a:path>
              </a:pathLst>
            </a:custGeom>
            <a:noFill/>
            <a:ln w="9525">
              <a:solidFill>
                <a:srgbClr val="DE354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79475" y="1141412"/>
              <a:ext cx="66675" cy="44450"/>
            </a:xfrm>
            <a:custGeom>
              <a:avLst/>
              <a:gdLst/>
              <a:ahLst/>
              <a:cxnLst/>
              <a:rect l="l" t="t" r="r" b="b"/>
              <a:pathLst>
                <a:path w="66675" h="44450">
                  <a:moveTo>
                    <a:pt x="0" y="22225"/>
                  </a:moveTo>
                  <a:lnTo>
                    <a:pt x="22225" y="44450"/>
                  </a:lnTo>
                  <a:lnTo>
                    <a:pt x="66675" y="0"/>
                  </a:lnTo>
                </a:path>
              </a:pathLst>
            </a:custGeom>
            <a:noFill/>
            <a:ln w="9525">
              <a:solidFill>
                <a:srgbClr val="DE354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823912" y="1041400"/>
              <a:ext cx="44450" cy="9525"/>
            </a:xfrm>
            <a:custGeom>
              <a:avLst/>
              <a:gdLst/>
              <a:ahLst/>
              <a:cxnLst/>
              <a:rect l="l" t="t" r="r" b="b"/>
              <a:pathLst>
                <a:path w="44450" h="9525">
                  <a:moveTo>
                    <a:pt x="0" y="0"/>
                  </a:moveTo>
                  <a:lnTo>
                    <a:pt x="44450" y="0"/>
                  </a:lnTo>
                </a:path>
              </a:pathLst>
            </a:custGeom>
            <a:noFill/>
            <a:ln w="9525">
              <a:solidFill>
                <a:srgbClr val="DE354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23912" y="1085850"/>
              <a:ext cx="22225" cy="9525"/>
            </a:xfrm>
            <a:custGeom>
              <a:avLst/>
              <a:gdLst/>
              <a:ahLst/>
              <a:cxnLst/>
              <a:rect l="l" t="t" r="r" b="b"/>
              <a:pathLst>
                <a:path w="22225" h="9525">
                  <a:moveTo>
                    <a:pt x="0" y="0"/>
                  </a:moveTo>
                  <a:lnTo>
                    <a:pt x="22225" y="0"/>
                  </a:lnTo>
                </a:path>
              </a:pathLst>
            </a:custGeom>
            <a:noFill/>
            <a:ln w="9525">
              <a:solidFill>
                <a:srgbClr val="DE3545"/>
              </a:solidFill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086802" y="989171"/>
            <a:ext cx="312835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对照学习目标 · 本讲掌握了什么</a:t>
            </a:r>
          </a:p>
        </p:txBody>
      </p:sp>
      <p:sp>
        <p:nvSpPr>
          <p:cNvPr id="23" name="Freeform 23"/>
          <p:cNvSpPr/>
          <p:nvPr/>
        </p:nvSpPr>
        <p:spPr>
          <a:xfrm>
            <a:off x="762000" y="1409700"/>
            <a:ext cx="6477000" cy="685800"/>
          </a:xfrm>
          <a:custGeom>
            <a:avLst/>
            <a:gdLst/>
            <a:ahLst/>
            <a:cxnLst/>
            <a:rect l="l" t="t" r="r" b="b"/>
            <a:pathLst>
              <a:path w="6477000" h="685800">
                <a:moveTo>
                  <a:pt x="57150" y="0"/>
                </a:moveTo>
                <a:lnTo>
                  <a:pt x="6419850" y="0"/>
                </a:lnTo>
                <a:cubicBezTo>
                  <a:pt x="6451413" y="0"/>
                  <a:pt x="6477000" y="25587"/>
                  <a:pt x="6477000" y="57150"/>
                </a:cubicBezTo>
                <a:lnTo>
                  <a:pt x="6477000" y="628650"/>
                </a:lnTo>
                <a:cubicBezTo>
                  <a:pt x="6477000" y="660213"/>
                  <a:pt x="6451413" y="685800"/>
                  <a:pt x="6419850" y="685800"/>
                </a:cubicBezTo>
                <a:lnTo>
                  <a:pt x="57150" y="685800"/>
                </a:lnTo>
                <a:cubicBezTo>
                  <a:pt x="25587" y="685800"/>
                  <a:pt x="0" y="660213"/>
                  <a:pt x="0" y="628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DFAF3"/>
          </a:solidFill>
          <a:ln w="9525">
            <a:solidFill>
              <a:srgbClr val="4CAF7D">
                <a:alpha val="50000"/>
              </a:srgbClr>
            </a:solidFill>
          </a:ln>
        </p:spPr>
      </p:sp>
      <p:grpSp>
        <p:nvGrpSpPr>
          <p:cNvPr id="26" name="Group 26"/>
          <p:cNvGrpSpPr/>
          <p:nvPr/>
        </p:nvGrpSpPr>
        <p:grpSpPr>
          <a:xfrm>
            <a:off x="947738" y="1576388"/>
            <a:ext cx="200025" cy="200025"/>
            <a:chOff x="947738" y="1576388"/>
            <a:chExt cx="200025" cy="200025"/>
          </a:xfrm>
        </p:grpSpPr>
        <p:sp>
          <p:nvSpPr>
            <p:cNvPr id="24" name="Freeform 24"/>
            <p:cNvSpPr/>
            <p:nvPr/>
          </p:nvSpPr>
          <p:spPr>
            <a:xfrm>
              <a:off x="947738" y="1576388"/>
              <a:ext cx="200025" cy="200025"/>
            </a:xfrm>
            <a:custGeom>
              <a:avLst/>
              <a:gdLst/>
              <a:ahLst/>
              <a:cxnLst/>
              <a:rect l="l" t="t" r="r" b="b"/>
              <a:pathLst>
                <a:path w="200025" h="200025">
                  <a:moveTo>
                    <a:pt x="0" y="100012"/>
                  </a:moveTo>
                  <a:cubicBezTo>
                    <a:pt x="0" y="155248"/>
                    <a:pt x="44777" y="200025"/>
                    <a:pt x="100012" y="200025"/>
                  </a:cubicBezTo>
                  <a:cubicBezTo>
                    <a:pt x="155248" y="200025"/>
                    <a:pt x="200025" y="155248"/>
                    <a:pt x="200025" y="100012"/>
                  </a:cubicBezTo>
                  <a:cubicBezTo>
                    <a:pt x="200025" y="44777"/>
                    <a:pt x="155248" y="0"/>
                    <a:pt x="100012" y="0"/>
                  </a:cubicBezTo>
                  <a:cubicBezTo>
                    <a:pt x="44777" y="0"/>
                    <a:pt x="0" y="44777"/>
                    <a:pt x="0" y="100012"/>
                  </a:cubicBezTo>
                </a:path>
              </a:pathLst>
            </a:custGeom>
            <a:noFill/>
            <a:ln w="9525">
              <a:solidFill>
                <a:srgbClr val="4CAF7D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014412" y="1654175"/>
              <a:ext cx="66675" cy="44450"/>
            </a:xfrm>
            <a:custGeom>
              <a:avLst/>
              <a:gdLst/>
              <a:ahLst/>
              <a:cxnLst/>
              <a:rect l="l" t="t" r="r" b="b"/>
              <a:pathLst>
                <a:path w="66675" h="44450">
                  <a:moveTo>
                    <a:pt x="0" y="22225"/>
                  </a:moveTo>
                  <a:lnTo>
                    <a:pt x="22225" y="44450"/>
                  </a:lnTo>
                  <a:lnTo>
                    <a:pt x="66675" y="0"/>
                  </a:lnTo>
                </a:path>
              </a:pathLst>
            </a:custGeom>
            <a:noFill/>
            <a:ln w="9525">
              <a:solidFill>
                <a:srgbClr val="4CAF7D"/>
              </a:solidFill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1278255" y="1549718"/>
            <a:ext cx="29326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4CAF7D"/>
                </a:solidFill>
                <a:latin typeface="Arial"/>
                <a:ea typeface="Microsoft YaHei"/>
                <a:cs typeface="Arial"/>
              </a:rPr>
              <a:t>能说出：定态的定义与三个特征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80160" y="1813560"/>
            <a:ext cx="37635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D3530"/>
                </a:solidFill>
                <a:latin typeface="Consolas"/>
                <a:ea typeface="Microsoft YaHei"/>
                <a:cs typeface="Consolas"/>
              </a:rPr>
              <a:t>概率密度不变 · 能量确定 · 期望值不随时间变化</a:t>
            </a:r>
          </a:p>
        </p:txBody>
      </p:sp>
      <p:sp>
        <p:nvSpPr>
          <p:cNvPr id="29" name="Freeform 29"/>
          <p:cNvSpPr/>
          <p:nvPr/>
        </p:nvSpPr>
        <p:spPr>
          <a:xfrm>
            <a:off x="762000" y="2209800"/>
            <a:ext cx="6477000" cy="685800"/>
          </a:xfrm>
          <a:custGeom>
            <a:avLst/>
            <a:gdLst/>
            <a:ahLst/>
            <a:cxnLst/>
            <a:rect l="l" t="t" r="r" b="b"/>
            <a:pathLst>
              <a:path w="6477000" h="685800">
                <a:moveTo>
                  <a:pt x="57150" y="0"/>
                </a:moveTo>
                <a:lnTo>
                  <a:pt x="6419850" y="0"/>
                </a:lnTo>
                <a:cubicBezTo>
                  <a:pt x="6451413" y="0"/>
                  <a:pt x="6477000" y="25587"/>
                  <a:pt x="6477000" y="57150"/>
                </a:cubicBezTo>
                <a:lnTo>
                  <a:pt x="6477000" y="628650"/>
                </a:lnTo>
                <a:cubicBezTo>
                  <a:pt x="6477000" y="660213"/>
                  <a:pt x="6451413" y="685800"/>
                  <a:pt x="6419850" y="685800"/>
                </a:cubicBezTo>
                <a:lnTo>
                  <a:pt x="57150" y="685800"/>
                </a:lnTo>
                <a:cubicBezTo>
                  <a:pt x="25587" y="685800"/>
                  <a:pt x="0" y="660213"/>
                  <a:pt x="0" y="628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EF6FF"/>
          </a:solidFill>
          <a:ln w="9525">
            <a:solidFill>
              <a:srgbClr val="2E86AB">
                <a:alpha val="50000"/>
              </a:srgbClr>
            </a:solidFill>
          </a:ln>
        </p:spPr>
      </p:sp>
      <p:grpSp>
        <p:nvGrpSpPr>
          <p:cNvPr id="32" name="Group 32"/>
          <p:cNvGrpSpPr/>
          <p:nvPr/>
        </p:nvGrpSpPr>
        <p:grpSpPr>
          <a:xfrm>
            <a:off x="947738" y="2376488"/>
            <a:ext cx="200025" cy="200025"/>
            <a:chOff x="947738" y="2376488"/>
            <a:chExt cx="200025" cy="200025"/>
          </a:xfrm>
        </p:grpSpPr>
        <p:sp>
          <p:nvSpPr>
            <p:cNvPr id="30" name="Freeform 30"/>
            <p:cNvSpPr/>
            <p:nvPr/>
          </p:nvSpPr>
          <p:spPr>
            <a:xfrm>
              <a:off x="947738" y="2376488"/>
              <a:ext cx="200025" cy="200025"/>
            </a:xfrm>
            <a:custGeom>
              <a:avLst/>
              <a:gdLst/>
              <a:ahLst/>
              <a:cxnLst/>
              <a:rect l="l" t="t" r="r" b="b"/>
              <a:pathLst>
                <a:path w="200025" h="200025">
                  <a:moveTo>
                    <a:pt x="0" y="100012"/>
                  </a:moveTo>
                  <a:cubicBezTo>
                    <a:pt x="0" y="155248"/>
                    <a:pt x="44777" y="200025"/>
                    <a:pt x="100012" y="200025"/>
                  </a:cubicBezTo>
                  <a:cubicBezTo>
                    <a:pt x="155248" y="200025"/>
                    <a:pt x="200025" y="155248"/>
                    <a:pt x="200025" y="100012"/>
                  </a:cubicBezTo>
                  <a:cubicBezTo>
                    <a:pt x="200025" y="44777"/>
                    <a:pt x="155248" y="0"/>
                    <a:pt x="100012" y="0"/>
                  </a:cubicBezTo>
                  <a:cubicBezTo>
                    <a:pt x="44777" y="0"/>
                    <a:pt x="0" y="44777"/>
                    <a:pt x="0" y="100012"/>
                  </a:cubicBezTo>
                </a:path>
              </a:pathLst>
            </a:custGeom>
            <a:noFill/>
            <a:ln w="9525">
              <a:solidFill>
                <a:srgbClr val="2E86AB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014412" y="2454275"/>
              <a:ext cx="66675" cy="44450"/>
            </a:xfrm>
            <a:custGeom>
              <a:avLst/>
              <a:gdLst/>
              <a:ahLst/>
              <a:cxnLst/>
              <a:rect l="l" t="t" r="r" b="b"/>
              <a:pathLst>
                <a:path w="66675" h="44450">
                  <a:moveTo>
                    <a:pt x="0" y="22225"/>
                  </a:moveTo>
                  <a:lnTo>
                    <a:pt x="22225" y="44450"/>
                  </a:lnTo>
                  <a:lnTo>
                    <a:pt x="66675" y="0"/>
                  </a:lnTo>
                </a:path>
              </a:pathLst>
            </a:custGeom>
            <a:noFill/>
            <a:ln w="9525">
              <a:solidFill>
                <a:srgbClr val="2E86AB"/>
              </a:solidFill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1278255" y="2349818"/>
            <a:ext cx="33467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E86AB"/>
                </a:solidFill>
                <a:latin typeface="Arial"/>
                <a:ea typeface="Microsoft YaHei"/>
                <a:cs typeface="Arial"/>
              </a:rPr>
              <a:t>能解释：概率密度为何不随时间变化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80160" y="2613660"/>
            <a:ext cx="31588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D3530"/>
                </a:solidFill>
                <a:latin typeface="Consolas"/>
                <a:ea typeface="Microsoft YaHei"/>
                <a:cs typeface="Consolas"/>
              </a:rPr>
              <a:t>|e^(-iEt/ℏ)|² = 1，时间因子取模后消失</a:t>
            </a:r>
          </a:p>
        </p:txBody>
      </p:sp>
      <p:sp>
        <p:nvSpPr>
          <p:cNvPr id="35" name="Freeform 35"/>
          <p:cNvSpPr/>
          <p:nvPr/>
        </p:nvSpPr>
        <p:spPr>
          <a:xfrm>
            <a:off x="762000" y="3009900"/>
            <a:ext cx="6477000" cy="685800"/>
          </a:xfrm>
          <a:custGeom>
            <a:avLst/>
            <a:gdLst/>
            <a:ahLst/>
            <a:cxnLst/>
            <a:rect l="l" t="t" r="r" b="b"/>
            <a:pathLst>
              <a:path w="6477000" h="685800">
                <a:moveTo>
                  <a:pt x="57150" y="0"/>
                </a:moveTo>
                <a:lnTo>
                  <a:pt x="6419850" y="0"/>
                </a:lnTo>
                <a:cubicBezTo>
                  <a:pt x="6451413" y="0"/>
                  <a:pt x="6477000" y="25587"/>
                  <a:pt x="6477000" y="57150"/>
                </a:cubicBezTo>
                <a:lnTo>
                  <a:pt x="6477000" y="628650"/>
                </a:lnTo>
                <a:cubicBezTo>
                  <a:pt x="6477000" y="660213"/>
                  <a:pt x="6451413" y="685800"/>
                  <a:pt x="6419850" y="685800"/>
                </a:cubicBezTo>
                <a:lnTo>
                  <a:pt x="57150" y="685800"/>
                </a:lnTo>
                <a:cubicBezTo>
                  <a:pt x="25587" y="685800"/>
                  <a:pt x="0" y="660213"/>
                  <a:pt x="0" y="628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4EC"/>
          </a:solidFill>
          <a:ln w="9525">
            <a:solidFill>
              <a:srgbClr val="E8834A">
                <a:alpha val="50000"/>
              </a:srgbClr>
            </a:solidFill>
          </a:ln>
        </p:spPr>
      </p:sp>
      <p:grpSp>
        <p:nvGrpSpPr>
          <p:cNvPr id="38" name="Group 38"/>
          <p:cNvGrpSpPr/>
          <p:nvPr/>
        </p:nvGrpSpPr>
        <p:grpSpPr>
          <a:xfrm>
            <a:off x="947738" y="3176588"/>
            <a:ext cx="200025" cy="200025"/>
            <a:chOff x="947738" y="3176588"/>
            <a:chExt cx="200025" cy="200025"/>
          </a:xfrm>
        </p:grpSpPr>
        <p:sp>
          <p:nvSpPr>
            <p:cNvPr id="36" name="Freeform 36"/>
            <p:cNvSpPr/>
            <p:nvPr/>
          </p:nvSpPr>
          <p:spPr>
            <a:xfrm>
              <a:off x="947738" y="3176588"/>
              <a:ext cx="200025" cy="200025"/>
            </a:xfrm>
            <a:custGeom>
              <a:avLst/>
              <a:gdLst/>
              <a:ahLst/>
              <a:cxnLst/>
              <a:rect l="l" t="t" r="r" b="b"/>
              <a:pathLst>
                <a:path w="200025" h="200025">
                  <a:moveTo>
                    <a:pt x="0" y="100012"/>
                  </a:moveTo>
                  <a:cubicBezTo>
                    <a:pt x="0" y="155248"/>
                    <a:pt x="44777" y="200025"/>
                    <a:pt x="100012" y="200025"/>
                  </a:cubicBezTo>
                  <a:cubicBezTo>
                    <a:pt x="155248" y="200025"/>
                    <a:pt x="200025" y="155248"/>
                    <a:pt x="200025" y="100012"/>
                  </a:cubicBezTo>
                  <a:cubicBezTo>
                    <a:pt x="200025" y="44777"/>
                    <a:pt x="155248" y="0"/>
                    <a:pt x="100012" y="0"/>
                  </a:cubicBezTo>
                  <a:cubicBezTo>
                    <a:pt x="44777" y="0"/>
                    <a:pt x="0" y="44777"/>
                    <a:pt x="0" y="100012"/>
                  </a:cubicBezTo>
                </a:path>
              </a:pathLst>
            </a:custGeom>
            <a:noFill/>
            <a:ln w="9525">
              <a:solidFill>
                <a:srgbClr val="E8834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014412" y="3254375"/>
              <a:ext cx="66675" cy="44450"/>
            </a:xfrm>
            <a:custGeom>
              <a:avLst/>
              <a:gdLst/>
              <a:ahLst/>
              <a:cxnLst/>
              <a:rect l="l" t="t" r="r" b="b"/>
              <a:pathLst>
                <a:path w="66675" h="44450">
                  <a:moveTo>
                    <a:pt x="0" y="22225"/>
                  </a:moveTo>
                  <a:lnTo>
                    <a:pt x="22225" y="44450"/>
                  </a:lnTo>
                  <a:lnTo>
                    <a:pt x="66675" y="0"/>
                  </a:lnTo>
                </a:path>
              </a:pathLst>
            </a:custGeom>
            <a:noFill/>
            <a:ln w="9525">
              <a:solidFill>
                <a:srgbClr val="E8834A"/>
              </a:solidFill>
            </a:ln>
          </p:spPr>
        </p:sp>
      </p:grpSp>
      <p:sp>
        <p:nvSpPr>
          <p:cNvPr id="39" name="TextBox 39"/>
          <p:cNvSpPr txBox="1"/>
          <p:nvPr/>
        </p:nvSpPr>
        <p:spPr>
          <a:xfrm>
            <a:off x="1278255" y="3149918"/>
            <a:ext cx="31396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834A"/>
                </a:solidFill>
                <a:latin typeface="Arial"/>
                <a:ea typeface="Microsoft YaHei"/>
                <a:cs typeface="Arial"/>
              </a:rPr>
              <a:t>会运用：分离变量法推导定态方程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80160" y="3413760"/>
            <a:ext cx="19846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D3530"/>
                </a:solidFill>
                <a:latin typeface="Consolas"/>
                <a:ea typeface="Microsoft YaHei"/>
                <a:cs typeface="Consolas"/>
              </a:rPr>
              <a:t>Ψ = ψ(r)·f(t) → Ĥψ = Eψ</a:t>
            </a:r>
          </a:p>
        </p:txBody>
      </p:sp>
      <p:sp>
        <p:nvSpPr>
          <p:cNvPr id="41" name="Freeform 41"/>
          <p:cNvSpPr/>
          <p:nvPr/>
        </p:nvSpPr>
        <p:spPr>
          <a:xfrm>
            <a:off x="762000" y="3810000"/>
            <a:ext cx="6477000" cy="685800"/>
          </a:xfrm>
          <a:custGeom>
            <a:avLst/>
            <a:gdLst/>
            <a:ahLst/>
            <a:cxnLst/>
            <a:rect l="l" t="t" r="r" b="b"/>
            <a:pathLst>
              <a:path w="6477000" h="685800">
                <a:moveTo>
                  <a:pt x="57150" y="0"/>
                </a:moveTo>
                <a:lnTo>
                  <a:pt x="6419850" y="0"/>
                </a:lnTo>
                <a:cubicBezTo>
                  <a:pt x="6451413" y="0"/>
                  <a:pt x="6477000" y="25587"/>
                  <a:pt x="6477000" y="57150"/>
                </a:cubicBezTo>
                <a:lnTo>
                  <a:pt x="6477000" y="628650"/>
                </a:lnTo>
                <a:cubicBezTo>
                  <a:pt x="6477000" y="660213"/>
                  <a:pt x="6451413" y="685800"/>
                  <a:pt x="6419850" y="685800"/>
                </a:cubicBezTo>
                <a:lnTo>
                  <a:pt x="57150" y="685800"/>
                </a:lnTo>
                <a:cubicBezTo>
                  <a:pt x="25587" y="685800"/>
                  <a:pt x="0" y="660213"/>
                  <a:pt x="0" y="628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0F1"/>
          </a:solidFill>
          <a:ln w="9525">
            <a:solidFill>
              <a:srgbClr val="DE3545">
                <a:alpha val="50000"/>
              </a:srgbClr>
            </a:solidFill>
          </a:ln>
        </p:spPr>
      </p:sp>
      <p:grpSp>
        <p:nvGrpSpPr>
          <p:cNvPr id="44" name="Group 44"/>
          <p:cNvGrpSpPr/>
          <p:nvPr/>
        </p:nvGrpSpPr>
        <p:grpSpPr>
          <a:xfrm>
            <a:off x="947738" y="3976688"/>
            <a:ext cx="200025" cy="200025"/>
            <a:chOff x="947738" y="3976688"/>
            <a:chExt cx="200025" cy="200025"/>
          </a:xfrm>
        </p:grpSpPr>
        <p:sp>
          <p:nvSpPr>
            <p:cNvPr id="42" name="Freeform 42"/>
            <p:cNvSpPr/>
            <p:nvPr/>
          </p:nvSpPr>
          <p:spPr>
            <a:xfrm>
              <a:off x="947738" y="3976688"/>
              <a:ext cx="200025" cy="200025"/>
            </a:xfrm>
            <a:custGeom>
              <a:avLst/>
              <a:gdLst/>
              <a:ahLst/>
              <a:cxnLst/>
              <a:rect l="l" t="t" r="r" b="b"/>
              <a:pathLst>
                <a:path w="200025" h="200025">
                  <a:moveTo>
                    <a:pt x="0" y="100012"/>
                  </a:moveTo>
                  <a:cubicBezTo>
                    <a:pt x="0" y="155248"/>
                    <a:pt x="44777" y="200025"/>
                    <a:pt x="100012" y="200025"/>
                  </a:cubicBezTo>
                  <a:cubicBezTo>
                    <a:pt x="155248" y="200025"/>
                    <a:pt x="200025" y="155248"/>
                    <a:pt x="200025" y="100012"/>
                  </a:cubicBezTo>
                  <a:cubicBezTo>
                    <a:pt x="200025" y="44777"/>
                    <a:pt x="155248" y="0"/>
                    <a:pt x="100012" y="0"/>
                  </a:cubicBezTo>
                  <a:cubicBezTo>
                    <a:pt x="44777" y="0"/>
                    <a:pt x="0" y="44777"/>
                    <a:pt x="0" y="100012"/>
                  </a:cubicBezTo>
                </a:path>
              </a:pathLst>
            </a:custGeom>
            <a:noFill/>
            <a:ln w="9525">
              <a:solidFill>
                <a:srgbClr val="DE354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014412" y="4054475"/>
              <a:ext cx="66675" cy="44450"/>
            </a:xfrm>
            <a:custGeom>
              <a:avLst/>
              <a:gdLst/>
              <a:ahLst/>
              <a:cxnLst/>
              <a:rect l="l" t="t" r="r" b="b"/>
              <a:pathLst>
                <a:path w="66675" h="44450">
                  <a:moveTo>
                    <a:pt x="0" y="22225"/>
                  </a:moveTo>
                  <a:lnTo>
                    <a:pt x="22225" y="44450"/>
                  </a:lnTo>
                  <a:lnTo>
                    <a:pt x="66675" y="0"/>
                  </a:lnTo>
                </a:path>
              </a:pathLst>
            </a:custGeom>
            <a:noFill/>
            <a:ln w="9525">
              <a:solidFill>
                <a:srgbClr val="DE3545"/>
              </a:solidFill>
            </a:ln>
          </p:spPr>
        </p:sp>
      </p:grpSp>
      <p:sp>
        <p:nvSpPr>
          <p:cNvPr id="45" name="TextBox 45"/>
          <p:cNvSpPr txBox="1"/>
          <p:nvPr/>
        </p:nvSpPr>
        <p:spPr>
          <a:xfrm>
            <a:off x="1278255" y="3950018"/>
            <a:ext cx="35537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会判断：无限深方势阱的能级与波函数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80160" y="4213860"/>
            <a:ext cx="31676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D3530"/>
                </a:solidFill>
                <a:latin typeface="Consolas"/>
                <a:ea typeface="Microsoft YaHei"/>
                <a:cs typeface="Consolas"/>
              </a:rPr>
              <a:t>E_n = n²E₁，ψ_n = √(2/a)·sin(nπx/a)</a:t>
            </a:r>
          </a:p>
        </p:txBody>
      </p:sp>
      <p:sp>
        <p:nvSpPr>
          <p:cNvPr id="47" name="Freeform 47"/>
          <p:cNvSpPr/>
          <p:nvPr/>
        </p:nvSpPr>
        <p:spPr>
          <a:xfrm>
            <a:off x="762000" y="4610100"/>
            <a:ext cx="6477000" cy="1409700"/>
          </a:xfrm>
          <a:custGeom>
            <a:avLst/>
            <a:gdLst/>
            <a:ahLst/>
            <a:cxnLst/>
            <a:rect l="l" t="t" r="r" b="b"/>
            <a:pathLst>
              <a:path w="6477000" h="1409700">
                <a:moveTo>
                  <a:pt x="76200" y="0"/>
                </a:moveTo>
                <a:lnTo>
                  <a:pt x="6400800" y="0"/>
                </a:lnTo>
                <a:cubicBezTo>
                  <a:pt x="6442884" y="0"/>
                  <a:pt x="6477000" y="34116"/>
                  <a:pt x="6477000" y="76200"/>
                </a:cubicBezTo>
                <a:lnTo>
                  <a:pt x="6477000" y="1333500"/>
                </a:lnTo>
                <a:cubicBezTo>
                  <a:pt x="6477000" y="1375584"/>
                  <a:pt x="6442884" y="1409700"/>
                  <a:pt x="6400800" y="1409700"/>
                </a:cubicBezTo>
                <a:lnTo>
                  <a:pt x="76200" y="1409700"/>
                </a:lnTo>
                <a:cubicBezTo>
                  <a:pt x="34116" y="1409700"/>
                  <a:pt x="0" y="1375584"/>
                  <a:pt x="0" y="13335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3D3530">
              <a:alpha val="4000"/>
            </a:srgbClr>
          </a:solidFill>
          <a:ln w="9525">
            <a:solidFill>
              <a:srgbClr val="E8DDD5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3397734" y="4701064"/>
            <a:ext cx="12055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核心公式速查</a:t>
            </a:r>
          </a:p>
        </p:txBody>
      </p:sp>
      <p:sp>
        <p:nvSpPr>
          <p:cNvPr id="49" name="Line 49"/>
          <p:cNvSpPr/>
          <p:nvPr/>
        </p:nvSpPr>
        <p:spPr>
          <a:xfrm>
            <a:off x="952500" y="4905375"/>
            <a:ext cx="6096000" cy="9525"/>
          </a:xfrm>
          <a:custGeom>
            <a:avLst/>
            <a:gdLst/>
            <a:ahLst/>
            <a:cxnLst/>
            <a:rect l="l" t="t" r="r" b="b"/>
            <a:pathLst>
              <a:path w="6096000" h="9525">
                <a:moveTo>
                  <a:pt x="0" y="0"/>
                </a:moveTo>
                <a:lnTo>
                  <a:pt x="6096000" y="0"/>
                </a:lnTo>
              </a:path>
            </a:pathLst>
          </a:custGeom>
          <a:noFill/>
          <a:ln w="9525">
            <a:solidFill>
              <a:srgbClr val="E8DDD5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938212" y="5003006"/>
            <a:ext cx="57900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E86AB"/>
                </a:solidFill>
                <a:latin typeface="Consolas"/>
                <a:ea typeface="Microsoft YaHei"/>
                <a:cs typeface="Consolas"/>
              </a:rPr>
              <a:t>Ĥψ = Eψ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034665" y="501110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定态薛定谔方程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38212" y="5231606"/>
            <a:ext cx="16962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DE3545"/>
                </a:solidFill>
                <a:latin typeface="Consolas"/>
                <a:ea typeface="Microsoft YaHei"/>
                <a:cs typeface="Consolas"/>
              </a:rPr>
              <a:t>E_n = n²π²ℏ²/(2ma²)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987165" y="52397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能级公式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38212" y="5460206"/>
            <a:ext cx="19838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CAF7D"/>
                </a:solidFill>
                <a:latin typeface="Consolas"/>
                <a:ea typeface="Microsoft YaHei"/>
                <a:cs typeface="Consolas"/>
              </a:rPr>
              <a:t>ψ_n = √(2/a)·sin(nπx/a)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558665" y="54683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本征函数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38212" y="5688806"/>
            <a:ext cx="263282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834A"/>
                </a:solidFill>
                <a:latin typeface="Consolas"/>
                <a:ea typeface="Microsoft YaHei"/>
                <a:cs typeface="Consolas"/>
              </a:rPr>
              <a:t>Ψ(x,t) = Σ c_n ψ_n e^(-iE_n t/ℏ)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320665" y="569690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一般解</a:t>
            </a:r>
          </a:p>
        </p:txBody>
      </p:sp>
      <p:sp>
        <p:nvSpPr>
          <p:cNvPr id="58" name="Freeform 58"/>
          <p:cNvSpPr/>
          <p:nvPr/>
        </p:nvSpPr>
        <p:spPr>
          <a:xfrm>
            <a:off x="7620000" y="876300"/>
            <a:ext cx="4000500" cy="5334000"/>
          </a:xfrm>
          <a:custGeom>
            <a:avLst/>
            <a:gdLst/>
            <a:ahLst/>
            <a:cxnLst/>
            <a:rect l="l" t="t" r="r" b="b"/>
            <a:pathLst>
              <a:path w="4000500" h="5334000">
                <a:moveTo>
                  <a:pt x="95250" y="0"/>
                </a:moveTo>
                <a:lnTo>
                  <a:pt x="3905250" y="0"/>
                </a:lnTo>
                <a:cubicBezTo>
                  <a:pt x="3957855" y="0"/>
                  <a:pt x="4000500" y="42645"/>
                  <a:pt x="4000500" y="95250"/>
                </a:cubicBezTo>
                <a:lnTo>
                  <a:pt x="4000500" y="5238750"/>
                </a:lnTo>
                <a:cubicBezTo>
                  <a:pt x="4000500" y="5291355"/>
                  <a:pt x="3957855" y="5334000"/>
                  <a:pt x="3905250" y="5334000"/>
                </a:cubicBezTo>
                <a:lnTo>
                  <a:pt x="95250" y="5334000"/>
                </a:lnTo>
                <a:cubicBezTo>
                  <a:pt x="42645" y="5334000"/>
                  <a:pt x="0" y="5291355"/>
                  <a:pt x="0" y="5238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gradFill>
            <a:gsLst>
              <a:gs pos="0">
                <a:srgbClr val="FFF8F0"/>
              </a:gs>
              <a:gs pos="100000">
                <a:srgbClr val="FDFAF5"/>
              </a:gs>
            </a:gsLst>
            <a:lin ang="5400000" scaled="1"/>
          </a:gradFill>
          <a:ln w="14288">
            <a:solidFill>
              <a:srgbClr val="E8DDD5"/>
            </a:solidFill>
          </a:ln>
        </p:spPr>
      </p:sp>
      <p:sp>
        <p:nvSpPr>
          <p:cNvPr id="59" name="Freeform 59"/>
          <p:cNvSpPr/>
          <p:nvPr/>
        </p:nvSpPr>
        <p:spPr>
          <a:xfrm>
            <a:off x="7620000" y="876300"/>
            <a:ext cx="4000500" cy="419100"/>
          </a:xfrm>
          <a:custGeom>
            <a:avLst/>
            <a:gdLst/>
            <a:ahLst/>
            <a:cxnLst/>
            <a:rect l="l" t="t" r="r" b="b"/>
            <a:pathLst>
              <a:path w="4000500" h="419100">
                <a:moveTo>
                  <a:pt x="95250" y="0"/>
                </a:moveTo>
                <a:lnTo>
                  <a:pt x="3905250" y="0"/>
                </a:lnTo>
                <a:cubicBezTo>
                  <a:pt x="3957855" y="0"/>
                  <a:pt x="4000500" y="42645"/>
                  <a:pt x="4000500" y="95250"/>
                </a:cubicBezTo>
                <a:lnTo>
                  <a:pt x="4000500" y="323850"/>
                </a:lnTo>
                <a:cubicBezTo>
                  <a:pt x="4000500" y="376455"/>
                  <a:pt x="3957855" y="419100"/>
                  <a:pt x="3905250" y="419100"/>
                </a:cubicBezTo>
                <a:lnTo>
                  <a:pt x="95250" y="419100"/>
                </a:lnTo>
                <a:cubicBezTo>
                  <a:pt x="42645" y="419100"/>
                  <a:pt x="0" y="376455"/>
                  <a:pt x="0" y="3238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834A">
              <a:alpha val="12000"/>
            </a:srgbClr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7620000" y="1104900"/>
            <a:ext cx="4000500" cy="190500"/>
          </a:xfrm>
          <a:prstGeom prst="rect">
            <a:avLst/>
          </a:prstGeom>
          <a:solidFill>
            <a:srgbClr val="E8834A">
              <a:alpha val="12000"/>
            </a:srgbClr>
          </a:solidFill>
          <a:ln>
            <a:noFill/>
          </a:ln>
        </p:spPr>
      </p:sp>
      <p:grpSp>
        <p:nvGrpSpPr>
          <p:cNvPr id="66" name="Group 66"/>
          <p:cNvGrpSpPr/>
          <p:nvPr/>
        </p:nvGrpSpPr>
        <p:grpSpPr>
          <a:xfrm>
            <a:off x="7805738" y="1001309"/>
            <a:ext cx="209549" cy="162329"/>
            <a:chOff x="7805738" y="1001309"/>
            <a:chExt cx="209549" cy="162329"/>
          </a:xfrm>
        </p:grpSpPr>
        <p:sp>
          <p:nvSpPr>
            <p:cNvPr id="61" name="Freeform 61"/>
            <p:cNvSpPr/>
            <p:nvPr/>
          </p:nvSpPr>
          <p:spPr>
            <a:xfrm>
              <a:off x="7805738" y="1145772"/>
              <a:ext cx="200025" cy="17866"/>
            </a:xfrm>
            <a:custGeom>
              <a:avLst/>
              <a:gdLst/>
              <a:ahLst/>
              <a:cxnLst/>
              <a:rect l="l" t="t" r="r" b="b"/>
              <a:pathLst>
                <a:path w="200025" h="17866">
                  <a:moveTo>
                    <a:pt x="0" y="17866"/>
                  </a:moveTo>
                  <a:cubicBezTo>
                    <a:pt x="30944" y="0"/>
                    <a:pt x="69069" y="0"/>
                    <a:pt x="100012" y="17866"/>
                  </a:cubicBezTo>
                  <a:cubicBezTo>
                    <a:pt x="130956" y="0"/>
                    <a:pt x="169081" y="0"/>
                    <a:pt x="200025" y="17866"/>
                  </a:cubicBezTo>
                </a:path>
              </a:pathLst>
            </a:custGeom>
            <a:noFill/>
            <a:ln w="9525">
              <a:solidFill>
                <a:srgbClr val="E8834A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7805738" y="1001309"/>
              <a:ext cx="200025" cy="17866"/>
            </a:xfrm>
            <a:custGeom>
              <a:avLst/>
              <a:gdLst/>
              <a:ahLst/>
              <a:cxnLst/>
              <a:rect l="l" t="t" r="r" b="b"/>
              <a:pathLst>
                <a:path w="200025" h="17866">
                  <a:moveTo>
                    <a:pt x="0" y="17866"/>
                  </a:moveTo>
                  <a:cubicBezTo>
                    <a:pt x="30944" y="0"/>
                    <a:pt x="69069" y="0"/>
                    <a:pt x="100012" y="17866"/>
                  </a:cubicBezTo>
                  <a:cubicBezTo>
                    <a:pt x="130956" y="0"/>
                    <a:pt x="169081" y="0"/>
                    <a:pt x="200025" y="17866"/>
                  </a:cubicBezTo>
                </a:path>
              </a:pathLst>
            </a:custGeom>
            <a:noFill/>
            <a:ln w="9525">
              <a:solidFill>
                <a:srgbClr val="E8834A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7805738" y="1019175"/>
              <a:ext cx="9525" cy="144463"/>
            </a:xfrm>
            <a:custGeom>
              <a:avLst/>
              <a:gdLst/>
              <a:ahLst/>
              <a:cxnLst/>
              <a:rect l="l" t="t" r="r" b="b"/>
              <a:pathLst>
                <a:path w="9525" h="144463">
                  <a:moveTo>
                    <a:pt x="0" y="0"/>
                  </a:moveTo>
                  <a:lnTo>
                    <a:pt x="0" y="144463"/>
                  </a:lnTo>
                </a:path>
              </a:pathLst>
            </a:custGeom>
            <a:noFill/>
            <a:ln w="9525">
              <a:solidFill>
                <a:srgbClr val="E8834A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7905750" y="1019175"/>
              <a:ext cx="9525" cy="144463"/>
            </a:xfrm>
            <a:custGeom>
              <a:avLst/>
              <a:gdLst/>
              <a:ahLst/>
              <a:cxnLst/>
              <a:rect l="l" t="t" r="r" b="b"/>
              <a:pathLst>
                <a:path w="9525" h="144463">
                  <a:moveTo>
                    <a:pt x="0" y="0"/>
                  </a:moveTo>
                  <a:lnTo>
                    <a:pt x="0" y="144463"/>
                  </a:lnTo>
                </a:path>
              </a:pathLst>
            </a:custGeom>
            <a:noFill/>
            <a:ln w="9525">
              <a:solidFill>
                <a:srgbClr val="E8834A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8005762" y="1019175"/>
              <a:ext cx="9525" cy="144463"/>
            </a:xfrm>
            <a:custGeom>
              <a:avLst/>
              <a:gdLst/>
              <a:ahLst/>
              <a:cxnLst/>
              <a:rect l="l" t="t" r="r" b="b"/>
              <a:pathLst>
                <a:path w="9525" h="144463">
                  <a:moveTo>
                    <a:pt x="0" y="0"/>
                  </a:moveTo>
                  <a:lnTo>
                    <a:pt x="0" y="144463"/>
                  </a:lnTo>
                </a:path>
              </a:pathLst>
            </a:custGeom>
            <a:noFill/>
            <a:ln w="9525">
              <a:solidFill>
                <a:srgbClr val="E8834A"/>
              </a:solidFill>
            </a:ln>
          </p:spPr>
        </p:sp>
      </p:grpSp>
      <p:sp>
        <p:nvSpPr>
          <p:cNvPr id="67" name="TextBox 67"/>
          <p:cNvSpPr txBox="1"/>
          <p:nvPr/>
        </p:nvSpPr>
        <p:spPr>
          <a:xfrm>
            <a:off x="8135302" y="989171"/>
            <a:ext cx="91030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E8834A"/>
                </a:solidFill>
                <a:latin typeface="Arial"/>
                <a:ea typeface="Microsoft YaHei"/>
                <a:cs typeface="Arial"/>
              </a:rPr>
              <a:t>课后作业</a:t>
            </a:r>
          </a:p>
        </p:txBody>
      </p:sp>
      <p:sp>
        <p:nvSpPr>
          <p:cNvPr id="68" name="Freeform 68"/>
          <p:cNvSpPr/>
          <p:nvPr/>
        </p:nvSpPr>
        <p:spPr>
          <a:xfrm>
            <a:off x="7810500" y="1428750"/>
            <a:ext cx="3619500" cy="762000"/>
          </a:xfrm>
          <a:custGeom>
            <a:avLst/>
            <a:gdLst/>
            <a:ahLst/>
            <a:cxnLst/>
            <a:rect l="l" t="t" r="r" b="b"/>
            <a:pathLst>
              <a:path w="3619500" h="762000">
                <a:moveTo>
                  <a:pt x="57150" y="0"/>
                </a:moveTo>
                <a:lnTo>
                  <a:pt x="3562350" y="0"/>
                </a:lnTo>
                <a:cubicBezTo>
                  <a:pt x="3593913" y="0"/>
                  <a:pt x="3619500" y="25587"/>
                  <a:pt x="3619500" y="57150"/>
                </a:cubicBezTo>
                <a:lnTo>
                  <a:pt x="3619500" y="704850"/>
                </a:lnTo>
                <a:cubicBezTo>
                  <a:pt x="3619500" y="736413"/>
                  <a:pt x="3593913" y="762000"/>
                  <a:pt x="3562350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8DDD5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7889558" y="1500664"/>
            <a:ext cx="8144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教材习题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890510" y="1756410"/>
            <a:ext cx="11521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E86AB"/>
                </a:solidFill>
                <a:latin typeface="Consolas"/>
                <a:ea typeface="Microsoft YaHei"/>
                <a:cs typeface="Consolas"/>
              </a:rPr>
              <a:t>Griffiths 2.2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890510" y="1965960"/>
            <a:ext cx="11521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E86AB"/>
                </a:solidFill>
                <a:latin typeface="Consolas"/>
                <a:ea typeface="Microsoft YaHei"/>
                <a:cs typeface="Consolas"/>
              </a:rPr>
              <a:t>Griffiths 2.3</a:t>
            </a:r>
          </a:p>
        </p:txBody>
      </p:sp>
      <p:sp>
        <p:nvSpPr>
          <p:cNvPr id="72" name="Freeform 72"/>
          <p:cNvSpPr/>
          <p:nvPr/>
        </p:nvSpPr>
        <p:spPr>
          <a:xfrm>
            <a:off x="7810500" y="2324100"/>
            <a:ext cx="3619500" cy="1143000"/>
          </a:xfrm>
          <a:custGeom>
            <a:avLst/>
            <a:gdLst/>
            <a:ahLst/>
            <a:cxnLst/>
            <a:rect l="l" t="t" r="r" b="b"/>
            <a:pathLst>
              <a:path w="3619500" h="1143000">
                <a:moveTo>
                  <a:pt x="57150" y="0"/>
                </a:moveTo>
                <a:lnTo>
                  <a:pt x="3562350" y="0"/>
                </a:lnTo>
                <a:cubicBezTo>
                  <a:pt x="3593913" y="0"/>
                  <a:pt x="3619500" y="25587"/>
                  <a:pt x="3619500" y="57150"/>
                </a:cubicBezTo>
                <a:lnTo>
                  <a:pt x="3619500" y="1085850"/>
                </a:lnTo>
                <a:cubicBezTo>
                  <a:pt x="3619500" y="1117413"/>
                  <a:pt x="3593913" y="1143000"/>
                  <a:pt x="3562350" y="1143000"/>
                </a:cubicBezTo>
                <a:lnTo>
                  <a:pt x="57150" y="1143000"/>
                </a:lnTo>
                <a:cubicBezTo>
                  <a:pt x="25587" y="1143000"/>
                  <a:pt x="0" y="1117413"/>
                  <a:pt x="0" y="1085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8DDD5"/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7889558" y="2396014"/>
            <a:ext cx="61895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思考题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7890510" y="26517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为什么量子粒子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890510" y="288036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不能静止？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7891462" y="3117056"/>
            <a:ext cx="16716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（零点能的物理意义）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7891462" y="3288506"/>
            <a:ext cx="16716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联系不确定性原理思考</a:t>
            </a:r>
          </a:p>
        </p:txBody>
      </p:sp>
      <p:sp>
        <p:nvSpPr>
          <p:cNvPr id="78" name="Freeform 78"/>
          <p:cNvSpPr/>
          <p:nvPr/>
        </p:nvSpPr>
        <p:spPr>
          <a:xfrm>
            <a:off x="7810500" y="3600450"/>
            <a:ext cx="3619500" cy="952500"/>
          </a:xfrm>
          <a:custGeom>
            <a:avLst/>
            <a:gdLst/>
            <a:ahLst/>
            <a:cxnLst/>
            <a:rect l="l" t="t" r="r" b="b"/>
            <a:pathLst>
              <a:path w="3619500" h="952500">
                <a:moveTo>
                  <a:pt x="57150" y="0"/>
                </a:moveTo>
                <a:lnTo>
                  <a:pt x="3562350" y="0"/>
                </a:lnTo>
                <a:cubicBezTo>
                  <a:pt x="3593913" y="0"/>
                  <a:pt x="3619500" y="25587"/>
                  <a:pt x="3619500" y="57150"/>
                </a:cubicBezTo>
                <a:lnTo>
                  <a:pt x="3619500" y="895350"/>
                </a:lnTo>
                <a:cubicBezTo>
                  <a:pt x="3619500" y="926913"/>
                  <a:pt x="3593913" y="952500"/>
                  <a:pt x="3562350" y="952500"/>
                </a:cubicBezTo>
                <a:lnTo>
                  <a:pt x="57150" y="952500"/>
                </a:lnTo>
                <a:cubicBezTo>
                  <a:pt x="25587" y="952500"/>
                  <a:pt x="0" y="926913"/>
                  <a:pt x="0" y="895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EF6FF"/>
          </a:solidFill>
          <a:ln w="9525">
            <a:solidFill>
              <a:srgbClr val="2E86AB">
                <a:alpha val="50000"/>
              </a:srgbClr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9213009" y="3672364"/>
            <a:ext cx="8144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2E86AB"/>
                </a:solidFill>
                <a:latin typeface="Arial"/>
                <a:ea typeface="Microsoft YaHei"/>
                <a:cs typeface="Arial"/>
              </a:rPr>
              <a:t>下讲预告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7890510" y="3909060"/>
            <a:ext cx="19057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谐振子（量子 vs 经典）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7890510" y="413766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D3530"/>
                </a:solidFill>
                <a:latin typeface="Arial"/>
                <a:ea typeface="Microsoft YaHei"/>
                <a:cs typeface="Arial"/>
              </a:rPr>
              <a:t>升降算符方法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7891462" y="433625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请预习 Griffiths 2.3 节</a:t>
            </a:r>
          </a:p>
        </p:txBody>
      </p:sp>
      <p:sp>
        <p:nvSpPr>
          <p:cNvPr id="83" name="Freeform 83"/>
          <p:cNvSpPr/>
          <p:nvPr/>
        </p:nvSpPr>
        <p:spPr>
          <a:xfrm>
            <a:off x="7810500" y="4686300"/>
            <a:ext cx="3619500" cy="1333500"/>
          </a:xfrm>
          <a:custGeom>
            <a:avLst/>
            <a:gdLst/>
            <a:ahLst/>
            <a:cxnLst/>
            <a:rect l="l" t="t" r="r" b="b"/>
            <a:pathLst>
              <a:path w="3619500" h="1333500">
                <a:moveTo>
                  <a:pt x="76200" y="0"/>
                </a:moveTo>
                <a:lnTo>
                  <a:pt x="3543300" y="0"/>
                </a:lnTo>
                <a:cubicBezTo>
                  <a:pt x="3585384" y="0"/>
                  <a:pt x="3619500" y="34116"/>
                  <a:pt x="3619500" y="76200"/>
                </a:cubicBezTo>
                <a:lnTo>
                  <a:pt x="3619500" y="1257300"/>
                </a:lnTo>
                <a:cubicBezTo>
                  <a:pt x="3619500" y="1299384"/>
                  <a:pt x="3585384" y="1333500"/>
                  <a:pt x="3543300" y="1333500"/>
                </a:cubicBezTo>
                <a:lnTo>
                  <a:pt x="76200" y="1333500"/>
                </a:lnTo>
                <a:cubicBezTo>
                  <a:pt x="34116" y="1333500"/>
                  <a:pt x="0" y="1299384"/>
                  <a:pt x="0" y="1257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DE3545">
              <a:alpha val="6000"/>
            </a:srgbClr>
          </a:solidFill>
          <a:ln w="14288">
            <a:solidFill>
              <a:srgbClr val="DE3545">
                <a:alpha val="30000"/>
              </a:srgbClr>
            </a:solidFill>
          </a:ln>
        </p:spPr>
      </p:sp>
      <p:grpSp>
        <p:nvGrpSpPr>
          <p:cNvPr id="87" name="Group 87"/>
          <p:cNvGrpSpPr/>
          <p:nvPr/>
        </p:nvGrpSpPr>
        <p:grpSpPr>
          <a:xfrm>
            <a:off x="8005661" y="4881461"/>
            <a:ext cx="219278" cy="219278"/>
            <a:chOff x="8005661" y="4881461"/>
            <a:chExt cx="219278" cy="219278"/>
          </a:xfrm>
        </p:grpSpPr>
        <p:sp>
          <p:nvSpPr>
            <p:cNvPr id="84" name="Freeform 84"/>
            <p:cNvSpPr/>
            <p:nvPr/>
          </p:nvSpPr>
          <p:spPr>
            <a:xfrm>
              <a:off x="8115300" y="49911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127"/>
                  </a:lnTo>
                </a:path>
              </a:pathLst>
            </a:custGeom>
            <a:noFill/>
            <a:ln w="9525">
              <a:solidFill>
                <a:srgbClr val="DE3545"/>
              </a:solidFill>
            </a:ln>
          </p:spPr>
        </p:sp>
        <p:sp>
          <p:nvSpPr>
            <p:cNvPr id="85" name="Freeform 85"/>
            <p:cNvSpPr/>
            <p:nvPr/>
          </p:nvSpPr>
          <p:spPr>
            <a:xfrm>
              <a:off x="8005661" y="4881461"/>
              <a:ext cx="219278" cy="219278"/>
            </a:xfrm>
            <a:custGeom>
              <a:avLst/>
              <a:gdLst/>
              <a:ahLst/>
              <a:cxnLst/>
              <a:rect l="l" t="t" r="r" b="b"/>
              <a:pathLst>
                <a:path w="219278" h="219278">
                  <a:moveTo>
                    <a:pt x="199441" y="19837"/>
                  </a:moveTo>
                  <a:cubicBezTo>
                    <a:pt x="179603" y="0"/>
                    <a:pt x="123241" y="24117"/>
                    <a:pt x="73711" y="73724"/>
                  </a:cubicBezTo>
                  <a:cubicBezTo>
                    <a:pt x="24117" y="123317"/>
                    <a:pt x="0" y="179603"/>
                    <a:pt x="19837" y="199454"/>
                  </a:cubicBezTo>
                  <a:cubicBezTo>
                    <a:pt x="39675" y="219278"/>
                    <a:pt x="96037" y="195161"/>
                    <a:pt x="145567" y="145555"/>
                  </a:cubicBezTo>
                  <a:cubicBezTo>
                    <a:pt x="195161" y="95961"/>
                    <a:pt x="219278" y="39675"/>
                    <a:pt x="199441" y="19825"/>
                  </a:cubicBezTo>
                </a:path>
              </a:pathLst>
            </a:custGeom>
            <a:noFill/>
            <a:ln w="9525">
              <a:solidFill>
                <a:srgbClr val="DE3545"/>
              </a:solidFill>
            </a:ln>
          </p:spPr>
        </p:sp>
        <p:sp>
          <p:nvSpPr>
            <p:cNvPr id="86" name="Freeform 86"/>
            <p:cNvSpPr/>
            <p:nvPr/>
          </p:nvSpPr>
          <p:spPr>
            <a:xfrm>
              <a:off x="8005661" y="4881461"/>
              <a:ext cx="219278" cy="219278"/>
            </a:xfrm>
            <a:custGeom>
              <a:avLst/>
              <a:gdLst/>
              <a:ahLst/>
              <a:cxnLst/>
              <a:rect l="l" t="t" r="r" b="b"/>
              <a:pathLst>
                <a:path w="219278" h="219278">
                  <a:moveTo>
                    <a:pt x="19837" y="19837"/>
                  </a:moveTo>
                  <a:cubicBezTo>
                    <a:pt x="0" y="39675"/>
                    <a:pt x="24117" y="96037"/>
                    <a:pt x="73724" y="145567"/>
                  </a:cubicBezTo>
                  <a:cubicBezTo>
                    <a:pt x="123317" y="195161"/>
                    <a:pt x="179603" y="219278"/>
                    <a:pt x="199454" y="199441"/>
                  </a:cubicBezTo>
                  <a:cubicBezTo>
                    <a:pt x="219278" y="179603"/>
                    <a:pt x="195161" y="123241"/>
                    <a:pt x="145555" y="73711"/>
                  </a:cubicBezTo>
                  <a:cubicBezTo>
                    <a:pt x="95961" y="24117"/>
                    <a:pt x="39675" y="0"/>
                    <a:pt x="19825" y="19837"/>
                  </a:cubicBezTo>
                </a:path>
              </a:pathLst>
            </a:custGeom>
            <a:noFill/>
            <a:ln w="9525">
              <a:solidFill>
                <a:srgbClr val="DE3545"/>
              </a:solidFill>
            </a:ln>
          </p:spPr>
        </p:sp>
      </p:grpSp>
      <p:sp>
        <p:nvSpPr>
          <p:cNvPr id="88" name="TextBox 88"/>
          <p:cNvSpPr txBox="1"/>
          <p:nvPr/>
        </p:nvSpPr>
        <p:spPr>
          <a:xfrm>
            <a:off x="8724198" y="4910614"/>
            <a:ext cx="179210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量子力学的奇妙之处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7891462" y="5193506"/>
            <a:ext cx="168806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不是粒子"不想"静止，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7891462" y="5403056"/>
            <a:ext cx="16716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而是自然界根本不允许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7891462" y="561260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7A6E68"/>
                </a:solidFill>
                <a:latin typeface="Arial"/>
                <a:ea typeface="Microsoft YaHei"/>
                <a:cs typeface="Arial"/>
              </a:rPr>
              <a:t>被完全限制的粒子静止。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7891462" y="5822156"/>
            <a:ext cx="19263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这就是量子世界的规则。</a:t>
            </a:r>
          </a:p>
        </p:txBody>
      </p:sp>
      <p:sp>
        <p:nvSpPr>
          <p:cNvPr id="93" name="Freeform 93"/>
          <p:cNvSpPr/>
          <p:nvPr/>
        </p:nvSpPr>
        <p:spPr>
          <a:xfrm>
            <a:off x="0" y="6096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762000"/>
                </a:moveTo>
                <a:lnTo>
                  <a:pt x="76200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E8834A">
              <a:alpha val="20000"/>
            </a:srgbClr>
          </a:solidFill>
          <a:ln>
            <a:noFill/>
          </a:ln>
        </p:spPr>
      </p:sp>
      <p:sp>
        <p:nvSpPr>
          <p:cNvPr id="94" name="Freeform 94"/>
          <p:cNvSpPr/>
          <p:nvPr/>
        </p:nvSpPr>
        <p:spPr>
          <a:xfrm>
            <a:off x="11430000" y="6096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762000" y="762000"/>
                </a:moveTo>
                <a:lnTo>
                  <a:pt x="0" y="762000"/>
                </a:lnTo>
                <a:lnTo>
                  <a:pt x="762000" y="0"/>
                </a:lnTo>
                <a:close/>
              </a:path>
            </a:pathLst>
          </a:custGeom>
          <a:solidFill>
            <a:srgbClr val="DE3545">
              <a:alpha val="20000"/>
            </a:srgbClr>
          </a:solidFill>
          <a:ln>
            <a:noFill/>
          </a:ln>
        </p:spPr>
      </p:sp>
      <p:sp>
        <p:nvSpPr>
          <p:cNvPr id="95" name="Rectangle 95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3D3530">
              <a:alpha val="6000"/>
            </a:srgbClr>
          </a:solidFill>
          <a:ln>
            <a:noFill/>
          </a:ln>
        </p:spPr>
      </p:sp>
      <p:sp>
        <p:nvSpPr>
          <p:cNvPr id="96" name="TextBox 96"/>
          <p:cNvSpPr txBox="1"/>
          <p:nvPr/>
        </p:nvSpPr>
        <p:spPr>
          <a:xfrm>
            <a:off x="559118" y="6647974"/>
            <a:ext cx="26093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9E98"/>
                </a:solidFill>
                <a:latin typeface="Arial"/>
                <a:ea typeface="Microsoft YaHei"/>
                <a:cs typeface="Arial"/>
              </a:rPr>
              <a:t>量子力学基础 · 定态与一维无限深方势阱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1487079" y="6647974"/>
            <a:ext cx="1458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E98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